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 everyone, we're Group 12 - Akhil, Sameera, and Abhijit. Our project implements a modular arithmetic engine on the GPU from scratch in CUDA, using Barrett reduction, and we apply it to the Number Theoretic Transform, which is a building block in post-quantum cryptography.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Almost all of cryptography comes down to one operation repeated millions of times: a times b, mod p. The problem is that computing mod p normally needs an integer division, and division is slow on a GPU - it's not pipelined. Barrett reduction is a classic trick that replaces that division with just a multiply and a bit shift, using a constant we compute once ahead of time. Because that constant is shared across every thread, it fits the GPU's execution model really well. That's the core idea our whole project is built around.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wrote the modular arithmetic completely from scratch in CUDA - no libraries. One nice design choice: the same code compiles for both the GPU and the CPU, so we could test correctness on a laptop before running on the GPU. It supports modular multiplication, exponentiation, and inverse, over two prime fields - a 30-bit one and a 64-bit one. On top of that we built a GPU Number Theoretic Transform, which is the workhorse operation inside lattice-based post-quantum schemes like Kyber. We verified everything three ways - against a CPU version and an independent Python check - and got zero mismatches.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are our results on a Tesla T4 GPU versus a single CPU core, running the exact same code. For raw modular multiplication, the GPU is about 569 times faster, because every multiply is independent and all the cores stay busy. For batched exponentiation - a million independent operations, which is the shape of bulk RSA or key exchange - we get 277 times faster, with every result correct. The NTT is up to 52 times faster at large sizes. But there's an honest caveat: at small sizes the GPU is actually slower than the CPU, because there just isn't enough work to fill it and the launch overhead dominates. The GPU only pays off once the problem is big enough.</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few takeaways to close. First, the GPU advantage really comes from having lots of independent work to do at once - that's where we saw the biggest speedups. Second, there's a clear trade-off: larger primes give more security but run slower, and that scales up to real sizes like RSA-2048. Third, and importantly for a security class: our exponentiation branches on the secret bits, so it's not constant-time - a real deployment would need to fix that to avoid timing attacks. And finally, Barrett reduction turned out to be a great fit because it's simple, fast, and doesn't need the extra conversions that the alternative, Montgomery, requires. Thanks - happy to take any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mailto:farinaz@ucsd.edu" TargetMode="External"/><Relationship Id="rId3" Type="http://schemas.openxmlformats.org/officeDocument/2006/relationships/image" Target="../media/image2.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p:nvPr/>
        </p:nvSpPr>
        <p:spPr>
          <a:xfrm>
            <a:off x="0" y="618920"/>
            <a:ext cx="9144000" cy="312344"/>
          </a:xfrm>
          <a:prstGeom prst="rect">
            <a:avLst/>
          </a:prstGeom>
          <a:solidFill>
            <a:srgbClr val="2F5496"/>
          </a:solidFill>
          <a:ln cap="flat" cmpd="sng" w="12700">
            <a:solidFill>
              <a:srgbClr val="2F549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8" name="Google Shape;58;p14"/>
          <p:cNvSpPr txBox="1"/>
          <p:nvPr>
            <p:ph type="ctrTitle"/>
          </p:nvPr>
        </p:nvSpPr>
        <p:spPr>
          <a:xfrm>
            <a:off x="1128418" y="1001927"/>
            <a:ext cx="6858000" cy="1360873"/>
          </a:xfrm>
          <a:prstGeom prst="rect">
            <a:avLst/>
          </a:prstGeom>
          <a:noFill/>
          <a:ln>
            <a:noFill/>
          </a:ln>
        </p:spPr>
        <p:txBody>
          <a:bodyPr anchorCtr="0" anchor="b" bIns="34275" lIns="68575" spcFirstLastPara="1" rIns="68575" wrap="square" tIns="34275">
            <a:normAutofit/>
          </a:bodyPr>
          <a:lstStyle>
            <a:lvl1pPr lvl="0" algn="ctr">
              <a:lnSpc>
                <a:spcPct val="150000"/>
              </a:lnSpc>
              <a:spcBef>
                <a:spcPts val="0"/>
              </a:spcBef>
              <a:spcAft>
                <a:spcPts val="0"/>
              </a:spcAft>
              <a:buClr>
                <a:schemeClr val="dk1"/>
              </a:buClr>
              <a:buSzPts val="2700"/>
              <a:buFont typeface="Calibri"/>
              <a:buNone/>
              <a:defRPr b="0" i="0" sz="2700" u="none" strike="noStrik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4"/>
          <p:cNvSpPr txBox="1"/>
          <p:nvPr>
            <p:ph idx="1" type="subTitle"/>
          </p:nvPr>
        </p:nvSpPr>
        <p:spPr>
          <a:xfrm>
            <a:off x="1113836" y="2460627"/>
            <a:ext cx="6887165" cy="921606"/>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4"/>
          <p:cNvSpPr txBox="1"/>
          <p:nvPr/>
        </p:nvSpPr>
        <p:spPr>
          <a:xfrm>
            <a:off x="5144678" y="3382233"/>
            <a:ext cx="3370672" cy="1241821"/>
          </a:xfrm>
          <a:prstGeom prst="rect">
            <a:avLst/>
          </a:prstGeom>
          <a:noFill/>
          <a:ln>
            <a:noFill/>
          </a:ln>
        </p:spPr>
        <p:txBody>
          <a:bodyPr anchorCtr="0" anchor="ctr" bIns="34275" lIns="68575" spcFirstLastPara="1" rIns="68575" wrap="square" tIns="34275">
            <a:normAutofit/>
          </a:bodyPr>
          <a:lstStyle/>
          <a:p>
            <a:pPr indent="0" lvl="0" marL="0" marR="0" rtl="0" algn="l">
              <a:lnSpc>
                <a:spcPct val="100000"/>
              </a:lnSpc>
              <a:spcBef>
                <a:spcPts val="0"/>
              </a:spcBef>
              <a:spcAft>
                <a:spcPts val="0"/>
              </a:spcAft>
              <a:buClr>
                <a:schemeClr val="dk1"/>
              </a:buClr>
              <a:buSzPts val="1800"/>
              <a:buFont typeface="Arial"/>
              <a:buNone/>
            </a:pPr>
            <a:r>
              <a:rPr b="0" i="0" lang="en" sz="1800" u="none" cap="none" strike="noStrike">
                <a:solidFill>
                  <a:srgbClr val="888888"/>
                </a:solidFill>
                <a:latin typeface="Calibri"/>
                <a:ea typeface="Calibri"/>
                <a:cs typeface="Calibri"/>
                <a:sym typeface="Calibri"/>
              </a:rPr>
              <a:t>Instructor:</a:t>
            </a:r>
            <a:endParaRPr b="0" i="0" sz="11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 sz="1800" u="none" cap="none" strike="noStrike">
                <a:solidFill>
                  <a:srgbClr val="888888"/>
                </a:solidFill>
                <a:latin typeface="Calibri"/>
                <a:ea typeface="Calibri"/>
                <a:cs typeface="Calibri"/>
                <a:sym typeface="Calibri"/>
              </a:rPr>
              <a:t>Prof. Farinaz Koushanfar</a:t>
            </a:r>
            <a:endParaRPr b="0" i="0" sz="1800" u="none" cap="none" strike="noStrike">
              <a:solidFill>
                <a:srgbClr val="888888"/>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rPr b="0" i="0" lang="en" sz="1400" u="sng" cap="none" strike="noStrike">
                <a:solidFill>
                  <a:schemeClr val="hlink"/>
                </a:solidFill>
                <a:latin typeface="Calibri"/>
                <a:ea typeface="Calibri"/>
                <a:cs typeface="Calibri"/>
                <a:sym typeface="Calibri"/>
                <a:hlinkClick r:id="rId2"/>
              </a:rPr>
              <a:t>farinaz@ucsd.edu</a:t>
            </a:r>
            <a:endParaRPr b="0" i="0" sz="1400" u="none" cap="none" strike="noStrike">
              <a:solidFill>
                <a:srgbClr val="888888"/>
              </a:solidFill>
              <a:latin typeface="Calibri"/>
              <a:ea typeface="Calibri"/>
              <a:cs typeface="Calibri"/>
              <a:sym typeface="Calibri"/>
            </a:endParaRPr>
          </a:p>
        </p:txBody>
      </p:sp>
      <p:pic>
        <p:nvPicPr>
          <p:cNvPr id="64" name="Google Shape;64;p14"/>
          <p:cNvPicPr preferRelativeResize="0"/>
          <p:nvPr/>
        </p:nvPicPr>
        <p:blipFill rotWithShape="1">
          <a:blip r:embed="rId3">
            <a:alphaModFix/>
          </a:blip>
          <a:srcRect b="0" l="0" r="0" t="0"/>
          <a:stretch/>
        </p:blipFill>
        <p:spPr>
          <a:xfrm>
            <a:off x="76699" y="4084952"/>
            <a:ext cx="2057400" cy="650363"/>
          </a:xfrm>
          <a:prstGeom prst="rect">
            <a:avLst/>
          </a:prstGeom>
          <a:noFill/>
          <a:ln>
            <a:noFill/>
          </a:ln>
        </p:spPr>
      </p:pic>
      <p:pic>
        <p:nvPicPr>
          <p:cNvPr id="65" name="Google Shape;65;p14"/>
          <p:cNvPicPr preferRelativeResize="0"/>
          <p:nvPr/>
        </p:nvPicPr>
        <p:blipFill rotWithShape="1">
          <a:blip r:embed="rId4">
            <a:alphaModFix/>
          </a:blip>
          <a:srcRect b="0" l="0" r="0" t="0"/>
          <a:stretch/>
        </p:blipFill>
        <p:spPr>
          <a:xfrm>
            <a:off x="7594360" y="73855"/>
            <a:ext cx="1397723" cy="1397723"/>
          </a:xfrm>
          <a:prstGeom prst="rect">
            <a:avLst/>
          </a:prstGeom>
          <a:noFill/>
          <a:ln>
            <a:noFill/>
          </a:ln>
        </p:spPr>
      </p:pic>
      <p:sp>
        <p:nvSpPr>
          <p:cNvPr id="66" name="Google Shape;66;p14"/>
          <p:cNvSpPr/>
          <p:nvPr/>
        </p:nvSpPr>
        <p:spPr>
          <a:xfrm>
            <a:off x="74948" y="4866501"/>
            <a:ext cx="4572000" cy="276999"/>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Calibri"/>
                <a:ea typeface="Calibri"/>
                <a:cs typeface="Calibri"/>
                <a:sym typeface="Calibri"/>
              </a:rPr>
              <a:t>ECE 226 – Winter 2025</a:t>
            </a:r>
            <a:endParaRPr b="0" i="0" sz="1400" u="none" cap="none" strike="noStrike">
              <a:solidFill>
                <a:schemeClr val="lt1"/>
              </a:solidFill>
              <a:latin typeface="Calibri"/>
              <a:ea typeface="Calibri"/>
              <a:cs typeface="Calibri"/>
              <a:sym typeface="Calibri"/>
            </a:endParaRPr>
          </a:p>
        </p:txBody>
      </p:sp>
      <p:sp>
        <p:nvSpPr>
          <p:cNvPr id="67" name="Google Shape;67;p14"/>
          <p:cNvSpPr/>
          <p:nvPr/>
        </p:nvSpPr>
        <p:spPr>
          <a:xfrm>
            <a:off x="0" y="4831156"/>
            <a:ext cx="9144000" cy="312344"/>
          </a:xfrm>
          <a:prstGeom prst="rect">
            <a:avLst/>
          </a:prstGeom>
          <a:solidFill>
            <a:srgbClr val="2F5496"/>
          </a:solidFill>
          <a:ln cap="flat" cmpd="sng" w="12700">
            <a:solidFill>
              <a:srgbClr val="2F549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Calibri"/>
                <a:ea typeface="Calibri"/>
                <a:cs typeface="Calibri"/>
                <a:sym typeface="Calibri"/>
              </a:rPr>
              <a:t>                                                                                                                                          </a:t>
            </a:r>
            <a:endParaRPr b="0" i="0" sz="1400" u="none" cap="none" strike="noStrike">
              <a:solidFill>
                <a:schemeClr val="lt1"/>
              </a:solidFill>
              <a:latin typeface="Calibri"/>
              <a:ea typeface="Calibri"/>
              <a:cs typeface="Calibri"/>
              <a:sym typeface="Calibri"/>
            </a:endParaRPr>
          </a:p>
        </p:txBody>
      </p:sp>
      <p:sp>
        <p:nvSpPr>
          <p:cNvPr id="68" name="Google Shape;68;p14"/>
          <p:cNvSpPr/>
          <p:nvPr/>
        </p:nvSpPr>
        <p:spPr>
          <a:xfrm>
            <a:off x="74947" y="4866501"/>
            <a:ext cx="9069052" cy="276999"/>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400"/>
              <a:buFont typeface="Calibri"/>
              <a:buNone/>
            </a:pPr>
            <a:r>
              <a:rPr b="0" i="0" lang="en" sz="1400" u="none" cap="none" strike="noStrike">
                <a:solidFill>
                  <a:schemeClr val="lt1"/>
                </a:solidFill>
                <a:latin typeface="Calibri"/>
                <a:ea typeface="Calibri"/>
                <a:cs typeface="Calibri"/>
                <a:sym typeface="Calibri"/>
              </a:rPr>
              <a:t>ECE 268 – Spring 202</a:t>
            </a:r>
            <a:r>
              <a:rPr lang="en">
                <a:solidFill>
                  <a:schemeClr val="lt1"/>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 name="Shape 69"/>
        <p:cNvGrpSpPr/>
        <p:nvPr/>
      </p:nvGrpSpPr>
      <p:grpSpPr>
        <a:xfrm>
          <a:off x="0" y="0"/>
          <a:ext cx="0" cy="0"/>
          <a:chOff x="0" y="0"/>
          <a:chExt cx="0" cy="0"/>
        </a:xfrm>
      </p:grpSpPr>
      <p:sp>
        <p:nvSpPr>
          <p:cNvPr id="70" name="Google Shape;70;p15"/>
          <p:cNvSpPr txBox="1"/>
          <p:nvPr>
            <p:ph type="title"/>
          </p:nvPr>
        </p:nvSpPr>
        <p:spPr>
          <a:xfrm>
            <a:off x="628650" y="273844"/>
            <a:ext cx="7886700" cy="72820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 name="Google Shape;72;p15"/>
          <p:cNvSpPr/>
          <p:nvPr/>
        </p:nvSpPr>
        <p:spPr>
          <a:xfrm>
            <a:off x="0" y="4831156"/>
            <a:ext cx="9144000" cy="312344"/>
          </a:xfrm>
          <a:prstGeom prst="rect">
            <a:avLst/>
          </a:prstGeom>
          <a:solidFill>
            <a:srgbClr val="2F5496"/>
          </a:solidFill>
          <a:ln cap="flat" cmpd="sng" w="12700">
            <a:solidFill>
              <a:srgbClr val="2F549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Calibri"/>
                <a:ea typeface="Calibri"/>
                <a:cs typeface="Calibri"/>
                <a:sym typeface="Calibri"/>
              </a:rPr>
              <a:t>                                                                                                                                          Security of Hardware Embedded Systems</a:t>
            </a:r>
            <a:endParaRPr b="0" i="0" sz="1400" u="none" cap="none" strike="noStrike">
              <a:solidFill>
                <a:schemeClr val="lt1"/>
              </a:solidFill>
              <a:latin typeface="Calibri"/>
              <a:ea typeface="Calibri"/>
              <a:cs typeface="Calibri"/>
              <a:sym typeface="Calibri"/>
            </a:endParaRPr>
          </a:p>
        </p:txBody>
      </p:sp>
      <p:sp>
        <p:nvSpPr>
          <p:cNvPr id="73" name="Google Shape;73;p15"/>
          <p:cNvSpPr/>
          <p:nvPr/>
        </p:nvSpPr>
        <p:spPr>
          <a:xfrm>
            <a:off x="74947" y="4866501"/>
            <a:ext cx="9069052" cy="276999"/>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400"/>
              <a:buFont typeface="Calibri"/>
              <a:buNone/>
            </a:pPr>
            <a:r>
              <a:rPr b="0" i="0" lang="en" sz="1400" u="none" cap="none" strike="noStrike">
                <a:solidFill>
                  <a:schemeClr val="lt1"/>
                </a:solidFill>
                <a:latin typeface="Calibri"/>
                <a:ea typeface="Calibri"/>
                <a:cs typeface="Calibri"/>
                <a:sym typeface="Calibri"/>
              </a:rPr>
              <a:t>ECE 268 – Spring 202</a:t>
            </a:r>
            <a:r>
              <a:rPr lang="en">
                <a:solidFill>
                  <a:schemeClr val="lt1"/>
                </a:solidFill>
                <a:latin typeface="Calibri"/>
                <a:ea typeface="Calibri"/>
                <a:cs typeface="Calibri"/>
                <a:sym typeface="Calibri"/>
              </a:rPr>
              <a:t>6</a:t>
            </a:r>
            <a:r>
              <a:rPr b="0" i="0" lang="en" sz="1400" u="none" cap="none" strike="noStrike">
                <a:solidFill>
                  <a:schemeClr val="lt1"/>
                </a:solidFill>
                <a:latin typeface="Calibri"/>
                <a:ea typeface="Calibri"/>
                <a:cs typeface="Calibri"/>
                <a:sym typeface="Calibri"/>
              </a:rPr>
              <a:t>, Prof. Koushanfar</a:t>
            </a:r>
            <a:endParaRPr b="0" i="0" sz="1400" u="none" cap="none" strike="noStrike">
              <a:solidFill>
                <a:srgbClr val="000000"/>
              </a:solidFill>
              <a:latin typeface="Arial"/>
              <a:ea typeface="Arial"/>
              <a:cs typeface="Arial"/>
              <a:sym typeface="Arial"/>
            </a:endParaRPr>
          </a:p>
        </p:txBody>
      </p:sp>
      <p:sp>
        <p:nvSpPr>
          <p:cNvPr id="74" name="Google Shape;74;p15"/>
          <p:cNvSpPr/>
          <p:nvPr/>
        </p:nvSpPr>
        <p:spPr>
          <a:xfrm>
            <a:off x="628650" y="930243"/>
            <a:ext cx="8178110" cy="71808"/>
          </a:xfrm>
          <a:prstGeom prst="rect">
            <a:avLst/>
          </a:prstGeom>
          <a:solidFill>
            <a:srgbClr val="2F5496"/>
          </a:solidFill>
          <a:ln cap="flat" cmpd="sng" w="12700">
            <a:solidFill>
              <a:srgbClr val="2F549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75" name="Google Shape;75;p15"/>
          <p:cNvPicPr preferRelativeResize="0"/>
          <p:nvPr/>
        </p:nvPicPr>
        <p:blipFill rotWithShape="1">
          <a:blip r:embed="rId2">
            <a:alphaModFix/>
          </a:blip>
          <a:srcRect b="0" l="0" r="0" t="0"/>
          <a:stretch/>
        </p:blipFill>
        <p:spPr>
          <a:xfrm>
            <a:off x="8081720" y="273482"/>
            <a:ext cx="867259" cy="86725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6" name="Shape 76"/>
        <p:cNvGrpSpPr/>
        <p:nvPr/>
      </p:nvGrpSpPr>
      <p:grpSpPr>
        <a:xfrm>
          <a:off x="0" y="0"/>
          <a:ext cx="0" cy="0"/>
          <a:chOff x="0" y="0"/>
          <a:chExt cx="0" cy="0"/>
        </a:xfrm>
      </p:grpSpPr>
      <p:sp>
        <p:nvSpPr>
          <p:cNvPr id="77" name="Google Shape;77;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3300"/>
              <a:buFont typeface="Calibri"/>
              <a:buNone/>
              <a:defRPr sz="33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6"/>
          <p:cNvSpPr txBox="1"/>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888888"/>
                </a:solidFill>
                <a:latin typeface="Calibri"/>
                <a:ea typeface="Calibri"/>
                <a:cs typeface="Calibri"/>
                <a:sym typeface="Calibri"/>
              </a:rPr>
              <a:t>3/27/20</a:t>
            </a:r>
            <a:endParaRPr b="0" i="0" sz="900" u="none" cap="none" strike="noStrike">
              <a:solidFill>
                <a:srgbClr val="888888"/>
              </a:solidFill>
              <a:latin typeface="Calibri"/>
              <a:ea typeface="Calibri"/>
              <a:cs typeface="Calibri"/>
              <a:sym typeface="Calibri"/>
            </a:endParaRPr>
          </a:p>
        </p:txBody>
      </p:sp>
      <p:sp>
        <p:nvSpPr>
          <p:cNvPr id="82" name="Google Shape;82;p16"/>
          <p:cNvSpPr txBox="1"/>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888888"/>
                </a:solidFill>
                <a:latin typeface="Calibri"/>
                <a:ea typeface="Calibri"/>
                <a:cs typeface="Calibri"/>
                <a:sym typeface="Calibri"/>
              </a:rPr>
              <a:t>‹#›</a:t>
            </a:fld>
            <a:endParaRPr b="0" i="0" sz="900" u="none" cap="none" strike="noStrike">
              <a:solidFill>
                <a:srgbClr val="888888"/>
              </a:solidFill>
              <a:latin typeface="Calibri"/>
              <a:ea typeface="Calibri"/>
              <a:cs typeface="Calibri"/>
              <a:sym typeface="Calibri"/>
            </a:endParaRPr>
          </a:p>
        </p:txBody>
      </p:sp>
      <p:sp>
        <p:nvSpPr>
          <p:cNvPr id="83" name="Google Shape;83;p16"/>
          <p:cNvSpPr/>
          <p:nvPr/>
        </p:nvSpPr>
        <p:spPr>
          <a:xfrm>
            <a:off x="628650" y="930243"/>
            <a:ext cx="8178110" cy="71808"/>
          </a:xfrm>
          <a:prstGeom prst="rect">
            <a:avLst/>
          </a:prstGeom>
          <a:solidFill>
            <a:srgbClr val="2F5496"/>
          </a:solidFill>
          <a:ln cap="flat" cmpd="sng" w="12700">
            <a:solidFill>
              <a:srgbClr val="2F549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84" name="Google Shape;84;p16"/>
          <p:cNvPicPr preferRelativeResize="0"/>
          <p:nvPr/>
        </p:nvPicPr>
        <p:blipFill rotWithShape="1">
          <a:blip r:embed="rId2">
            <a:alphaModFix/>
          </a:blip>
          <a:srcRect b="0" l="0" r="0" t="0"/>
          <a:stretch/>
        </p:blipFill>
        <p:spPr>
          <a:xfrm>
            <a:off x="8081720" y="273482"/>
            <a:ext cx="867259" cy="867259"/>
          </a:xfrm>
          <a:prstGeom prst="rect">
            <a:avLst/>
          </a:prstGeom>
          <a:noFill/>
          <a:ln>
            <a:noFill/>
          </a:ln>
        </p:spPr>
      </p:pic>
      <p:sp>
        <p:nvSpPr>
          <p:cNvPr id="85" name="Google Shape;85;p16"/>
          <p:cNvSpPr/>
          <p:nvPr/>
        </p:nvSpPr>
        <p:spPr>
          <a:xfrm>
            <a:off x="0" y="4831156"/>
            <a:ext cx="9144000" cy="312344"/>
          </a:xfrm>
          <a:prstGeom prst="rect">
            <a:avLst/>
          </a:prstGeom>
          <a:solidFill>
            <a:srgbClr val="2F5496"/>
          </a:solidFill>
          <a:ln cap="flat" cmpd="sng" w="12700">
            <a:solidFill>
              <a:srgbClr val="2F549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Calibri"/>
                <a:ea typeface="Calibri"/>
                <a:cs typeface="Calibri"/>
                <a:sym typeface="Calibri"/>
              </a:rPr>
              <a:t>                                                                                                                                          Security of Hardware Embedded Systems</a:t>
            </a:r>
            <a:endParaRPr b="0" i="0" sz="1400" u="none" cap="none" strike="noStrike">
              <a:solidFill>
                <a:schemeClr val="lt1"/>
              </a:solidFill>
              <a:latin typeface="Calibri"/>
              <a:ea typeface="Calibri"/>
              <a:cs typeface="Calibri"/>
              <a:sym typeface="Calibri"/>
            </a:endParaRPr>
          </a:p>
        </p:txBody>
      </p:sp>
      <p:sp>
        <p:nvSpPr>
          <p:cNvPr id="86" name="Google Shape;86;p16"/>
          <p:cNvSpPr/>
          <p:nvPr/>
        </p:nvSpPr>
        <p:spPr>
          <a:xfrm>
            <a:off x="74947" y="4866501"/>
            <a:ext cx="9069052" cy="276999"/>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400"/>
              <a:buFont typeface="Calibri"/>
              <a:buNone/>
            </a:pPr>
            <a:r>
              <a:rPr b="0" i="0" lang="en" sz="1400" u="none" cap="none" strike="noStrike">
                <a:solidFill>
                  <a:schemeClr val="lt1"/>
                </a:solidFill>
                <a:latin typeface="Calibri"/>
                <a:ea typeface="Calibri"/>
                <a:cs typeface="Calibri"/>
                <a:sym typeface="Calibri"/>
              </a:rPr>
              <a:t>ECE 268 – Spring 202</a:t>
            </a:r>
            <a:r>
              <a:rPr lang="en">
                <a:solidFill>
                  <a:schemeClr val="lt1"/>
                </a:solidFill>
                <a:latin typeface="Calibri"/>
                <a:ea typeface="Calibri"/>
                <a:cs typeface="Calibri"/>
                <a:sym typeface="Calibri"/>
              </a:rPr>
              <a:t>6</a:t>
            </a:r>
            <a:r>
              <a:rPr b="0" i="0" lang="en" sz="1400" u="none" cap="none" strike="noStrike">
                <a:solidFill>
                  <a:schemeClr val="lt1"/>
                </a:solidFill>
                <a:latin typeface="Calibri"/>
                <a:ea typeface="Calibri"/>
                <a:cs typeface="Calibri"/>
                <a:sym typeface="Calibri"/>
              </a:rPr>
              <a:t>, Prof. Koushanfar</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4" name="Shape 94"/>
        <p:cNvGrpSpPr/>
        <p:nvPr/>
      </p:nvGrpSpPr>
      <p:grpSpPr>
        <a:xfrm>
          <a:off x="0" y="0"/>
          <a:ext cx="0" cy="0"/>
          <a:chOff x="0" y="0"/>
          <a:chExt cx="0" cy="0"/>
        </a:xfrm>
      </p:grpSpPr>
      <p:sp>
        <p:nvSpPr>
          <p:cNvPr id="95" name="Google Shape;95;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7" name="Google Shape;97;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9" name="Google Shape;99;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 name="Google Shape;102;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sp>
        <p:nvSpPr>
          <p:cNvPr id="104" name="Google Shape;104;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8" name="Shape 108"/>
        <p:cNvGrpSpPr/>
        <p:nvPr/>
      </p:nvGrpSpPr>
      <p:grpSpPr>
        <a:xfrm>
          <a:off x="0" y="0"/>
          <a:ext cx="0" cy="0"/>
          <a:chOff x="0" y="0"/>
          <a:chExt cx="0" cy="0"/>
        </a:xfrm>
      </p:grpSpPr>
      <p:sp>
        <p:nvSpPr>
          <p:cNvPr id="109" name="Google Shape;109;p20"/>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20"/>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1" name="Google Shape;111;p20"/>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2" name="Google Shape;112;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5" name="Shape 115"/>
        <p:cNvGrpSpPr/>
        <p:nvPr/>
      </p:nvGrpSpPr>
      <p:grpSpPr>
        <a:xfrm>
          <a:off x="0" y="0"/>
          <a:ext cx="0" cy="0"/>
          <a:chOff x="0" y="0"/>
          <a:chExt cx="0" cy="0"/>
        </a:xfrm>
      </p:grpSpPr>
      <p:sp>
        <p:nvSpPr>
          <p:cNvPr id="116" name="Google Shape;116;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1"/>
          <p:cNvSpPr/>
          <p:nvPr>
            <p:ph idx="2" type="pic"/>
          </p:nvPr>
        </p:nvSpPr>
        <p:spPr>
          <a:xfrm>
            <a:off x="3887391" y="740569"/>
            <a:ext cx="4629150" cy="3655219"/>
          </a:xfrm>
          <a:prstGeom prst="rect">
            <a:avLst/>
          </a:prstGeom>
          <a:noFill/>
          <a:ln>
            <a:noFill/>
          </a:ln>
        </p:spPr>
      </p:sp>
      <p:sp>
        <p:nvSpPr>
          <p:cNvPr id="118" name="Google Shape;118;p21"/>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9" name="Google Shape;119;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22"/>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2"/>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 name="Google Shape;125;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23"/>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23"/>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1" name="Google Shape;131;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2" name="Google Shape;132;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GPU Modular Arithmetic with Barrett Reduction</a:t>
            </a:r>
          </a:p>
        </p:txBody>
      </p:sp>
      <p:sp>
        <p:nvSpPr>
          <p:cNvPr id="3" name="Subtitle 2"/>
          <p:cNvSpPr>
            <a:spLocks noGrp="1"/>
          </p:cNvSpPr>
          <p:nvPr>
            <p:ph type="subTitle" idx="1"/>
          </p:nvPr>
        </p:nvSpPr>
        <p:spPr/>
        <p:txBody>
          <a:bodyPr/>
          <a:lstStyle/>
          <a:p>
            <a:r>
              <a:t>Group 12 — Akhil, Sameera, Abhijit</a:t>
            </a:r>
          </a:p>
          <a:p>
            <a:r>
              <a:t>ECE 268 Final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Text Placeholder 2"/>
          <p:cNvSpPr>
            <a:spLocks noGrp="1"/>
          </p:cNvSpPr>
          <p:nvPr>
            <p:ph type="body" idx="1"/>
          </p:nvPr>
        </p:nvSpPr>
        <p:spPr/>
        <p:txBody>
          <a:bodyPr/>
          <a:lstStyle/>
          <a:p>
            <a:r>
              <a:t>Crypto like RSA, post-quantum NTT, and ZK-proofs run on millions of (a x b) mod p</a:t>
            </a:r>
          </a:p>
          <a:p>
            <a:r>
              <a:t>Doing "mod p" the normal way needs division, which is slow on GPUs</a:t>
            </a:r>
          </a:p>
          <a:p>
            <a:r>
              <a:t>Barrett reduction replaces the division with a multiply and a shift, using one precomputed constant</a:t>
            </a:r>
          </a:p>
          <a:p>
            <a:r>
              <a:t>The constant is the same for every thread, so it maps very well to the GPU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Built</a:t>
            </a:r>
          </a:p>
        </p:txBody>
      </p:sp>
      <p:sp>
        <p:nvSpPr>
          <p:cNvPr id="3" name="Text Placeholder 2"/>
          <p:cNvSpPr>
            <a:spLocks noGrp="1"/>
          </p:cNvSpPr>
          <p:nvPr>
            <p:ph type="body" idx="1"/>
          </p:nvPr>
        </p:nvSpPr>
        <p:spPr/>
        <p:txBody>
          <a:bodyPr/>
          <a:lstStyle/>
          <a:p>
            <a:r>
              <a:t>Modular multiply, exponentiation, and inverse, written from scratch in pure CUDA</a:t>
            </a:r>
          </a:p>
          <a:p>
            <a:r>
              <a:t>The same code runs on both GPU and CPU, which made testing straightforward</a:t>
            </a:r>
          </a:p>
          <a:p>
            <a:r>
              <a:t>Works over a 30-bit prime and a 64-bit prime field</a:t>
            </a:r>
          </a:p>
          <a:p>
            <a:r>
              <a:t>Used it to build a GPU Number Theoretic Transform (the core of lattice-based crypto)</a:t>
            </a:r>
          </a:p>
          <a:p>
            <a:r>
              <a:t>Checked every result against a CPU and a Python reference: no mismatches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(Tesla T4 vs. CPU)</a:t>
            </a:r>
          </a:p>
        </p:txBody>
      </p:sp>
      <p:sp>
        <p:nvSpPr>
          <p:cNvPr id="3" name="Text Placeholder 2"/>
          <p:cNvSpPr>
            <a:spLocks noGrp="1"/>
          </p:cNvSpPr>
          <p:nvPr>
            <p:ph type="body" idx="1"/>
          </p:nvPr>
        </p:nvSpPr>
        <p:spPr/>
        <p:txBody>
          <a:bodyPr/>
          <a:lstStyle/>
          <a:p>
            <a:r>
              <a:t>Modular multiplication: about 569x faster on the GPU</a:t>
            </a:r>
          </a:p>
          <a:p>
            <a:r>
              <a:t>Batched exponentiation, 1 million operations: 277x faster, all results correct</a:t>
            </a:r>
          </a:p>
          <a:p>
            <a:r>
              <a:t>NTT: up to 52x faster at large sizes</a:t>
            </a:r>
          </a:p>
          <a:p>
            <a:r>
              <a:t>At small sizes the GPU is slower - there isn't enough work to keep it busy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Takeaways</a:t>
            </a:r>
          </a:p>
        </p:txBody>
      </p:sp>
      <p:sp>
        <p:nvSpPr>
          <p:cNvPr id="3" name="Text Placeholder 2"/>
          <p:cNvSpPr>
            <a:spLocks noGrp="1"/>
          </p:cNvSpPr>
          <p:nvPr>
            <p:ph type="body" idx="1"/>
          </p:nvPr>
        </p:nvSpPr>
        <p:spPr/>
        <p:txBody>
          <a:bodyPr/>
          <a:lstStyle/>
          <a:p>
            <a:r>
              <a:t>GPUs win when there are many independent operations to run at once</a:t>
            </a:r>
          </a:p>
          <a:p>
            <a:r>
              <a:t>Bigger primes mean more security but lower speed</a:t>
            </a:r>
          </a:p>
          <a:p>
            <a:r>
              <a:t>Our exponentiation isn't constant-time, so a real system would need that to be secure</a:t>
            </a:r>
          </a:p>
          <a:p>
            <a:r>
              <a:t>Barrett was a good fit: simple, fast, and no extra conversions needed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