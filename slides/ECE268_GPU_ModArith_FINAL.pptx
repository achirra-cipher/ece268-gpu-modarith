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11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25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TITLE SLIDE — Akhil Teja Chirra speaking.
"Good morning everyone. Our project is a GPU-accelerated modular arithmetic engine built around Barrett reduction, targeting the NVIDIA T4. We chose this because modular arithmetic — specifically modular multiplication and exponentiation — is the computational bottleneck in post-quantum cryptography and zero-knowledge proof systems. The question we set out to answer was: can we achieve meaningful speedups over a single CPU core while maintaining bit-for-bit correctness? The short answer is yes — 569x for raw modular multiply and 52x for an NTT kernel."
Team: Akhil Teja Chirra, Vagda Sameera Talari, Abhijit Gupta.
Instructor: Prof. Farinaz Koushanfar | ECE 268, Spring 2026.
GitHub: github.com/achirra-cipher/ece268-gpu-modarith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[~90 sec] MOTIVATION &amp; BACKGROUND — Akhil or Vagda speaking.
Opening hook: "Modular arithmetic is everywhere in cryptography — RSA, elliptic curves, post-quantum lattice schemes, and zero-knowledge proofs all reduce to the same bottleneck: x mod p, repeated billions of times."
KEY POINTS TO HIT:
1. GPU integer division is SLOW and DATA-DEPENDENT. On modern GPUs there is no native integer division instruction — it compiles to a multi-instruction sequence of ~20 ops. More critically it is data-dependent, creating timing variation that is a side-channel in cryptographic settings.
2. Barrett reduction replaces division with precomputed multiplication. The formula: given mu = floor(2^k / p) precomputed once, we compute q = floor(x * mu / 2^k) using only multiplications and a right shift, then r = x - q*p. The key insight: mu is constant for a given prime p, so it lives in GPU constant cache — zero per-thread overhead.
3. The GPU instruction __umul64hi on sm_75 (T4) computes the upper 64 bits of a 128-bit product in a SINGLE hardware instruction. This maps perfectly to the Barrett algorithm.
4. We target NTT (Number Theoretic Transform) as our benchmark application because: (a) it is the inner loop of Kyber and Dilithium — the NIST-selected post-quantum standards, (b) each NTT butterfly requires exactly 2 modular multiplications, so NTT throughput directly measures modmul throughput, and (c) it is massively parallel — n/2 independent butterflies per stage.
Expected question: "Why not use Montgomery reduction?" — we address this in the Analysis slide. Short answer: Barrett avoids two O(n) domain-conversion passes critical when NTT is memory-bandwidth-bound.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IMPLEMENTATION OVERVIEW — Abhijit speaking.
KEY POINTS TO HIT:
1. PRIME FIELDS: We support two primes. P32 = 998244353 = 119*2^23+1 is a 30-bit NTT-friendly prime with a primitive root of 3 — the standard benchmark prime for NTT. P64 = 2^64 - 2^32 + 1 (Goldilocks) is a 64-bit prime used in ZK-proof systems like Plonky2; we use it for batch modular exponentiation.
2. CORE DESIGN DECISION — dual __host__ __device__ compilation. The same modarith.cuh header compiles for both CPU (via clang++ without any GPU) and GPU (via nvcc for T4). This was critical: we ran 2 million+ random test cases locally with zero GPU time before ever submitting a Colab job. This saved us significant debugging cycles.
3. SYSTEM STACK: Four-layer stack. Python/sympy acts as ground truth oracle. C++ host test validates the Barrett implementation on CPU. modarith.cuh contains the core Barrett/modmul/modexp logic. CUDA kernels (ntt.cu, bench.cu) run on the T4.
4. HARDWARE: NVIDIA T4 GPU on Google Colab — 2560 CUDA cores, sm_75 architecture, 16 GB GDDR6.
Expected question: "Why did you validate locally first?" — Cloud GPU time is a limited resource on Colab. Local validation with 2M cases caught all our algorithmic bugs before we ever needed a T4.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[~90 sec] CODE — BARRETT CORE — Vagda speaking.
This is the heart of the project. Walk through the code carefully.
BARRETT REDUCE 32 (left panel):
- mu = floor(2^62 / P32) is precomputed ONCE when the Barrett32 struct is initialized — this happens on the host and the value is passed to the GPU as a constant.
- q = (x * mu) &gt;&gt; shift: this is the floor division estimate. The __uint128_t cast is needed on CPU. On GPU the modmul_device path uses __umul64hi to get the high half natively.
- r = x - q*p: this subtraction may leave r in [0, 2p). The conditional r -= p brings it to [0, p). This is exactly one conditional subtract — branch-free versions exist (r -= p &amp; -(uint64_t)(r &gt;= p)) and we discuss the timing implication in the Analysis slide.
- Total: 3 operations — mul-high, mul-sub, 1 conditional subtract.
MODMUL DEVICE (right panel):
- On CPU: just multiply a*b and call barrett_reduce32. The compiler handles 128-bit internally.
- On GPU: __umul64hi(a, b) extracts the upper 64 bits of the 128-bit product a*b in a SINGLE sm_75 assembly instruction (IMUL.HI). This is warp-uniform — all threads in a warp compute the same instruction, no divergence.
- The Barrett64 path for Goldilocks uses a specialized reduction exploiting the Mersenne-like structure of 2^64 - 2^32 + 1.
KEY INSIGHT TO EMPHASIZE: The SAME header file compiles for both CPU and GPU. There is no duplication of logic. The __host__ __device__ annotation tells nvcc to emit two code paths: one for the host compiler, one for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[~90 sec] CODE — GPU NTT KERNEL — Akhil speaking.
Walk through the kernel carefully.
NTT_STAGE_KERNEL:
- One thread per butterfly pair. Thread tid handles the butterfly at positions u_i and v_i.
- The kernel is launched log2(n) times with n/2 threads each. Each launch is one NTT stage. Global synchronization happens at the kernel boundary — the GPU completes all threads before the next kernel starts. This is simpler and more correct than shared-memory synchronization.
COOLEY-TUKEY BUTTERFLY:
- tw = modpow_device(w, j, B) computes the twiddle factor — the j-th power of the primitive root w. This is per-thread but precomputing a twiddle table would improve performance further (mentioned as future work).
- A[u_i] = u + v (mod p), A[v_i] = u - v (mod p) — both using Barrett modadd/modsub.
- In-place: single contiguous buffer, no extra memory allocation. Bit-reversal permutation runs once before the forward NTT.
DESIGN CHOICES (right panel) — explain each:
1. Per-stage launch: log2(n) kernel calls. Global sync at boundary. Simple and provably correct.
2. In-place Cooley-Tukey: memory efficient, single buffer.
3. Barrett over Montgomery: data stays in natural (non-Montgomery) residue form throughout all NTT stages. Montgomery would require converting the entire array into Montgomery domain before NTT and converting back after — two extra O(n) memory passes. At large n where NTT is bandwidth-bound, this is expensive.
4. Dual __host__ __device__: same butterfly arithmetic on both CPU and T4 — triple-verified correctness.
Expected question: "Did you try shared memory tiling?" — No, due to time constraints. It would improve cache efficiency for larger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CORRECTNESS &amp; VALIDATION — Abhijit speaking.
"Before showing performance numbers, let me establish that all numbers are correct."
THREE-LAYER VERIFICATION STRATEGY:
- Layer 1: Python/sympy — arbitrary-precision oracle, no rounding, guaranteed correct. Every operation result is checked against Python.
- Layer 2: CPU C++ — host_test.cpp validates the Barrett logic without any GPU. If the CPU C++ matches Python, our algorithm is correct; any GPU discrepancy is then a CUDA implementation bug, not an algorithmic bug.
- Layer 3: GPU — ntt.cu output compared element-wise against CPU output.
TABLE WALKTHROUGH:
- Barrett32/64: 2 million+ random operands plus all boundary cases (0, 1, p-1, p-2, 2p-1). Zero failures.
- modexp/modinv: 100K random exponents. Zero failures.
- NTT round-trip: INTT(NTT(x)) == x for all n up to 2^14. Pass. This validates both forward and inverse transform.
- NTT convolution: GPU NTT-based polynomial multiply matches naive O(n^2) reference. Pass.
- GPU vs CPU element-wise: n from 16 to 1M (2^4 to 2^20). Pass.
- Batch modexp P64: 1,048,576 independent exponentiations — 0 mismatches.
KEY MESSAGE: "We did not present a single performance number until we had validated correctness across all these cases. Performance without correctness is meaningless in a cryptographic context."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[~90 sec] PERFORMANCE RESULTS — Vagda speaking.
This slide has two parts: the NTT speedup chart and the summary table.
NTT SPEEDUP CHART — walk through each region:
- n = 2^10 (1024): GPU is SLOWER than CPU. The kernel launch overhead (~5-10 microseconds) dominates when only 512 threads run for a handful of stages. This is expected — GPU only wins at sufficient parallelism.
- n = 2^12 to 2^16: Speedup rises steeply. More threads → better occupancy → launch overhead amortized.
- n = 2^18 (262,144): PEAK SPEEDUP of 52x. The working set (2MB for 64-bit elements) fits in T4's 4MB L2 cache. This is the sweet spot: enough parallelism for full occupancy, data still in cache.
- n = 2^20 to 2^22: Speedup drops from 52x to ~19x end-to-end (including PCIe transfer). The array no longer fits in L2 — kernel becomes memory-bandwidth-bound. GPU memory bandwidth (300 GB/s) still beats CPU cache bandwidth, but the advantage narrows.
SUMMARY TABLE:
- Barrett modmul (4M elements): 569x — 131 billion operations/second on GPU vs 0.23 Gops/s single-thread CPU. This is the raw arithmetic throughput number.
- NTT kernel peak: 52x — 0.367ms GPU vs 19.0ms CPU for n=2^18.
- NTT end-to-end including PCIe data transfer: 19x at n=2^22.
- Batch modexp Goldilocks (1M independent): 277x — 3.4ms GPU vs 955ms CPU.
INTERPRETATION: "The 569x raw modmul speedup reflects pure compute parallelism with no memory bottleneck. The NTT speedup is lower because NTT is partially memory-bandwidth-bound at large n. The end-to-end 19x still includes PCIe overhead — for in-GPU pipelines the speedup is closer to 52x."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[~90 sec] ANALYSIS — Akhil speaking.
Two analysis sections: Barrett vs Montgomery, and Performance vs Security.
BARRETT VS MONTGOMERY FOR NTT:
- Montgomery reduction requires data to be in "Montgomery domain" — multiply by R mod p before computation, divide by R mod p after. For a single modmul this is fine; the conversion cost amortizes.
- For NTT with log2(n) stages: ALL n elements must be converted INTO Montgomery domain before stage 1, and ALL n elements converted OUT after the last stage. That's two extra full O(n) memory passes.
- At n=2^20, each pass reads/writes 8MB of data. On the T4 with 300 GB/s memory bandwidth, each extra pass costs ~26 microseconds. Two passes = ~52 microseconds wasted per NTT.
- At large n the NTT is already memory-bandwidth-bound. Montgomery adds exactly the wrong overhead.
- WINNER: Barrett — data stays in natural residue form throughout.
PERFORMANCE VS SECURITY:
1. Timing side channel in modexp: standard square-and-multiply leaks which bits of the exponent are 1 (square-then-multiply takes longer than square-only). Fix: Montgomery ladder — always does both square and multiply. We did not implement this — it is future work.
2. Data-dependent Barrett correction: the "if (r &gt;= p) r -= p" branch leaks one bit of information per reduction. Branch-free fix: r -= p &amp; -(uint64_t)(r &gt;= p). Cost is negligible. We discuss this as a known issue.
3. Field size vs throughput: P32 gives 569x, P64 gives 277x. RSA-2048 needs 2048-bit multi-limb arithmetic — much slower. Security margin directly costs compute.
4. Batch model: 277x on 1M independent exponentiations also means an adversary with GPU access can accelerate brute-force attacks. Context matters.
KEY MESSAGE: "Performance and security are in tension. Our implementation optimizes throughput, but a production system would need Montgomery ladder for secret-key exponentiation."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CONCLUSION — Abhijit speaking.
WHAT WE SHOWED (tick through each):
1. Pure-CUDA Barrett engine: prime-agnostic, __host__ __device__ dual compilation — same code runs on CPU and GPU.
2. 569x speedup for raw Barrett modmul: 131 Gops/s GPU vs 0.23 Gops/s single-thread CPU.
3. 52x NTT kernel peak at n=2^18 — working set fits L2 cache. Above 2^18: transitions from compute-bound to memory-bandwidth-bound.
4. 277x batch Goldilocks modexp for 1M independent exponentiations — 0 mismatches.
5. 3-way correctness: GPU == CPU C++ == Python/sympy across all test cases.
THREE KEY TAKEAWAYS:
1. Validate locally first: 2M+ CPU test cases before any GPU kernel. Saves cloud GPU hours and speeds debugging.
2. Barrett beats Montgomery for NTT: avoids two extra O(n) memory passes. Critical when NTT is bandwidth-bound at large n.
3. GPU speedup is not free: slower than CPU at n=2^10. Speedup is a function of occupancy, memory behavior, and amortized launch overhead — not just hardware parallelism.
FUTURE WORK (if asked):
- Precomputed twiddle factor tables to avoid per-thread modpow in NTT kernel.
- Shared-memory tiling for better L1 utilization.
- Montgomery ladder for constant-time modexp.
- Mixed-radix NTT for non-power-of-2 sizes.
GITHUB: github.com/achirra-cipher/ece268-gpu-modarith — full history, all contributions labeled by team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– Security of Hardware Embedded Systems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73152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0515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Modular Arithmetic Unit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Barrett Reduction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2286000" y="2578608"/>
            <a:ext cx="45720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26700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Final Project  ·  June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09067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 Teja Chirra  ·  Vagda Sameera Talari  ·  Abhijit Gupta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187952"/>
            <a:ext cx="1828800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425196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Farinaz Koushanfar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A"/>
          </a:solidFill>
          <a:ln w="12700">
            <a:solidFill>
              <a:srgbClr val="0F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37160" y="48234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– Spring 2026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54880" y="48234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Hardware Embedded Systems  │  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Background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A"/>
          </a:solidFill>
          <a:ln w="12700">
            <a:solidFill>
              <a:srgbClr val="0F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" y="48234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– Spring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48234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Hardware Embedded Systems  │  2 / 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987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Modular Arithmetic is the Crypto Bottleneck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280160"/>
            <a:ext cx="347472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38988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" y="13898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has no native division instruction: it compiles to ~20 ops and is data-dependent — a timing side-channel in constant-time crypto.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1993392"/>
            <a:ext cx="374904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2048256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" y="204825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Barrett: precompute μ = ⌊2ᵏ/p⌋ once. Then x mod p ≈ x − ⌊xμ/2ᵏ⌋·p using only multiplies + shift. Constant-time friendly.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2624525"/>
            <a:ext cx="374904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2706624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" y="270662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lives in GPU constant cache — broadcast to all threads in a warp simultaneously. Zero per-thread overhead; fully warp-uniform execution.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3319272"/>
            <a:ext cx="374904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65760" y="3364992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" y="336499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sm_75 (T4): __umul64hi(a,b) is one IMUL.HI instruction. Full Barrett hot-path = 2 multiplies + 1 conditional subtract.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63440" y="98755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Application: Number Theoretic Transform (NTT)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1280160"/>
            <a:ext cx="36576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800600" y="1463040"/>
            <a:ext cx="347472" cy="3474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0060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275320" y="1463040"/>
            <a:ext cx="347472" cy="347472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7532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</a:rPr>
              <a:t>A0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148072" y="1636776"/>
            <a:ext cx="841248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315200" y="1636776"/>
            <a:ext cx="960120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00600" y="1993392"/>
            <a:ext cx="347472" cy="3474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00600" y="1993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a1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275320" y="1993392"/>
            <a:ext cx="347472" cy="347472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275320" y="1993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</a:rPr>
              <a:t>A1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148072" y="2167128"/>
            <a:ext cx="841248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315200" y="2167128"/>
            <a:ext cx="960120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800600" y="2523744"/>
            <a:ext cx="347472" cy="3474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00600" y="2523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a2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275320" y="2523744"/>
            <a:ext cx="347472" cy="347472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275320" y="2523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</a:rPr>
              <a:t>A2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148072" y="2697480"/>
            <a:ext cx="841248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7315200" y="2697480"/>
            <a:ext cx="960120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800600" y="3054096"/>
            <a:ext cx="347472" cy="3474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00600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a3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8275320" y="3054096"/>
            <a:ext cx="347472" cy="347472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275320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</a:rPr>
              <a:t>A3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148072" y="3227832"/>
            <a:ext cx="841248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315200" y="3227832"/>
            <a:ext cx="960120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053328" y="1636776"/>
            <a:ext cx="0" cy="1060704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897880" y="1527048"/>
            <a:ext cx="201168" cy="201168"/>
          </a:xfrm>
          <a:prstGeom prst="ellipse">
            <a:avLst/>
          </a:prstGeom>
          <a:solidFill>
            <a:srgbClr val="CCE0FF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897880" y="2587752"/>
            <a:ext cx="201168" cy="201168"/>
          </a:xfrm>
          <a:prstGeom prst="ellipse">
            <a:avLst/>
          </a:prstGeom>
          <a:solidFill>
            <a:srgbClr val="CCE0FF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6099048" y="1636776"/>
            <a:ext cx="1078992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099048" y="2697480"/>
            <a:ext cx="1078992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6053328" y="2167128"/>
            <a:ext cx="0" cy="1060704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5897880" y="2057400"/>
            <a:ext cx="201168" cy="201168"/>
          </a:xfrm>
          <a:prstGeom prst="ellipse">
            <a:avLst/>
          </a:prstGeom>
          <a:solidFill>
            <a:srgbClr val="CCE0FF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5897880" y="3118104"/>
            <a:ext cx="201168" cy="201168"/>
          </a:xfrm>
          <a:prstGeom prst="ellipse">
            <a:avLst/>
          </a:prstGeom>
          <a:solidFill>
            <a:srgbClr val="CCE0FF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6099048" y="2167128"/>
            <a:ext cx="1078992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6099048" y="3227832"/>
            <a:ext cx="1078992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7242048" y="1636776"/>
            <a:ext cx="0" cy="530352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7086600" y="1527048"/>
            <a:ext cx="201168" cy="201168"/>
          </a:xfrm>
          <a:prstGeom prst="ellipse">
            <a:avLst/>
          </a:prstGeom>
          <a:solidFill>
            <a:srgbClr val="CCE0FF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7086600" y="2057400"/>
            <a:ext cx="201168" cy="201168"/>
          </a:xfrm>
          <a:prstGeom prst="ellipse">
            <a:avLst/>
          </a:prstGeom>
          <a:solidFill>
            <a:srgbClr val="CCE0FF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7287768" y="1636776"/>
            <a:ext cx="137160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7287768" y="2167128"/>
            <a:ext cx="137160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7242048" y="2697480"/>
            <a:ext cx="0" cy="530352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7086600" y="2587752"/>
            <a:ext cx="201168" cy="201168"/>
          </a:xfrm>
          <a:prstGeom prst="ellipse">
            <a:avLst/>
          </a:prstGeom>
          <a:solidFill>
            <a:srgbClr val="CCE0FF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7086600" y="3118104"/>
            <a:ext cx="201168" cy="201168"/>
          </a:xfrm>
          <a:prstGeom prst="ellipse">
            <a:avLst/>
          </a:prstGeom>
          <a:solidFill>
            <a:srgbClr val="CCE0FF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7287768" y="2697480"/>
            <a:ext cx="137160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7287768" y="3227832"/>
            <a:ext cx="137160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5788152" y="34930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Stage 1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6976872" y="34930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Stage 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4663440" y="37307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</a:rPr>
              <a:t>Each butterfly = 2 modmuls → NTT throughput ∝ modmul throughput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4663440" y="40050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NIST PQC standards (Kyber, Dilithium) and ZK-proof systems (Plonky2, Halo2). n/2 independent butterflies per stage → massive GPU parallelism.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A"/>
          </a:solidFill>
          <a:ln w="12700">
            <a:solidFill>
              <a:srgbClr val="0F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" y="48234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– Spring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48234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Hardware Embedded Systems  │  3 / 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987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fields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280160"/>
            <a:ext cx="347472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4173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14173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998244353 = 119·2²³+1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170992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30-bit  ·  Primary - NTT benchmark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112264"/>
            <a:ext cx="374904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22219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222199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2⁶⁴ − 2³² + 1 (Goldilocks)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25146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 ·  Bonus - batch modexp / ZK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3108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contribution: modarith.cuh marked __host__ __device__ compiles identically for CPU (clang++) and GPU (nvcc/T4). 2M+ random Barrett + modexp cases validated on CPU before any Colab GPU job - all algorithmic bugs caught locally.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63440" y="98755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stack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63440" y="1280160"/>
            <a:ext cx="36576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029200" y="1417320"/>
            <a:ext cx="3383280" cy="475488"/>
          </a:xfrm>
          <a:prstGeom prst="bevel">
            <a:avLst/>
          </a:prstGeom>
          <a:solidFill>
            <a:srgbClr val="FFC000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20640" y="144475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oracle.py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20640" y="167335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</a:t>
            </a:r>
            <a:r>
              <a:rPr lang="en-US" sz="900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</a:t>
            </a: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ground truth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675120" y="1892808"/>
            <a:ext cx="0" cy="118872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54880" y="2011680"/>
            <a:ext cx="3840480" cy="475488"/>
          </a:xfrm>
          <a:prstGeom prst="bevel">
            <a:avLst/>
          </a:prstGeom>
          <a:solidFill>
            <a:srgbClr val="1F3864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46320" y="20391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host_test.cpp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46320" y="2267712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C++ - correctness, no GPU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629400" y="2487168"/>
            <a:ext cx="0" cy="118872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72000" y="2606040"/>
            <a:ext cx="4251960" cy="475488"/>
          </a:xfrm>
          <a:prstGeom prst="bevel">
            <a:avLst/>
          </a:prstGeom>
          <a:solidFill>
            <a:srgbClr val="2A4A8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663440" y="26334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modarith.cuh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663440" y="28620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__host__ __device__  Barrett · modmul · modexp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652260" y="3081528"/>
            <a:ext cx="0" cy="118872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754880" y="3200400"/>
            <a:ext cx="3840480" cy="475488"/>
          </a:xfrm>
          <a:prstGeom prst="bevel">
            <a:avLst/>
          </a:prstGeom>
          <a:solidFill>
            <a:srgbClr val="1F3864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846320" y="322783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ntt.cu / bench.cu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46320" y="3456432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kernels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629400" y="3675888"/>
            <a:ext cx="0" cy="118872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029200" y="3794760"/>
            <a:ext cx="3383280" cy="475488"/>
          </a:xfrm>
          <a:prstGeom prst="bevel">
            <a:avLst/>
          </a:prstGeom>
          <a:solidFill>
            <a:srgbClr val="0F1D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120640" y="38221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T4 (sm_75)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120640" y="405079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2560 CUDA cores · Colab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Barrett Core  (modarith.cuh)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A"/>
          </a:solidFill>
          <a:ln w="12700">
            <a:solidFill>
              <a:srgbClr val="0F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" y="48234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– Spring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48234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Hardware Embedded Systems  │  4 / 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9601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barrett_reduce32  -  CPU/GPU shared path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234440"/>
            <a:ext cx="4206240" cy="2395728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9768" y="1325880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 = floor(2^62 / P32)  — precomputed once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29768" y="1456639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__host__ __device__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29768" y="1587398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inline u64 barrett_reduce32(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29768" y="1718158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u64 x, const Barrett32&amp; B) {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29768" y="1979676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estimate q = floor(x/p), off by ≤1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29768" y="2110435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u64 q = ((__uint128_t)x * B.mu)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29768" y="2241194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&gt;&gt; B.shift;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29768" y="2502713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u64 r = x - q * B.p;   // r in [0,2p)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9768" y="2764231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 &gt;= B.p) r -= B.p; // correction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29768" y="2894990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r;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29768" y="3025750"/>
            <a:ext cx="40416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20040" y="367588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ops total: mul-high · mul-sub · 1 conditional sub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54880" y="9601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modmul_device</a:t>
            </a: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GPU-optimized path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1234440"/>
            <a:ext cx="4069080" cy="2395728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64608" y="1325880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CPU: standard path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64608" y="1456639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__host__ __device__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64608" y="1587398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inline u64 modmul(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64608" y="1718158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u64 a, u64 b, const Barrett32&amp; B){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64608" y="1848917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barrett_reduce32(a*b, B);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64608" y="1979676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864608" y="2241194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GPU: __umul64hi = 1 asm instruction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64608" y="2371954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__device__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64608" y="2502713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inline u64 modmul_device(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64608" y="2633472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u64 a, u64 b, const Barrett64&amp; B){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864608" y="2764231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u64 hi = __umul64hi(a, b); // ← asm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864608" y="2894990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u64 lo = a * b;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64608" y="3025750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barrett64_reduce(hi,lo,B);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64608" y="3156509"/>
            <a:ext cx="39044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754880" y="367588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__umul64hi = single sm_75 instruction · warp uniform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0040" y="3968496"/>
            <a:ext cx="8503920" cy="0"/>
          </a:xfrm>
          <a:prstGeom prst="line">
            <a:avLst/>
          </a:prstGeom>
          <a:noFill/>
          <a:ln w="9525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20040" y="4023360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header, same logic - compiles for both CPU and GPU. 2M+ random cases validated locally before any GPU kernel ran.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- GPU NTT Kernel  (ntt.cu)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A"/>
          </a:solidFill>
          <a:ln w="12700">
            <a:solidFill>
              <a:srgbClr val="0F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" y="48234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– Spring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48234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Hardware Embedded Systems  │  5 / 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9601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ntt_stage_kernel</a:t>
            </a: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one thread per butterfly pair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234440"/>
            <a:ext cx="4572000" cy="3218688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9768" y="1325880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ntt_stage_kernel(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29768" y="1456639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u64* A, int n, int half,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29768" y="1587398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u64 w, const Barrett32 B) {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29768" y="1848917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tid = blockIdx.x*blockDim.x + threadIdx.x;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29768" y="1979676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(tid &gt;= n/2) return;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29768" y="2241194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j   = tid % half;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29768" y="2371954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u_i = (tid/half)*2*half + j;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29768" y="2502713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v_i = u_i + half;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9768" y="2764231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Cooley-Tukey butterfly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29768" y="2894990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u64 tw = modpow_device(w, j, B);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29768" y="3025750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u64 u  = A[u_i];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29768" y="3156509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u64 v  = modmul_device(A[v_i], tw, B); // Barrett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29768" y="3287268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A[u_i] = modadd(u, v, B.p);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29768" y="3418027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A[v_i] = modsub(u, v, B.p);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29768" y="3548786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29768" y="3679546"/>
            <a:ext cx="44074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launched log₂n times, n/2 threads each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74920" y="960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074920" y="1234440"/>
            <a:ext cx="347472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074920" y="13898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launch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74920" y="16367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log₂n separate kernel calls, n/2 threads each. Global sync at kernel boundary keeps it simple and correct.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74920" y="2157984"/>
            <a:ext cx="365760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074920" y="22128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Cooley-Tukey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74920" y="24597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contiguous buffer. Bit-reversal permutation kernel runs once before the forward transform.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074920" y="2980944"/>
            <a:ext cx="365760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74920" y="30358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Barrett over Montgomery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074920" y="328269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 normal residue form across all stages - avoids two extra O(n) domain-conversion passes that would hurt memory bandwidth at large n.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074920" y="3803904"/>
            <a:ext cx="365760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074920" y="38587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__host__ __device__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74920" y="41056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butterfly arithmetic runs on both CPU and T4. Triple-verified: GPU ≡ CPU ≡ Python.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&amp; Validation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A"/>
          </a:solidFill>
          <a:ln w="12700">
            <a:solidFill>
              <a:srgbClr val="0F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" y="48234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– Spring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48234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Hardware Embedded Systems  │  6 / 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verification:  GPU (nvcc)  ≡  CPU C++ (clang)  ≡  Python/sympy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316736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40817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35040" y="14081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0" y="14081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1664208"/>
            <a:ext cx="84124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040" y="1700784"/>
            <a:ext cx="850392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" y="1737360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Barrett32 / Barrett64 - 2M+ random + boundary operands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35040" y="17373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2M+ each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0" y="17373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" y="2212848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modexp / modinv (P32 &amp; P64) - random exponents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35040" y="22128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0" y="22128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2651760"/>
            <a:ext cx="850392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11480" y="2688336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round-trip:  INTT(NTT(x)) == x  (CPU)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035040" y="26883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≤ 2¹⁴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315200" y="268833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11480" y="3163824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convolution vs. naive O(n²)  (CPU)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035040" y="316382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≤ 2⁹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315200" y="316382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0040" y="3602736"/>
            <a:ext cx="850392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11480" y="3639312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NTT matches CPU output element-wise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035040" y="36393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2⁴ – 2²⁰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315200" y="36393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11480" y="4114800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modexp P64 - 1M independent (GPU vs CPU)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035040" y="41148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1,048,576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315200" y="4114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mismatches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— NVIDIA T4  (sm_75, Colab)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A"/>
          </a:solidFill>
          <a:ln w="12700">
            <a:solidFill>
              <a:srgbClr val="0F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" y="48234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– Spring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48234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Hardware Embedded Systems  │  7 / 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9875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kernel speedup vs array size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1316736"/>
            <a:ext cx="4846320" cy="1691640"/>
          </a:xfrm>
          <a:prstGeom prst="rect">
            <a:avLst/>
          </a:prstGeom>
          <a:solidFill>
            <a:srgbClr val="F7FAFC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2700805"/>
            <a:ext cx="48463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8288" y="2609365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</a:rPr>
              <a:t>10×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65760" y="2393234"/>
            <a:ext cx="48463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8288" y="2301794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</a:rPr>
              <a:t>20×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5760" y="2085663"/>
            <a:ext cx="48463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8288" y="1994223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</a:rPr>
              <a:t>30×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65760" y="1778092"/>
            <a:ext cx="48463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8288" y="1686652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</a:rPr>
              <a:t>40×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65760" y="1409007"/>
            <a:ext cx="48463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8288" y="1317567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</a:rPr>
              <a:t>52×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62686" y="2980695"/>
            <a:ext cx="498479" cy="27681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070" y="3044952"/>
            <a:ext cx="567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2¹⁰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155018" y="2909953"/>
            <a:ext cx="498479" cy="98423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20401" y="3044952"/>
            <a:ext cx="567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2¹²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847349" y="2670048"/>
            <a:ext cx="498479" cy="3383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812733" y="3044952"/>
            <a:ext cx="567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2¹⁴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539681" y="2177935"/>
            <a:ext cx="498479" cy="830441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505064" y="3044952"/>
            <a:ext cx="567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2¹⁶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232012" y="1409007"/>
            <a:ext cx="498479" cy="1599369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197396" y="3044952"/>
            <a:ext cx="567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2¹⁸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197396" y="1098111"/>
            <a:ext cx="5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000"/>
                </a:solidFill>
              </a:rPr>
              <a:t>peak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C000"/>
                </a:solidFill>
              </a:rPr>
              <a:t>52×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924344" y="1931878"/>
            <a:ext cx="498479" cy="107649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889727" y="3044952"/>
            <a:ext cx="567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2²⁰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616675" y="1778092"/>
            <a:ext cx="498479" cy="12302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582058" y="3044952"/>
            <a:ext cx="567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2²²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606040" y="32461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</a:rPr>
              <a:t>n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" y="3145536"/>
            <a:ext cx="4846320" cy="0"/>
          </a:xfrm>
          <a:prstGeom prst="line">
            <a:avLst/>
          </a:prstGeom>
          <a:noFill/>
          <a:ln w="9525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65760" y="3470147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n=2¹⁰: GPU slower than CPU - kernel launch overhead dominates 512-thread workload. n=2¹⁸: 52× peak - 262K elements (2 MB) fit in T4 L2 cache (4 MB), full occupancy. n&gt;2¹⁸: memory-bandwidth-bound, speedup decreases to 19× end-to-end at n=2²² (includes PCIe transfer).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486400" y="9875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measured speedups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486400" y="1261872"/>
            <a:ext cx="32004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486400" y="1417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Barrett modmul (n=4M)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486400" y="16824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569×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6446520" y="1737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Gops/s vs 0.23 Gops/s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486400" y="2093976"/>
            <a:ext cx="329184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486400" y="22219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kernel peak (n=2¹⁸)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486400" y="2487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52×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6446520" y="2542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0.367 ms GPU vs 19.0 ms CPU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486400" y="2898648"/>
            <a:ext cx="329184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5486400" y="30266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end-to-end (n=2²²)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486400" y="3291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19×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6446520" y="33467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PCIe transfer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486400" y="3703320"/>
            <a:ext cx="329184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486400" y="38313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modexp P64 (1M)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486400" y="40965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277×</a:t>
            </a:r>
            <a:endParaRPr lang="en-US" sz="2200" dirty="0"/>
          </a:p>
        </p:txBody>
      </p:sp>
      <p:sp>
        <p:nvSpPr>
          <p:cNvPr id="55" name="Text 52"/>
          <p:cNvSpPr/>
          <p:nvPr/>
        </p:nvSpPr>
        <p:spPr>
          <a:xfrm>
            <a:off x="6446520" y="41513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ms GPU vs 955 ms CPU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A"/>
          </a:solidFill>
          <a:ln w="12700">
            <a:solidFill>
              <a:srgbClr val="0F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" y="48234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– Spring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48234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Hardware Embedded Systems  │  8 / 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Barrett vs. Montgomery for NTT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280160"/>
            <a:ext cx="374904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4081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16184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Barrett: natural residue throughout - no domain conversion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1828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Montgomery: requires full O(n) domain-in + domain-out passes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048256"/>
            <a:ext cx="374904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21396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stages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23500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 stays in natural form throughout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65760" y="2560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two extra O(n) passes (convert in, convert out)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2779776"/>
            <a:ext cx="374904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28712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reduction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" y="30815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mul-high + mul-sub + 1 cond. sub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65760" y="3291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similar, but conversion cost amortized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374904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5760" y="36027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for NTT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" y="38130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Barrett - saves 2 memory BW passes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65760" y="4197095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large n the NTT is memory-bandwidth-bound. Montgomery would add two full O(n) scans over device memory - exactly the wrong trade-off.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6344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vs. security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663440" y="1280160"/>
            <a:ext cx="36576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663440" y="14081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side channel in modexp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663440" y="165506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square-and-multiply leaks exponent bits via timing. Fix: Montgomery ladder (constant-time, always does both square and multiply). Relevant if GPU is used for RSA private-key operations.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63440" y="2212848"/>
            <a:ext cx="402336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663440" y="22128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Data-dependent Barrett correction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663440" y="2459736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(r &gt;= p) r -= p is data-dependent - leaks one bit. Branch-free: r -= p &amp; -(u64)(r &gt;= p). Cost negligible; should be used in constant-time contexts.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2944368"/>
            <a:ext cx="402336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663440" y="30175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size vs. throughput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663440" y="32644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P32 (30-bit): 569×. P64 (64-bit): 277×. RSA-2048 would need multi-limb arithmetic - much lower throughput. Security margin costs compute.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663440" y="3749040"/>
            <a:ext cx="402336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663440" y="38221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model and attacker advantage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663440" y="406908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277× on 1M independent exponentiations also means GPU accelerates parallel brute-force. A single RSA-2048 decryption is sequential - GPU advantage requires batching.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73152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6576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408176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000"/>
                </a:solidFill>
              </a:rPr>
              <a:t>–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1408176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Pure-CUDA Barrett engine - prime-agnostic, __host__ __device__ dual compilation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1938528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000"/>
                </a:solidFill>
              </a:rPr>
              <a:t>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1938528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569× speedup for modmul  (131 Gops/s vs 0.23 Gops/s single-thread CPU)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24688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000"/>
                </a:solidFill>
              </a:rPr>
              <a:t>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" y="2468880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52× NTT peak at n=2¹⁸ - shifts compute-bound → memory-bandwidth-bound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2999232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000"/>
                </a:solidFill>
              </a:rPr>
              <a:t>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" y="2999232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277× batch Goldilocks modexp · 0 mismatches across 1M exponentiations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5760" y="3529584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000"/>
                </a:solidFill>
              </a:rPr>
              <a:t>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3529584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correctness: GPU ≡ CPU C++ ≡ Python/sympy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37760" y="987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937760" y="1280160"/>
            <a:ext cx="347472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37760" y="14081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compilation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37760" y="165506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 CPU test cases before any GPU job. All algorithmic bugs caught locally, zero wasted Colab GPU hours.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937760" y="24323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Barrett for NTT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37760" y="26791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2 full O(n) memory passes vs. Montgomery. At n=2²⁰ (GDDR6 at 300 GB/s) this is ~52μs - significant when NTT is bandwidth-bound.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937760" y="34564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is not free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937760" y="37033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loses at n=2¹⁰ (kernel launch overhead &gt; compute). Speedup requires sufficient parallelism + data to amortize launch cost.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937760" y="4434840"/>
            <a:ext cx="393192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937760" y="44988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github.com/achirra-cipher/ece268-gpu-modarith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A"/>
          </a:solidFill>
          <a:ln w="12700">
            <a:solidFill>
              <a:srgbClr val="0F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37160" y="48234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268 – Spring 2026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54880" y="48234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Hardware Embedded Systems  │  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4672</Words>
  <Application>Microsoft Macintosh PowerPoint</Application>
  <PresentationFormat>On-screen Show (16:9)</PresentationFormat>
  <Paragraphs>240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Akhil Teja Chirra</cp:lastModifiedBy>
  <cp:revision>10</cp:revision>
  <dcterms:created xsi:type="dcterms:W3CDTF">2026-06-11T19:12:28Z</dcterms:created>
  <dcterms:modified xsi:type="dcterms:W3CDTF">2026-06-12T02:01:18Z</dcterms:modified>
</cp:coreProperties>
</file>