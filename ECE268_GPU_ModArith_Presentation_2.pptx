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Akhil Teja Chirra (slides 1–3)
Welcome everyone. Our project implements a GPU Modular Arithmetic Unit with Barrett Reduction for ECE 268 — the Modular Arithmetic Unit track.
We built a prime-agnostic modular arithmetic engine from scratch in pure CUDA and applied it to the Number Theoretic Transform, the core of post-quantum cryptography schemes like Kyber and Dilithium.
I'll walk through the motivation and implementation. Sameera will cover the code and validation, and Abhijit will close with results and analysis.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Akhil Teja Chirra
Why Barrett? GPU integer division is slow and data-dependent — a timing side-channel risk. Barrett turns x mod p into multiplies and a shift using a precomputed constant μ. That μ lives in constant cache, shared by all threads. On the T4, the 64-bit high-half multiply maps to a single hardware instruction __umul64hi.
We chose the NTT as our crypto application because it's the core of post-quantum crypto — Kyber and Dilithium — and ZK-proofs. The butterfly structure on the right is massively parallel, and each butterfly needs exactly two modular multiplications, so NTT throughput tracks modmul throughput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Akhil Teja Chirra
We use two prime fields. P32 — 998244353 — is our primary NTT prime: 30-bit, NTT-friendly with 2-adicity 23. P64 — the Goldilocks prime — is used in real ZK-proof systems and is our bonus large-prime path.
The system stack on the right shows the key architectural decision: modarith.cuh is marked __host__ __device__ so the same Barrett and modmul logic compiles for both CPU and GPU. We validated everything locally on a Mac with no CUDA before ever compiling a .cu file. The oracle.py Python ground-truth layer is fully independent.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Vagda Sameera Talari (slides 4–6)
barrett_reduce32 on the left is the core. Three operations: estimate q using precomputed μ and a right shift; compute residual r which lands in [0,2p); one conditional subtraction to bring r into [0,p). Zero divisions.
The GPU path on the right uses __umul64hi — a single hardware instruction on sm_75 that computes the high 64 bits of a 128-bit product. Two multiplies total, completely warp-uniform.
The key point at the bottom: same code compiles for both. We ran 2 million random test cases against Python/sympy ground truth on the CPU before ever compiling a CUDA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Vagda Sameera Talari
One CUDA thread handles one butterfly pair. The index arithmetic at lines 9-10 maps thread ID to the right u and v elements. The highlighted lines are the actual computation — one modmul, one modadd, one modsub.
Four design decisions on the right. Per-stage launches give us implicit global sync at kernel boundaries — simpler than shared-memory coordination. In-place Cooley-Tukey avoids extra allocation. Barrett over Montgomery is the most important choice: data stays in natural form across all stages, so we avoid two O(n) passes over device memory that Montgomery would require. And the dual compilation means the same butterfly arithmetic is triple-verified before the GPU ever runs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Vagda Sameera Talari
We enforced a three-layer protocol: GPU output must equal CPU C++ must equal Python sympy. Running through the table: 2 million random and boundary cases for Barrett on both primes — zero failures. 100K random exponents for modexp and modinv — zero failures. NTT round-trip and convolution pass on the CPU. GPU NTT matches CPU element-wise for every size 2^4 through 2^20. And 1,048,576 independent batch modexp over the Goldilocks prime — zero mismatches.
The three-layer check matters because a GPU bug and a CPU bug could in theory agree on a wrong answer. The independent Python/sympy layer using arbitrary-precision integers closes that loop. Handing over to Abhijit for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Abhijit Gupta (slides 7–9)
The bar chart shows NTT kernel speedup across array sizes. The important story is the shape: GPU is actually slower than a single CPU core at n=2^10 — kernel launch overhead hasn't been amortized yet. It breaks even around n=2^12 and peaks at 52× at n=2^18, where the working set fits in T4's L2 cache. Above that, the kernel becomes memory-bandwidth-bound and speedup dips to 35-40×.
The table on the right gives the headline numbers. Barrett modmul is 569× — that's embarrassingly parallel, no inter-thread communication. Batch Goldilocks modexp hits 277× on 1M elements with zero mismatches. End-to-end NTT including PCIe transfer peaks around 19× at large 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Abhijit Gupta
On the left, Barrett versus Montgomery. Montgomery can save an operation per reduction in tight loops, but for NTT it requires two extra O(n) passes over device memory — converting into Montgomery domain before the transform and back out after. At large n where the NTT is already memory-bandwidth-bound, those two passes would materially reduce speedup. Barrett keeps data in natural form across all butterfly stages, which is exactly what we want.
On the right, four security points without sugarcoating. Our modexp branches on exponent bits — that's a timing side channel. The Barrett correction is also data-dependent. Both are easy to fix but we prioritized throughput for benchmarking. The field-size tradeoff is real: 569× on P32 drops to 277× on P64. And the batch parallelism that gives us 277× also gives an attacker the same advantage for brute-force.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Abhijit Gupta
To summarize. We built a prime-agnostic GPU Barrett reduction engine in pure CUDA, validated three ways. 569× modmul speedup, 52× NTT peak, 277× batch modexp, zero correctness failures.
Three takeaways worth keeping. First, the dual compilation strategy — validating 2M+ arithmetic cases locally before running any GPU kernel saved significant debugging cost on expensive cloud resources. Second, Barrett is the right choice for NTT because it avoids two O(n) domain-conversion memory passes that Montgomery would need between stages. Third, GPU speedup is not automatic — we're actually slower than a single CPU core at n=2^10. It's about occupancy and memory behavior.
Full source and Colab notebook at the GitHub link.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F3864"/>
          </a:solidFill>
          <a:ln w="12700">
            <a:solidFill>
              <a:srgbClr val="1F3864"/>
            </a:solidFill>
            <a:prstDash val="solid"/>
          </a:ln>
        </p:spPr>
      </p:sp>
      <p:sp>
        <p:nvSpPr>
          <p:cNvPr id="3" name="Shape 1"/>
          <p:cNvSpPr/>
          <p:nvPr/>
        </p:nvSpPr>
        <p:spPr>
          <a:xfrm>
            <a:off x="0" y="822960"/>
            <a:ext cx="9144000" cy="50292"/>
          </a:xfrm>
          <a:prstGeom prst="rect">
            <a:avLst/>
          </a:prstGeom>
          <a:solidFill>
            <a:srgbClr val="FFC000"/>
          </a:solidFill>
          <a:ln w="12700">
            <a:solidFill>
              <a:srgbClr val="FFC000"/>
            </a:solidFill>
            <a:prstDash val="solid"/>
          </a:ln>
        </p:spPr>
      </p:sp>
      <p:sp>
        <p:nvSpPr>
          <p:cNvPr id="4" name="Text 2"/>
          <p:cNvSpPr/>
          <p:nvPr/>
        </p:nvSpPr>
        <p:spPr>
          <a:xfrm>
            <a:off x="347472" y="0"/>
            <a:ext cx="7498080" cy="822960"/>
          </a:xfrm>
          <a:prstGeom prst="rect">
            <a:avLst/>
          </a:prstGeom>
          <a:noFill/>
          <a:ln/>
        </p:spPr>
        <p:txBody>
          <a:bodyPr wrap="square" rtlCol="0" anchor="ctr"/>
          <a:lstStyle/>
          <a:p>
            <a:pPr indent="0" marL="0">
              <a:buNone/>
            </a:pPr>
            <a:r>
              <a:rPr lang="en-US" sz="1500" dirty="0">
                <a:solidFill>
                  <a:srgbClr val="FFFFFF"/>
                </a:solidFill>
                <a:latin typeface="Calibri" pitchFamily="34" charset="0"/>
                <a:ea typeface="Calibri" pitchFamily="34" charset="-122"/>
                <a:cs typeface="Calibri" pitchFamily="34" charset="-120"/>
              </a:rPr>
              <a:t>ECE 268 – Security of Hardware Embedded Systems</a:t>
            </a:r>
            <a:endParaRPr lang="en-US" sz="1500" dirty="0"/>
          </a:p>
        </p:txBody>
      </p:sp>
      <p:pic>
        <p:nvPicPr>
          <p:cNvPr id="5" name="Image 0" descr="preencoded.png">    </p:cNvPr>
          <p:cNvPicPr>
            <a:picLocks noChangeAspect="1"/>
          </p:cNvPicPr>
          <p:nvPr/>
        </p:nvPicPr>
        <p:blipFill>
          <a:blip r:embed="rId1"/>
          <a:stretch>
            <a:fillRect/>
          </a:stretch>
        </p:blipFill>
        <p:spPr>
          <a:xfrm>
            <a:off x="7818120" y="73152"/>
            <a:ext cx="685800" cy="685800"/>
          </a:xfrm>
          <a:prstGeom prst="rect">
            <a:avLst/>
          </a:prstGeom>
        </p:spPr>
      </p:pic>
      <p:sp>
        <p:nvSpPr>
          <p:cNvPr id="6" name="Text 3"/>
          <p:cNvSpPr/>
          <p:nvPr/>
        </p:nvSpPr>
        <p:spPr>
          <a:xfrm>
            <a:off x="731520" y="1051560"/>
            <a:ext cx="7680960" cy="1371600"/>
          </a:xfrm>
          <a:prstGeom prst="rect">
            <a:avLst/>
          </a:prstGeom>
          <a:noFill/>
          <a:ln/>
        </p:spPr>
        <p:txBody>
          <a:bodyPr wrap="square" rtlCol="0" anchor="ctr"/>
          <a:lstStyle/>
          <a:p>
            <a:pPr algn="ctr" indent="0" marL="0">
              <a:buNone/>
            </a:pPr>
            <a:r>
              <a:rPr lang="en-US" sz="3800" b="1" dirty="0">
                <a:solidFill>
                  <a:srgbClr val="1F3864"/>
                </a:solidFill>
                <a:latin typeface="Calibri" pitchFamily="34" charset="0"/>
                <a:ea typeface="Calibri" pitchFamily="34" charset="-122"/>
                <a:cs typeface="Calibri" pitchFamily="34" charset="-120"/>
              </a:rPr>
              <a:t>GPU Modular Arithmetic Unit</a:t>
            </a:r>
            <a:endParaRPr lang="en-US" sz="3800" dirty="0"/>
          </a:p>
          <a:p>
            <a:pPr algn="ctr" indent="0" marL="0">
              <a:buNone/>
            </a:pPr>
            <a:r>
              <a:rPr lang="en-US" sz="3800" b="1" dirty="0">
                <a:solidFill>
                  <a:srgbClr val="1F3864"/>
                </a:solidFill>
                <a:latin typeface="Calibri" pitchFamily="34" charset="0"/>
                <a:ea typeface="Calibri" pitchFamily="34" charset="-122"/>
                <a:cs typeface="Calibri" pitchFamily="34" charset="-120"/>
              </a:rPr>
              <a:t>with Barrett Reduction</a:t>
            </a:r>
            <a:endParaRPr lang="en-US" sz="3800" dirty="0"/>
          </a:p>
        </p:txBody>
      </p:sp>
      <p:sp>
        <p:nvSpPr>
          <p:cNvPr id="7" name="Shape 4"/>
          <p:cNvSpPr/>
          <p:nvPr/>
        </p:nvSpPr>
        <p:spPr>
          <a:xfrm>
            <a:off x="2286000" y="2578608"/>
            <a:ext cx="4572000" cy="0"/>
          </a:xfrm>
          <a:prstGeom prst="line">
            <a:avLst/>
          </a:prstGeom>
          <a:noFill/>
          <a:ln w="19050">
            <a:solidFill>
              <a:srgbClr val="FFC000"/>
            </a:solidFill>
            <a:prstDash val="solid"/>
          </a:ln>
        </p:spPr>
      </p:sp>
      <p:sp>
        <p:nvSpPr>
          <p:cNvPr id="8" name="Text 5"/>
          <p:cNvSpPr/>
          <p:nvPr/>
        </p:nvSpPr>
        <p:spPr>
          <a:xfrm>
            <a:off x="731520" y="2670048"/>
            <a:ext cx="7680960" cy="274320"/>
          </a:xfrm>
          <a:prstGeom prst="rect">
            <a:avLst/>
          </a:prstGeom>
          <a:noFill/>
          <a:ln/>
        </p:spPr>
        <p:txBody>
          <a:bodyPr wrap="square" rtlCol="0" anchor="ctr"/>
          <a:lstStyle/>
          <a:p>
            <a:pPr algn="ctr" indent="0" marL="0">
              <a:buNone/>
            </a:pPr>
            <a:r>
              <a:rPr lang="en-US" sz="1300" dirty="0">
                <a:solidFill>
                  <a:srgbClr val="555555"/>
                </a:solidFill>
                <a:latin typeface="Calibri" pitchFamily="34" charset="0"/>
                <a:ea typeface="Calibri" pitchFamily="34" charset="-122"/>
                <a:cs typeface="Calibri" pitchFamily="34" charset="-120"/>
              </a:rPr>
              <a:t>ECE 268 Final Project  ·  June 2026</a:t>
            </a:r>
            <a:endParaRPr lang="en-US" sz="1300" dirty="0"/>
          </a:p>
        </p:txBody>
      </p:sp>
      <p:sp>
        <p:nvSpPr>
          <p:cNvPr id="9" name="Text 6"/>
          <p:cNvSpPr/>
          <p:nvPr/>
        </p:nvSpPr>
        <p:spPr>
          <a:xfrm>
            <a:off x="731520" y="3090672"/>
            <a:ext cx="7680960" cy="292608"/>
          </a:xfrm>
          <a:prstGeom prst="rect">
            <a:avLst/>
          </a:prstGeom>
          <a:noFill/>
          <a:ln/>
        </p:spPr>
        <p:txBody>
          <a:bodyPr wrap="square" rtlCol="0" anchor="ctr"/>
          <a:lstStyle/>
          <a:p>
            <a:pPr algn="ctr" indent="0" marL="0">
              <a:buNone/>
            </a:pPr>
            <a:r>
              <a:rPr lang="en-US" sz="1300" b="1" dirty="0">
                <a:solidFill>
                  <a:srgbClr val="1F3864"/>
                </a:solidFill>
                <a:latin typeface="Calibri" pitchFamily="34" charset="0"/>
                <a:ea typeface="Calibri" pitchFamily="34" charset="-122"/>
                <a:cs typeface="Calibri" pitchFamily="34" charset="-120"/>
              </a:rPr>
              <a:t>Akhil Teja Chirra  ·  Vagda Sameera Talari  ·  Abhijit Gupta</a:t>
            </a:r>
            <a:endParaRPr lang="en-US" sz="1300" dirty="0"/>
          </a:p>
        </p:txBody>
      </p:sp>
      <p:pic>
        <p:nvPicPr>
          <p:cNvPr id="10" name="Image 1" descr="preencoded.png">    </p:cNvPr>
          <p:cNvPicPr>
            <a:picLocks noChangeAspect="1"/>
          </p:cNvPicPr>
          <p:nvPr/>
        </p:nvPicPr>
        <p:blipFill>
          <a:blip r:embed="rId2"/>
          <a:stretch>
            <a:fillRect/>
          </a:stretch>
        </p:blipFill>
        <p:spPr>
          <a:xfrm>
            <a:off x="274320" y="4187952"/>
            <a:ext cx="1828800" cy="530352"/>
          </a:xfrm>
          <a:prstGeom prst="rect">
            <a:avLst/>
          </a:prstGeom>
        </p:spPr>
      </p:pic>
      <p:sp>
        <p:nvSpPr>
          <p:cNvPr id="11" name="Text 7"/>
          <p:cNvSpPr/>
          <p:nvPr/>
        </p:nvSpPr>
        <p:spPr>
          <a:xfrm>
            <a:off x="2743200" y="4251960"/>
            <a:ext cx="4389120" cy="402336"/>
          </a:xfrm>
          <a:prstGeom prst="rect">
            <a:avLst/>
          </a:prstGeom>
          <a:noFill/>
          <a:ln/>
        </p:spPr>
        <p:txBody>
          <a:bodyPr wrap="square" rtlCol="0" anchor="ctr"/>
          <a:lstStyle/>
          <a:p>
            <a:pPr indent="0" marL="0">
              <a:buNone/>
            </a:pPr>
            <a:r>
              <a:rPr lang="en-US" sz="1200" dirty="0">
                <a:solidFill>
                  <a:srgbClr val="1F3864"/>
                </a:solidFill>
                <a:latin typeface="Calibri" pitchFamily="34" charset="0"/>
                <a:ea typeface="Calibri" pitchFamily="34" charset="-122"/>
                <a:cs typeface="Calibri" pitchFamily="34" charset="-120"/>
              </a:rPr>
              <a:t>Instructor: Prof. Farinaz Koushanfar</a:t>
            </a:r>
            <a:endParaRPr lang="en-US" sz="1200" dirty="0"/>
          </a:p>
        </p:txBody>
      </p:sp>
      <p:sp>
        <p:nvSpPr>
          <p:cNvPr id="12" name="Shape 8"/>
          <p:cNvSpPr/>
          <p:nvPr/>
        </p:nvSpPr>
        <p:spPr>
          <a:xfrm>
            <a:off x="0" y="4800600"/>
            <a:ext cx="9144000" cy="342900"/>
          </a:xfrm>
          <a:prstGeom prst="rect">
            <a:avLst/>
          </a:prstGeom>
          <a:solidFill>
            <a:srgbClr val="0F1D3A"/>
          </a:solidFill>
          <a:ln w="12700">
            <a:solidFill>
              <a:srgbClr val="0F1D3A"/>
            </a:solidFill>
            <a:prstDash val="solid"/>
          </a:ln>
        </p:spPr>
      </p:sp>
      <p:sp>
        <p:nvSpPr>
          <p:cNvPr id="13" name="Text 9"/>
          <p:cNvSpPr/>
          <p:nvPr/>
        </p:nvSpPr>
        <p:spPr>
          <a:xfrm>
            <a:off x="137160" y="4823460"/>
            <a:ext cx="4114800" cy="274320"/>
          </a:xfrm>
          <a:prstGeom prst="rect">
            <a:avLst/>
          </a:prstGeom>
          <a:noFill/>
          <a:ln/>
        </p:spPr>
        <p:txBody>
          <a:bodyPr wrap="square" rtlCol="0" anchor="ctr"/>
          <a:lstStyle/>
          <a:p>
            <a:pPr indent="0" marL="0">
              <a:buNone/>
            </a:pPr>
            <a:r>
              <a:rPr lang="en-US" sz="1000" dirty="0">
                <a:solidFill>
                  <a:srgbClr val="FFFFFF"/>
                </a:solidFill>
                <a:latin typeface="Calibri" pitchFamily="34" charset="0"/>
                <a:ea typeface="Calibri" pitchFamily="34" charset="-122"/>
                <a:cs typeface="Calibri" pitchFamily="34" charset="-120"/>
              </a:rPr>
              <a:t>ECE 268 – Spring 2026</a:t>
            </a:r>
            <a:endParaRPr lang="en-US" sz="1000" dirty="0"/>
          </a:p>
        </p:txBody>
      </p:sp>
      <p:sp>
        <p:nvSpPr>
          <p:cNvPr id="14" name="Text 10"/>
          <p:cNvSpPr/>
          <p:nvPr/>
        </p:nvSpPr>
        <p:spPr>
          <a:xfrm>
            <a:off x="4754880" y="4823460"/>
            <a:ext cx="4206240" cy="274320"/>
          </a:xfrm>
          <a:prstGeom prst="rect">
            <a:avLst/>
          </a:prstGeom>
          <a:noFill/>
          <a:ln/>
        </p:spPr>
        <p:txBody>
          <a:bodyPr wrap="square" rtlCol="0" anchor="ctr"/>
          <a:lstStyle/>
          <a:p>
            <a:pPr algn="r" indent="0" marL="0">
              <a:buNone/>
            </a:pPr>
            <a:r>
              <a:rPr lang="en-US" sz="1000" dirty="0">
                <a:solidFill>
                  <a:srgbClr val="FFFFFF"/>
                </a:solidFill>
                <a:latin typeface="Calibri" pitchFamily="34" charset="0"/>
                <a:ea typeface="Calibri" pitchFamily="34" charset="-122"/>
                <a:cs typeface="Calibri" pitchFamily="34" charset="-120"/>
              </a:rPr>
              <a:t>Security of Hardware Embedded Systems</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F3864"/>
          </a:solidFill>
          <a:ln w="12700">
            <a:solidFill>
              <a:srgbClr val="1F3864"/>
            </a:solidFill>
            <a:prstDash val="solid"/>
          </a:ln>
        </p:spPr>
      </p:sp>
      <p:sp>
        <p:nvSpPr>
          <p:cNvPr id="3" name="Shape 1"/>
          <p:cNvSpPr/>
          <p:nvPr/>
        </p:nvSpPr>
        <p:spPr>
          <a:xfrm>
            <a:off x="0" y="822960"/>
            <a:ext cx="9144000" cy="50292"/>
          </a:xfrm>
          <a:prstGeom prst="rect">
            <a:avLst/>
          </a:prstGeom>
          <a:solidFill>
            <a:srgbClr val="FFC000"/>
          </a:solidFill>
          <a:ln w="12700">
            <a:solidFill>
              <a:srgbClr val="FFC000"/>
            </a:solidFill>
            <a:prstDash val="solid"/>
          </a:ln>
        </p:spPr>
      </p:sp>
      <p:sp>
        <p:nvSpPr>
          <p:cNvPr id="4" name="Text 2"/>
          <p:cNvSpPr/>
          <p:nvPr/>
        </p:nvSpPr>
        <p:spPr>
          <a:xfrm>
            <a:off x="347472" y="0"/>
            <a:ext cx="7315200" cy="82296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Motivation &amp; Background</a:t>
            </a:r>
            <a:endParaRPr lang="en-US" sz="2200" dirty="0"/>
          </a:p>
        </p:txBody>
      </p:sp>
      <p:pic>
        <p:nvPicPr>
          <p:cNvPr id="5" name="Image 0" descr="preencoded.png">    </p:cNvPr>
          <p:cNvPicPr>
            <a:picLocks noChangeAspect="1"/>
          </p:cNvPicPr>
          <p:nvPr/>
        </p:nvPicPr>
        <p:blipFill>
          <a:blip r:embed="rId1"/>
          <a:stretch>
            <a:fillRect/>
          </a:stretch>
        </p:blipFill>
        <p:spPr>
          <a:xfrm>
            <a:off x="7909560" y="73152"/>
            <a:ext cx="685800" cy="685800"/>
          </a:xfrm>
          <a:prstGeom prst="rect">
            <a:avLst/>
          </a:prstGeom>
        </p:spPr>
      </p:pic>
      <p:sp>
        <p:nvSpPr>
          <p:cNvPr id="6" name="Shape 3"/>
          <p:cNvSpPr/>
          <p:nvPr/>
        </p:nvSpPr>
        <p:spPr>
          <a:xfrm>
            <a:off x="0" y="4800600"/>
            <a:ext cx="9144000" cy="342900"/>
          </a:xfrm>
          <a:prstGeom prst="rect">
            <a:avLst/>
          </a:prstGeom>
          <a:solidFill>
            <a:srgbClr val="0F1D3A"/>
          </a:solidFill>
          <a:ln w="12700">
            <a:solidFill>
              <a:srgbClr val="0F1D3A"/>
            </a:solidFill>
            <a:prstDash val="solid"/>
          </a:ln>
        </p:spPr>
      </p:sp>
      <p:sp>
        <p:nvSpPr>
          <p:cNvPr id="7" name="Text 4"/>
          <p:cNvSpPr/>
          <p:nvPr/>
        </p:nvSpPr>
        <p:spPr>
          <a:xfrm>
            <a:off x="137160" y="4823460"/>
            <a:ext cx="4114800" cy="274320"/>
          </a:xfrm>
          <a:prstGeom prst="rect">
            <a:avLst/>
          </a:prstGeom>
          <a:noFill/>
          <a:ln/>
        </p:spPr>
        <p:txBody>
          <a:bodyPr wrap="square" rtlCol="0" anchor="ctr"/>
          <a:lstStyle/>
          <a:p>
            <a:pPr indent="0" marL="0">
              <a:buNone/>
            </a:pPr>
            <a:r>
              <a:rPr lang="en-US" sz="1000" dirty="0">
                <a:solidFill>
                  <a:srgbClr val="FFFFFF"/>
                </a:solidFill>
                <a:latin typeface="Calibri" pitchFamily="34" charset="0"/>
                <a:ea typeface="Calibri" pitchFamily="34" charset="-122"/>
                <a:cs typeface="Calibri" pitchFamily="34" charset="-120"/>
              </a:rPr>
              <a:t>ECE 268 – Spring 2026</a:t>
            </a:r>
            <a:endParaRPr lang="en-US" sz="1000" dirty="0"/>
          </a:p>
        </p:txBody>
      </p:sp>
      <p:sp>
        <p:nvSpPr>
          <p:cNvPr id="8" name="Text 5"/>
          <p:cNvSpPr/>
          <p:nvPr/>
        </p:nvSpPr>
        <p:spPr>
          <a:xfrm>
            <a:off x="4754880" y="4823460"/>
            <a:ext cx="4206240" cy="274320"/>
          </a:xfrm>
          <a:prstGeom prst="rect">
            <a:avLst/>
          </a:prstGeom>
          <a:noFill/>
          <a:ln/>
        </p:spPr>
        <p:txBody>
          <a:bodyPr wrap="square" rtlCol="0" anchor="ctr"/>
          <a:lstStyle/>
          <a:p>
            <a:pPr algn="r" indent="0" marL="0">
              <a:buNone/>
            </a:pPr>
            <a:r>
              <a:rPr lang="en-US" sz="1000" dirty="0">
                <a:solidFill>
                  <a:srgbClr val="FFFFFF"/>
                </a:solidFill>
                <a:latin typeface="Calibri" pitchFamily="34" charset="0"/>
                <a:ea typeface="Calibri" pitchFamily="34" charset="-122"/>
                <a:cs typeface="Calibri" pitchFamily="34" charset="-120"/>
              </a:rPr>
              <a:t>Security of Hardware Embedded Systems</a:t>
            </a:r>
            <a:endParaRPr lang="en-US" sz="1000" dirty="0"/>
          </a:p>
        </p:txBody>
      </p:sp>
      <p:sp>
        <p:nvSpPr>
          <p:cNvPr id="9" name="Text 6"/>
          <p:cNvSpPr/>
          <p:nvPr/>
        </p:nvSpPr>
        <p:spPr>
          <a:xfrm>
            <a:off x="365760" y="987552"/>
            <a:ext cx="3931920" cy="274320"/>
          </a:xfrm>
          <a:prstGeom prst="rect">
            <a:avLst/>
          </a:prstGeom>
          <a:noFill/>
          <a:ln/>
        </p:spPr>
        <p:txBody>
          <a:bodyPr wrap="square" rtlCol="0" anchor="ctr"/>
          <a:lstStyle/>
          <a:p>
            <a:pPr indent="0" marL="0">
              <a:buNone/>
            </a:pPr>
            <a:r>
              <a:rPr lang="en-US" sz="1300" b="1" dirty="0">
                <a:solidFill>
                  <a:srgbClr val="1F3864"/>
                </a:solidFill>
                <a:latin typeface="Calibri" pitchFamily="34" charset="0"/>
                <a:ea typeface="Calibri" pitchFamily="34" charset="-122"/>
                <a:cs typeface="Calibri" pitchFamily="34" charset="-120"/>
              </a:rPr>
              <a:t>Why Barrett reduction on a GPU?</a:t>
            </a:r>
            <a:endParaRPr lang="en-US" sz="1300" dirty="0"/>
          </a:p>
        </p:txBody>
      </p:sp>
      <p:sp>
        <p:nvSpPr>
          <p:cNvPr id="10" name="Shape 7"/>
          <p:cNvSpPr/>
          <p:nvPr/>
        </p:nvSpPr>
        <p:spPr>
          <a:xfrm>
            <a:off x="365760" y="1280160"/>
            <a:ext cx="3474720" cy="0"/>
          </a:xfrm>
          <a:prstGeom prst="line">
            <a:avLst/>
          </a:prstGeom>
          <a:noFill/>
          <a:ln w="19050">
            <a:solidFill>
              <a:srgbClr val="FFC000"/>
            </a:solidFill>
            <a:prstDash val="solid"/>
          </a:ln>
        </p:spPr>
      </p:sp>
      <p:sp>
        <p:nvSpPr>
          <p:cNvPr id="11" name="Text 8"/>
          <p:cNvSpPr/>
          <p:nvPr/>
        </p:nvSpPr>
        <p:spPr>
          <a:xfrm>
            <a:off x="365760" y="1389888"/>
            <a:ext cx="274320" cy="548640"/>
          </a:xfrm>
          <a:prstGeom prst="rect">
            <a:avLst/>
          </a:prstGeom>
          <a:noFill/>
          <a:ln/>
        </p:spPr>
        <p:txBody>
          <a:bodyPr wrap="square" rtlCol="0" anchor="t"/>
          <a:lstStyle/>
          <a:p>
            <a:pPr indent="0" marL="0">
              <a:buNone/>
            </a:pPr>
            <a:r>
              <a:rPr lang="en-US" sz="1100" b="1" dirty="0">
                <a:solidFill>
                  <a:srgbClr val="FFC000"/>
                </a:solidFill>
                <a:latin typeface="Calibri" pitchFamily="34" charset="0"/>
                <a:ea typeface="Calibri" pitchFamily="34" charset="-122"/>
                <a:cs typeface="Calibri" pitchFamily="34" charset="-120"/>
              </a:rPr>
              <a:t>1.</a:t>
            </a:r>
            <a:endParaRPr lang="en-US" sz="1100" dirty="0"/>
          </a:p>
        </p:txBody>
      </p:sp>
      <p:sp>
        <p:nvSpPr>
          <p:cNvPr id="12" name="Text 9"/>
          <p:cNvSpPr/>
          <p:nvPr/>
        </p:nvSpPr>
        <p:spPr>
          <a:xfrm>
            <a:off x="658368" y="1389888"/>
            <a:ext cx="3611880" cy="548640"/>
          </a:xfrm>
          <a:prstGeom prst="rect">
            <a:avLst/>
          </a:prstGeom>
          <a:noFill/>
          <a:ln/>
        </p:spPr>
        <p:txBody>
          <a:bodyPr wrap="square" rtlCol="0" anchor="t"/>
          <a:lstStyle/>
          <a:p>
            <a:pPr indent="0" marL="0">
              <a:buNone/>
            </a:pPr>
            <a:r>
              <a:rPr lang="en-US" sz="1100" dirty="0">
                <a:solidFill>
                  <a:srgbClr val="1A1A1A"/>
                </a:solidFill>
                <a:latin typeface="Calibri" pitchFamily="34" charset="0"/>
                <a:ea typeface="Calibri" pitchFamily="34" charset="-122"/>
                <a:cs typeface="Calibri" pitchFamily="34" charset="-120"/>
              </a:rPr>
              <a:t>Integer division is slow and data-dependent on GPUs — a timing side-channel risk in crypto.</a:t>
            </a:r>
            <a:endParaRPr lang="en-US" sz="1100" dirty="0"/>
          </a:p>
        </p:txBody>
      </p:sp>
      <p:sp>
        <p:nvSpPr>
          <p:cNvPr id="13" name="Shape 10"/>
          <p:cNvSpPr/>
          <p:nvPr/>
        </p:nvSpPr>
        <p:spPr>
          <a:xfrm>
            <a:off x="365760" y="1901952"/>
            <a:ext cx="3749040" cy="0"/>
          </a:xfrm>
          <a:prstGeom prst="line">
            <a:avLst/>
          </a:prstGeom>
          <a:noFill/>
          <a:ln w="6350">
            <a:solidFill>
              <a:srgbClr val="E0E8F0"/>
            </a:solidFill>
            <a:prstDash val="solid"/>
          </a:ln>
        </p:spPr>
      </p:sp>
      <p:sp>
        <p:nvSpPr>
          <p:cNvPr id="14" name="Text 11"/>
          <p:cNvSpPr/>
          <p:nvPr/>
        </p:nvSpPr>
        <p:spPr>
          <a:xfrm>
            <a:off x="365760" y="2048256"/>
            <a:ext cx="274320" cy="548640"/>
          </a:xfrm>
          <a:prstGeom prst="rect">
            <a:avLst/>
          </a:prstGeom>
          <a:noFill/>
          <a:ln/>
        </p:spPr>
        <p:txBody>
          <a:bodyPr wrap="square" rtlCol="0" anchor="t"/>
          <a:lstStyle/>
          <a:p>
            <a:pPr indent="0" marL="0">
              <a:buNone/>
            </a:pPr>
            <a:r>
              <a:rPr lang="en-US" sz="1100" b="1" dirty="0">
                <a:solidFill>
                  <a:srgbClr val="FFC000"/>
                </a:solidFill>
                <a:latin typeface="Calibri" pitchFamily="34" charset="0"/>
                <a:ea typeface="Calibri" pitchFamily="34" charset="-122"/>
                <a:cs typeface="Calibri" pitchFamily="34" charset="-120"/>
              </a:rPr>
              <a:t>2.</a:t>
            </a:r>
            <a:endParaRPr lang="en-US" sz="1100" dirty="0"/>
          </a:p>
        </p:txBody>
      </p:sp>
      <p:sp>
        <p:nvSpPr>
          <p:cNvPr id="15" name="Text 12"/>
          <p:cNvSpPr/>
          <p:nvPr/>
        </p:nvSpPr>
        <p:spPr>
          <a:xfrm>
            <a:off x="658368" y="2048256"/>
            <a:ext cx="3611880" cy="548640"/>
          </a:xfrm>
          <a:prstGeom prst="rect">
            <a:avLst/>
          </a:prstGeom>
          <a:noFill/>
          <a:ln/>
        </p:spPr>
        <p:txBody>
          <a:bodyPr wrap="square" rtlCol="0" anchor="t"/>
          <a:lstStyle/>
          <a:p>
            <a:pPr indent="0" marL="0">
              <a:buNone/>
            </a:pPr>
            <a:r>
              <a:rPr lang="en-US" sz="1100" dirty="0">
                <a:solidFill>
                  <a:srgbClr val="1A1A1A"/>
                </a:solidFill>
                <a:latin typeface="Calibri" pitchFamily="34" charset="0"/>
                <a:ea typeface="Calibri" pitchFamily="34" charset="-122"/>
                <a:cs typeface="Calibri" pitchFamily="34" charset="-120"/>
              </a:rPr>
              <a:t>Barrett replaces x mod p with multiplies + a shift using precomputed μ = ⌊2ᵏ/p⌋. No division.</a:t>
            </a:r>
            <a:endParaRPr lang="en-US" sz="1100" dirty="0"/>
          </a:p>
        </p:txBody>
      </p:sp>
      <p:sp>
        <p:nvSpPr>
          <p:cNvPr id="16" name="Shape 13"/>
          <p:cNvSpPr/>
          <p:nvPr/>
        </p:nvSpPr>
        <p:spPr>
          <a:xfrm>
            <a:off x="365760" y="2560320"/>
            <a:ext cx="3749040" cy="0"/>
          </a:xfrm>
          <a:prstGeom prst="line">
            <a:avLst/>
          </a:prstGeom>
          <a:noFill/>
          <a:ln w="6350">
            <a:solidFill>
              <a:srgbClr val="E0E8F0"/>
            </a:solidFill>
            <a:prstDash val="solid"/>
          </a:ln>
        </p:spPr>
      </p:sp>
      <p:sp>
        <p:nvSpPr>
          <p:cNvPr id="17" name="Text 14"/>
          <p:cNvSpPr/>
          <p:nvPr/>
        </p:nvSpPr>
        <p:spPr>
          <a:xfrm>
            <a:off x="365760" y="2706624"/>
            <a:ext cx="274320" cy="548640"/>
          </a:xfrm>
          <a:prstGeom prst="rect">
            <a:avLst/>
          </a:prstGeom>
          <a:noFill/>
          <a:ln/>
        </p:spPr>
        <p:txBody>
          <a:bodyPr wrap="square" rtlCol="0" anchor="t"/>
          <a:lstStyle/>
          <a:p>
            <a:pPr indent="0" marL="0">
              <a:buNone/>
            </a:pPr>
            <a:r>
              <a:rPr lang="en-US" sz="1100" b="1" dirty="0">
                <a:solidFill>
                  <a:srgbClr val="FFC000"/>
                </a:solidFill>
                <a:latin typeface="Calibri" pitchFamily="34" charset="0"/>
                <a:ea typeface="Calibri" pitchFamily="34" charset="-122"/>
                <a:cs typeface="Calibri" pitchFamily="34" charset="-120"/>
              </a:rPr>
              <a:t>3.</a:t>
            </a:r>
            <a:endParaRPr lang="en-US" sz="1100" dirty="0"/>
          </a:p>
        </p:txBody>
      </p:sp>
      <p:sp>
        <p:nvSpPr>
          <p:cNvPr id="18" name="Text 15"/>
          <p:cNvSpPr/>
          <p:nvPr/>
        </p:nvSpPr>
        <p:spPr>
          <a:xfrm>
            <a:off x="658368" y="2706624"/>
            <a:ext cx="3611880" cy="548640"/>
          </a:xfrm>
          <a:prstGeom prst="rect">
            <a:avLst/>
          </a:prstGeom>
          <a:noFill/>
          <a:ln/>
        </p:spPr>
        <p:txBody>
          <a:bodyPr wrap="square" rtlCol="0" anchor="t"/>
          <a:lstStyle/>
          <a:p>
            <a:pPr indent="0" marL="0">
              <a:buNone/>
            </a:pPr>
            <a:r>
              <a:rPr lang="en-US" sz="1100" dirty="0">
                <a:solidFill>
                  <a:srgbClr val="1A1A1A"/>
                </a:solidFill>
                <a:latin typeface="Calibri" pitchFamily="34" charset="0"/>
                <a:ea typeface="Calibri" pitchFamily="34" charset="-122"/>
                <a:cs typeface="Calibri" pitchFamily="34" charset="-120"/>
              </a:rPr>
              <a:t>μ is shared across all threads (constant cache). Zero per-thread overhead, warp-uniform.</a:t>
            </a:r>
            <a:endParaRPr lang="en-US" sz="1100" dirty="0"/>
          </a:p>
        </p:txBody>
      </p:sp>
      <p:sp>
        <p:nvSpPr>
          <p:cNvPr id="19" name="Shape 16"/>
          <p:cNvSpPr/>
          <p:nvPr/>
        </p:nvSpPr>
        <p:spPr>
          <a:xfrm>
            <a:off x="365760" y="3218688"/>
            <a:ext cx="3749040" cy="0"/>
          </a:xfrm>
          <a:prstGeom prst="line">
            <a:avLst/>
          </a:prstGeom>
          <a:noFill/>
          <a:ln w="6350">
            <a:solidFill>
              <a:srgbClr val="E0E8F0"/>
            </a:solidFill>
            <a:prstDash val="solid"/>
          </a:ln>
        </p:spPr>
      </p:sp>
      <p:sp>
        <p:nvSpPr>
          <p:cNvPr id="20" name="Text 17"/>
          <p:cNvSpPr/>
          <p:nvPr/>
        </p:nvSpPr>
        <p:spPr>
          <a:xfrm>
            <a:off x="365760" y="3364992"/>
            <a:ext cx="274320" cy="548640"/>
          </a:xfrm>
          <a:prstGeom prst="rect">
            <a:avLst/>
          </a:prstGeom>
          <a:noFill/>
          <a:ln/>
        </p:spPr>
        <p:txBody>
          <a:bodyPr wrap="square" rtlCol="0" anchor="t"/>
          <a:lstStyle/>
          <a:p>
            <a:pPr indent="0" marL="0">
              <a:buNone/>
            </a:pPr>
            <a:r>
              <a:rPr lang="en-US" sz="1100" b="1" dirty="0">
                <a:solidFill>
                  <a:srgbClr val="FFC000"/>
                </a:solidFill>
                <a:latin typeface="Calibri" pitchFamily="34" charset="0"/>
                <a:ea typeface="Calibri" pitchFamily="34" charset="-122"/>
                <a:cs typeface="Calibri" pitchFamily="34" charset="-120"/>
              </a:rPr>
              <a:t>4.</a:t>
            </a:r>
            <a:endParaRPr lang="en-US" sz="1100" dirty="0"/>
          </a:p>
        </p:txBody>
      </p:sp>
      <p:sp>
        <p:nvSpPr>
          <p:cNvPr id="21" name="Text 18"/>
          <p:cNvSpPr/>
          <p:nvPr/>
        </p:nvSpPr>
        <p:spPr>
          <a:xfrm>
            <a:off x="658368" y="3364992"/>
            <a:ext cx="3611880" cy="548640"/>
          </a:xfrm>
          <a:prstGeom prst="rect">
            <a:avLst/>
          </a:prstGeom>
          <a:noFill/>
          <a:ln/>
        </p:spPr>
        <p:txBody>
          <a:bodyPr wrap="square" rtlCol="0" anchor="t"/>
          <a:lstStyle/>
          <a:p>
            <a:pPr indent="0" marL="0">
              <a:buNone/>
            </a:pPr>
            <a:r>
              <a:rPr lang="en-US" sz="1100" dirty="0">
                <a:solidFill>
                  <a:srgbClr val="1A1A1A"/>
                </a:solidFill>
                <a:latin typeface="Calibri" pitchFamily="34" charset="0"/>
                <a:ea typeface="Calibri" pitchFamily="34" charset="-122"/>
                <a:cs typeface="Calibri" pitchFamily="34" charset="-120"/>
              </a:rPr>
              <a:t>__umul64hi on sm_75 is a single hardware instruction — the hot path is two multiplies.</a:t>
            </a:r>
            <a:endParaRPr lang="en-US" sz="1100" dirty="0"/>
          </a:p>
        </p:txBody>
      </p:sp>
      <p:sp>
        <p:nvSpPr>
          <p:cNvPr id="22" name="Text 19"/>
          <p:cNvSpPr/>
          <p:nvPr/>
        </p:nvSpPr>
        <p:spPr>
          <a:xfrm>
            <a:off x="4663440" y="987552"/>
            <a:ext cx="4160520" cy="274320"/>
          </a:xfrm>
          <a:prstGeom prst="rect">
            <a:avLst/>
          </a:prstGeom>
          <a:noFill/>
          <a:ln/>
        </p:spPr>
        <p:txBody>
          <a:bodyPr wrap="square" rtlCol="0" anchor="ctr"/>
          <a:lstStyle/>
          <a:p>
            <a:pPr indent="0" marL="0">
              <a:buNone/>
            </a:pPr>
            <a:r>
              <a:rPr lang="en-US" sz="1300" b="1" dirty="0">
                <a:solidFill>
                  <a:srgbClr val="1F3864"/>
                </a:solidFill>
                <a:latin typeface="Calibri" pitchFamily="34" charset="0"/>
                <a:ea typeface="Calibri" pitchFamily="34" charset="-122"/>
                <a:cs typeface="Calibri" pitchFamily="34" charset="-120"/>
              </a:rPr>
              <a:t>Application: Number Theoretic Transform</a:t>
            </a:r>
            <a:endParaRPr lang="en-US" sz="1300" dirty="0"/>
          </a:p>
        </p:txBody>
      </p:sp>
      <p:sp>
        <p:nvSpPr>
          <p:cNvPr id="23" name="Shape 20"/>
          <p:cNvSpPr/>
          <p:nvPr/>
        </p:nvSpPr>
        <p:spPr>
          <a:xfrm>
            <a:off x="4663440" y="1280160"/>
            <a:ext cx="3657600" cy="0"/>
          </a:xfrm>
          <a:prstGeom prst="line">
            <a:avLst/>
          </a:prstGeom>
          <a:noFill/>
          <a:ln w="19050">
            <a:solidFill>
              <a:srgbClr val="FFC000"/>
            </a:solidFill>
            <a:prstDash val="solid"/>
          </a:ln>
        </p:spPr>
      </p:sp>
      <p:sp>
        <p:nvSpPr>
          <p:cNvPr id="24" name="Shape 21"/>
          <p:cNvSpPr/>
          <p:nvPr/>
        </p:nvSpPr>
        <p:spPr>
          <a:xfrm>
            <a:off x="4800600" y="1463040"/>
            <a:ext cx="347472" cy="347472"/>
          </a:xfrm>
          <a:prstGeom prst="ellipse">
            <a:avLst/>
          </a:prstGeom>
          <a:solidFill>
            <a:srgbClr val="1F3864"/>
          </a:solidFill>
          <a:ln w="12700">
            <a:solidFill>
              <a:srgbClr val="1F3864"/>
            </a:solidFill>
            <a:prstDash val="solid"/>
          </a:ln>
        </p:spPr>
      </p:sp>
      <p:sp>
        <p:nvSpPr>
          <p:cNvPr id="25" name="Text 22"/>
          <p:cNvSpPr/>
          <p:nvPr/>
        </p:nvSpPr>
        <p:spPr>
          <a:xfrm>
            <a:off x="4800600" y="1463040"/>
            <a:ext cx="347472" cy="347472"/>
          </a:xfrm>
          <a:prstGeom prst="rect">
            <a:avLst/>
          </a:prstGeom>
          <a:noFill/>
          <a:ln/>
        </p:spPr>
        <p:txBody>
          <a:bodyPr wrap="square" rtlCol="0" anchor="ctr"/>
          <a:lstStyle/>
          <a:p>
            <a:pPr algn="ctr" indent="0" marL="0">
              <a:buNone/>
            </a:pPr>
            <a:r>
              <a:rPr lang="en-US" sz="900" b="1" dirty="0">
                <a:solidFill>
                  <a:srgbClr val="FFFFFF"/>
                </a:solidFill>
              </a:rPr>
              <a:t>a0</a:t>
            </a:r>
            <a:endParaRPr lang="en-US" sz="900" dirty="0"/>
          </a:p>
        </p:txBody>
      </p:sp>
      <p:sp>
        <p:nvSpPr>
          <p:cNvPr id="26" name="Shape 23"/>
          <p:cNvSpPr/>
          <p:nvPr/>
        </p:nvSpPr>
        <p:spPr>
          <a:xfrm>
            <a:off x="8275320" y="1463040"/>
            <a:ext cx="347472" cy="347472"/>
          </a:xfrm>
          <a:prstGeom prst="ellipse">
            <a:avLst/>
          </a:prstGeom>
          <a:solidFill>
            <a:srgbClr val="FFC000"/>
          </a:solidFill>
          <a:ln w="12700">
            <a:solidFill>
              <a:srgbClr val="FFC000"/>
            </a:solidFill>
            <a:prstDash val="solid"/>
          </a:ln>
        </p:spPr>
      </p:sp>
      <p:sp>
        <p:nvSpPr>
          <p:cNvPr id="27" name="Text 24"/>
          <p:cNvSpPr/>
          <p:nvPr/>
        </p:nvSpPr>
        <p:spPr>
          <a:xfrm>
            <a:off x="8275320" y="1463040"/>
            <a:ext cx="347472" cy="347472"/>
          </a:xfrm>
          <a:prstGeom prst="rect">
            <a:avLst/>
          </a:prstGeom>
          <a:noFill/>
          <a:ln/>
        </p:spPr>
        <p:txBody>
          <a:bodyPr wrap="square" rtlCol="0" anchor="ctr"/>
          <a:lstStyle/>
          <a:p>
            <a:pPr algn="ctr" indent="0" marL="0">
              <a:buNone/>
            </a:pPr>
            <a:r>
              <a:rPr lang="en-US" sz="900" b="1" dirty="0">
                <a:solidFill>
                  <a:srgbClr val="1F3864"/>
                </a:solidFill>
              </a:rPr>
              <a:t>A0</a:t>
            </a:r>
            <a:endParaRPr lang="en-US" sz="900" dirty="0"/>
          </a:p>
        </p:txBody>
      </p:sp>
      <p:sp>
        <p:nvSpPr>
          <p:cNvPr id="28" name="Shape 25"/>
          <p:cNvSpPr/>
          <p:nvPr/>
        </p:nvSpPr>
        <p:spPr>
          <a:xfrm>
            <a:off x="5148072" y="1636776"/>
            <a:ext cx="841248" cy="0"/>
          </a:xfrm>
          <a:prstGeom prst="line">
            <a:avLst/>
          </a:prstGeom>
          <a:noFill/>
          <a:ln w="9525">
            <a:solidFill>
              <a:srgbClr val="AAAAAA"/>
            </a:solidFill>
            <a:prstDash val="solid"/>
          </a:ln>
        </p:spPr>
      </p:sp>
      <p:sp>
        <p:nvSpPr>
          <p:cNvPr id="29" name="Shape 26"/>
          <p:cNvSpPr/>
          <p:nvPr/>
        </p:nvSpPr>
        <p:spPr>
          <a:xfrm>
            <a:off x="7315200" y="1636776"/>
            <a:ext cx="960120" cy="0"/>
          </a:xfrm>
          <a:prstGeom prst="line">
            <a:avLst/>
          </a:prstGeom>
          <a:noFill/>
          <a:ln w="9525">
            <a:solidFill>
              <a:srgbClr val="AAAAAA"/>
            </a:solidFill>
            <a:prstDash val="solid"/>
          </a:ln>
        </p:spPr>
      </p:sp>
      <p:sp>
        <p:nvSpPr>
          <p:cNvPr id="30" name="Shape 27"/>
          <p:cNvSpPr/>
          <p:nvPr/>
        </p:nvSpPr>
        <p:spPr>
          <a:xfrm>
            <a:off x="4800600" y="1993392"/>
            <a:ext cx="347472" cy="347472"/>
          </a:xfrm>
          <a:prstGeom prst="ellipse">
            <a:avLst/>
          </a:prstGeom>
          <a:solidFill>
            <a:srgbClr val="1F3864"/>
          </a:solidFill>
          <a:ln w="12700">
            <a:solidFill>
              <a:srgbClr val="1F3864"/>
            </a:solidFill>
            <a:prstDash val="solid"/>
          </a:ln>
        </p:spPr>
      </p:sp>
      <p:sp>
        <p:nvSpPr>
          <p:cNvPr id="31" name="Text 28"/>
          <p:cNvSpPr/>
          <p:nvPr/>
        </p:nvSpPr>
        <p:spPr>
          <a:xfrm>
            <a:off x="4800600" y="1993392"/>
            <a:ext cx="347472" cy="347472"/>
          </a:xfrm>
          <a:prstGeom prst="rect">
            <a:avLst/>
          </a:prstGeom>
          <a:noFill/>
          <a:ln/>
        </p:spPr>
        <p:txBody>
          <a:bodyPr wrap="square" rtlCol="0" anchor="ctr"/>
          <a:lstStyle/>
          <a:p>
            <a:pPr algn="ctr" indent="0" marL="0">
              <a:buNone/>
            </a:pPr>
            <a:r>
              <a:rPr lang="en-US" sz="900" b="1" dirty="0">
                <a:solidFill>
                  <a:srgbClr val="FFFFFF"/>
                </a:solidFill>
              </a:rPr>
              <a:t>a1</a:t>
            </a:r>
            <a:endParaRPr lang="en-US" sz="900" dirty="0"/>
          </a:p>
        </p:txBody>
      </p:sp>
      <p:sp>
        <p:nvSpPr>
          <p:cNvPr id="32" name="Shape 29"/>
          <p:cNvSpPr/>
          <p:nvPr/>
        </p:nvSpPr>
        <p:spPr>
          <a:xfrm>
            <a:off x="8275320" y="1993392"/>
            <a:ext cx="347472" cy="347472"/>
          </a:xfrm>
          <a:prstGeom prst="ellipse">
            <a:avLst/>
          </a:prstGeom>
          <a:solidFill>
            <a:srgbClr val="FFC000"/>
          </a:solidFill>
          <a:ln w="12700">
            <a:solidFill>
              <a:srgbClr val="FFC000"/>
            </a:solidFill>
            <a:prstDash val="solid"/>
          </a:ln>
        </p:spPr>
      </p:sp>
      <p:sp>
        <p:nvSpPr>
          <p:cNvPr id="33" name="Text 30"/>
          <p:cNvSpPr/>
          <p:nvPr/>
        </p:nvSpPr>
        <p:spPr>
          <a:xfrm>
            <a:off x="8275320" y="1993392"/>
            <a:ext cx="347472" cy="347472"/>
          </a:xfrm>
          <a:prstGeom prst="rect">
            <a:avLst/>
          </a:prstGeom>
          <a:noFill/>
          <a:ln/>
        </p:spPr>
        <p:txBody>
          <a:bodyPr wrap="square" rtlCol="0" anchor="ctr"/>
          <a:lstStyle/>
          <a:p>
            <a:pPr algn="ctr" indent="0" marL="0">
              <a:buNone/>
            </a:pPr>
            <a:r>
              <a:rPr lang="en-US" sz="900" b="1" dirty="0">
                <a:solidFill>
                  <a:srgbClr val="1F3864"/>
                </a:solidFill>
              </a:rPr>
              <a:t>A1</a:t>
            </a:r>
            <a:endParaRPr lang="en-US" sz="900" dirty="0"/>
          </a:p>
        </p:txBody>
      </p:sp>
      <p:sp>
        <p:nvSpPr>
          <p:cNvPr id="34" name="Shape 31"/>
          <p:cNvSpPr/>
          <p:nvPr/>
        </p:nvSpPr>
        <p:spPr>
          <a:xfrm>
            <a:off x="5148072" y="2167128"/>
            <a:ext cx="841248" cy="0"/>
          </a:xfrm>
          <a:prstGeom prst="line">
            <a:avLst/>
          </a:prstGeom>
          <a:noFill/>
          <a:ln w="9525">
            <a:solidFill>
              <a:srgbClr val="AAAAAA"/>
            </a:solidFill>
            <a:prstDash val="solid"/>
          </a:ln>
        </p:spPr>
      </p:sp>
      <p:sp>
        <p:nvSpPr>
          <p:cNvPr id="35" name="Shape 32"/>
          <p:cNvSpPr/>
          <p:nvPr/>
        </p:nvSpPr>
        <p:spPr>
          <a:xfrm>
            <a:off x="7315200" y="2167128"/>
            <a:ext cx="960120" cy="0"/>
          </a:xfrm>
          <a:prstGeom prst="line">
            <a:avLst/>
          </a:prstGeom>
          <a:noFill/>
          <a:ln w="9525">
            <a:solidFill>
              <a:srgbClr val="AAAAAA"/>
            </a:solidFill>
            <a:prstDash val="solid"/>
          </a:ln>
        </p:spPr>
      </p:sp>
      <p:sp>
        <p:nvSpPr>
          <p:cNvPr id="36" name="Shape 33"/>
          <p:cNvSpPr/>
          <p:nvPr/>
        </p:nvSpPr>
        <p:spPr>
          <a:xfrm>
            <a:off x="4800600" y="2523744"/>
            <a:ext cx="347472" cy="347472"/>
          </a:xfrm>
          <a:prstGeom prst="ellipse">
            <a:avLst/>
          </a:prstGeom>
          <a:solidFill>
            <a:srgbClr val="1F3864"/>
          </a:solidFill>
          <a:ln w="12700">
            <a:solidFill>
              <a:srgbClr val="1F3864"/>
            </a:solidFill>
            <a:prstDash val="solid"/>
          </a:ln>
        </p:spPr>
      </p:sp>
      <p:sp>
        <p:nvSpPr>
          <p:cNvPr id="37" name="Text 34"/>
          <p:cNvSpPr/>
          <p:nvPr/>
        </p:nvSpPr>
        <p:spPr>
          <a:xfrm>
            <a:off x="4800600" y="2523744"/>
            <a:ext cx="347472" cy="347472"/>
          </a:xfrm>
          <a:prstGeom prst="rect">
            <a:avLst/>
          </a:prstGeom>
          <a:noFill/>
          <a:ln/>
        </p:spPr>
        <p:txBody>
          <a:bodyPr wrap="square" rtlCol="0" anchor="ctr"/>
          <a:lstStyle/>
          <a:p>
            <a:pPr algn="ctr" indent="0" marL="0">
              <a:buNone/>
            </a:pPr>
            <a:r>
              <a:rPr lang="en-US" sz="900" b="1" dirty="0">
                <a:solidFill>
                  <a:srgbClr val="FFFFFF"/>
                </a:solidFill>
              </a:rPr>
              <a:t>a2</a:t>
            </a:r>
            <a:endParaRPr lang="en-US" sz="900" dirty="0"/>
          </a:p>
        </p:txBody>
      </p:sp>
      <p:sp>
        <p:nvSpPr>
          <p:cNvPr id="38" name="Shape 35"/>
          <p:cNvSpPr/>
          <p:nvPr/>
        </p:nvSpPr>
        <p:spPr>
          <a:xfrm>
            <a:off x="8275320" y="2523744"/>
            <a:ext cx="347472" cy="347472"/>
          </a:xfrm>
          <a:prstGeom prst="ellipse">
            <a:avLst/>
          </a:prstGeom>
          <a:solidFill>
            <a:srgbClr val="FFC000"/>
          </a:solidFill>
          <a:ln w="12700">
            <a:solidFill>
              <a:srgbClr val="FFC000"/>
            </a:solidFill>
            <a:prstDash val="solid"/>
          </a:ln>
        </p:spPr>
      </p:sp>
      <p:sp>
        <p:nvSpPr>
          <p:cNvPr id="39" name="Text 36"/>
          <p:cNvSpPr/>
          <p:nvPr/>
        </p:nvSpPr>
        <p:spPr>
          <a:xfrm>
            <a:off x="8275320" y="2523744"/>
            <a:ext cx="347472" cy="347472"/>
          </a:xfrm>
          <a:prstGeom prst="rect">
            <a:avLst/>
          </a:prstGeom>
          <a:noFill/>
          <a:ln/>
        </p:spPr>
        <p:txBody>
          <a:bodyPr wrap="square" rtlCol="0" anchor="ctr"/>
          <a:lstStyle/>
          <a:p>
            <a:pPr algn="ctr" indent="0" marL="0">
              <a:buNone/>
            </a:pPr>
            <a:r>
              <a:rPr lang="en-US" sz="900" b="1" dirty="0">
                <a:solidFill>
                  <a:srgbClr val="1F3864"/>
                </a:solidFill>
              </a:rPr>
              <a:t>A2</a:t>
            </a:r>
            <a:endParaRPr lang="en-US" sz="900" dirty="0"/>
          </a:p>
        </p:txBody>
      </p:sp>
      <p:sp>
        <p:nvSpPr>
          <p:cNvPr id="40" name="Shape 37"/>
          <p:cNvSpPr/>
          <p:nvPr/>
        </p:nvSpPr>
        <p:spPr>
          <a:xfrm>
            <a:off x="5148072" y="2697480"/>
            <a:ext cx="841248" cy="0"/>
          </a:xfrm>
          <a:prstGeom prst="line">
            <a:avLst/>
          </a:prstGeom>
          <a:noFill/>
          <a:ln w="9525">
            <a:solidFill>
              <a:srgbClr val="AAAAAA"/>
            </a:solidFill>
            <a:prstDash val="solid"/>
          </a:ln>
        </p:spPr>
      </p:sp>
      <p:sp>
        <p:nvSpPr>
          <p:cNvPr id="41" name="Shape 38"/>
          <p:cNvSpPr/>
          <p:nvPr/>
        </p:nvSpPr>
        <p:spPr>
          <a:xfrm>
            <a:off x="7315200" y="2697480"/>
            <a:ext cx="960120" cy="0"/>
          </a:xfrm>
          <a:prstGeom prst="line">
            <a:avLst/>
          </a:prstGeom>
          <a:noFill/>
          <a:ln w="9525">
            <a:solidFill>
              <a:srgbClr val="AAAAAA"/>
            </a:solidFill>
            <a:prstDash val="solid"/>
          </a:ln>
        </p:spPr>
      </p:sp>
      <p:sp>
        <p:nvSpPr>
          <p:cNvPr id="42" name="Shape 39"/>
          <p:cNvSpPr/>
          <p:nvPr/>
        </p:nvSpPr>
        <p:spPr>
          <a:xfrm>
            <a:off x="4800600" y="3054096"/>
            <a:ext cx="347472" cy="347472"/>
          </a:xfrm>
          <a:prstGeom prst="ellipse">
            <a:avLst/>
          </a:prstGeom>
          <a:solidFill>
            <a:srgbClr val="1F3864"/>
          </a:solidFill>
          <a:ln w="12700">
            <a:solidFill>
              <a:srgbClr val="1F3864"/>
            </a:solidFill>
            <a:prstDash val="solid"/>
          </a:ln>
        </p:spPr>
      </p:sp>
      <p:sp>
        <p:nvSpPr>
          <p:cNvPr id="43" name="Text 40"/>
          <p:cNvSpPr/>
          <p:nvPr/>
        </p:nvSpPr>
        <p:spPr>
          <a:xfrm>
            <a:off x="4800600" y="3054096"/>
            <a:ext cx="347472" cy="347472"/>
          </a:xfrm>
          <a:prstGeom prst="rect">
            <a:avLst/>
          </a:prstGeom>
          <a:noFill/>
          <a:ln/>
        </p:spPr>
        <p:txBody>
          <a:bodyPr wrap="square" rtlCol="0" anchor="ctr"/>
          <a:lstStyle/>
          <a:p>
            <a:pPr algn="ctr" indent="0" marL="0">
              <a:buNone/>
            </a:pPr>
            <a:r>
              <a:rPr lang="en-US" sz="900" b="1" dirty="0">
                <a:solidFill>
                  <a:srgbClr val="FFFFFF"/>
                </a:solidFill>
              </a:rPr>
              <a:t>a3</a:t>
            </a:r>
            <a:endParaRPr lang="en-US" sz="900" dirty="0"/>
          </a:p>
        </p:txBody>
      </p:sp>
      <p:sp>
        <p:nvSpPr>
          <p:cNvPr id="44" name="Shape 41"/>
          <p:cNvSpPr/>
          <p:nvPr/>
        </p:nvSpPr>
        <p:spPr>
          <a:xfrm>
            <a:off x="8275320" y="3054096"/>
            <a:ext cx="347472" cy="347472"/>
          </a:xfrm>
          <a:prstGeom prst="ellipse">
            <a:avLst/>
          </a:prstGeom>
          <a:solidFill>
            <a:srgbClr val="FFC000"/>
          </a:solidFill>
          <a:ln w="12700">
            <a:solidFill>
              <a:srgbClr val="FFC000"/>
            </a:solidFill>
            <a:prstDash val="solid"/>
          </a:ln>
        </p:spPr>
      </p:sp>
      <p:sp>
        <p:nvSpPr>
          <p:cNvPr id="45" name="Text 42"/>
          <p:cNvSpPr/>
          <p:nvPr/>
        </p:nvSpPr>
        <p:spPr>
          <a:xfrm>
            <a:off x="8275320" y="3054096"/>
            <a:ext cx="347472" cy="347472"/>
          </a:xfrm>
          <a:prstGeom prst="rect">
            <a:avLst/>
          </a:prstGeom>
          <a:noFill/>
          <a:ln/>
        </p:spPr>
        <p:txBody>
          <a:bodyPr wrap="square" rtlCol="0" anchor="ctr"/>
          <a:lstStyle/>
          <a:p>
            <a:pPr algn="ctr" indent="0" marL="0">
              <a:buNone/>
            </a:pPr>
            <a:r>
              <a:rPr lang="en-US" sz="900" b="1" dirty="0">
                <a:solidFill>
                  <a:srgbClr val="1F3864"/>
                </a:solidFill>
              </a:rPr>
              <a:t>A3</a:t>
            </a:r>
            <a:endParaRPr lang="en-US" sz="900" dirty="0"/>
          </a:p>
        </p:txBody>
      </p:sp>
      <p:sp>
        <p:nvSpPr>
          <p:cNvPr id="46" name="Shape 43"/>
          <p:cNvSpPr/>
          <p:nvPr/>
        </p:nvSpPr>
        <p:spPr>
          <a:xfrm>
            <a:off x="5148072" y="3227832"/>
            <a:ext cx="841248" cy="0"/>
          </a:xfrm>
          <a:prstGeom prst="line">
            <a:avLst/>
          </a:prstGeom>
          <a:noFill/>
          <a:ln w="9525">
            <a:solidFill>
              <a:srgbClr val="AAAAAA"/>
            </a:solidFill>
            <a:prstDash val="solid"/>
          </a:ln>
        </p:spPr>
      </p:sp>
      <p:sp>
        <p:nvSpPr>
          <p:cNvPr id="47" name="Shape 44"/>
          <p:cNvSpPr/>
          <p:nvPr/>
        </p:nvSpPr>
        <p:spPr>
          <a:xfrm>
            <a:off x="7315200" y="3227832"/>
            <a:ext cx="960120" cy="0"/>
          </a:xfrm>
          <a:prstGeom prst="line">
            <a:avLst/>
          </a:prstGeom>
          <a:noFill/>
          <a:ln w="9525">
            <a:solidFill>
              <a:srgbClr val="AAAAAA"/>
            </a:solidFill>
            <a:prstDash val="solid"/>
          </a:ln>
        </p:spPr>
      </p:sp>
      <p:sp>
        <p:nvSpPr>
          <p:cNvPr id="48" name="Shape 45"/>
          <p:cNvSpPr/>
          <p:nvPr/>
        </p:nvSpPr>
        <p:spPr>
          <a:xfrm>
            <a:off x="6053328" y="1636776"/>
            <a:ext cx="0" cy="1060704"/>
          </a:xfrm>
          <a:prstGeom prst="line">
            <a:avLst/>
          </a:prstGeom>
          <a:noFill/>
          <a:ln w="9525">
            <a:solidFill>
              <a:srgbClr val="1F3864"/>
            </a:solidFill>
            <a:prstDash val="solid"/>
          </a:ln>
        </p:spPr>
      </p:sp>
      <p:sp>
        <p:nvSpPr>
          <p:cNvPr id="49" name="Shape 46"/>
          <p:cNvSpPr/>
          <p:nvPr/>
        </p:nvSpPr>
        <p:spPr>
          <a:xfrm>
            <a:off x="5897880" y="1527048"/>
            <a:ext cx="201168" cy="201168"/>
          </a:xfrm>
          <a:prstGeom prst="ellipse">
            <a:avLst/>
          </a:prstGeom>
          <a:solidFill>
            <a:srgbClr val="CCE0FF"/>
          </a:solidFill>
          <a:ln w="9525">
            <a:solidFill>
              <a:srgbClr val="1F3864"/>
            </a:solidFill>
            <a:prstDash val="solid"/>
          </a:ln>
        </p:spPr>
      </p:sp>
      <p:sp>
        <p:nvSpPr>
          <p:cNvPr id="50" name="Shape 47"/>
          <p:cNvSpPr/>
          <p:nvPr/>
        </p:nvSpPr>
        <p:spPr>
          <a:xfrm>
            <a:off x="5897880" y="2587752"/>
            <a:ext cx="201168" cy="201168"/>
          </a:xfrm>
          <a:prstGeom prst="ellipse">
            <a:avLst/>
          </a:prstGeom>
          <a:solidFill>
            <a:srgbClr val="CCE0FF"/>
          </a:solidFill>
          <a:ln w="9525">
            <a:solidFill>
              <a:srgbClr val="1F3864"/>
            </a:solidFill>
            <a:prstDash val="solid"/>
          </a:ln>
        </p:spPr>
      </p:sp>
      <p:sp>
        <p:nvSpPr>
          <p:cNvPr id="51" name="Shape 48"/>
          <p:cNvSpPr/>
          <p:nvPr/>
        </p:nvSpPr>
        <p:spPr>
          <a:xfrm>
            <a:off x="6099048" y="1636776"/>
            <a:ext cx="1078992" cy="0"/>
          </a:xfrm>
          <a:prstGeom prst="line">
            <a:avLst/>
          </a:prstGeom>
          <a:noFill/>
          <a:ln w="9525">
            <a:solidFill>
              <a:srgbClr val="AAAAAA"/>
            </a:solidFill>
            <a:prstDash val="solid"/>
          </a:ln>
        </p:spPr>
      </p:sp>
      <p:sp>
        <p:nvSpPr>
          <p:cNvPr id="52" name="Shape 49"/>
          <p:cNvSpPr/>
          <p:nvPr/>
        </p:nvSpPr>
        <p:spPr>
          <a:xfrm>
            <a:off x="6099048" y="2697480"/>
            <a:ext cx="1078992" cy="0"/>
          </a:xfrm>
          <a:prstGeom prst="line">
            <a:avLst/>
          </a:prstGeom>
          <a:noFill/>
          <a:ln w="9525">
            <a:solidFill>
              <a:srgbClr val="AAAAAA"/>
            </a:solidFill>
            <a:prstDash val="solid"/>
          </a:ln>
        </p:spPr>
      </p:sp>
      <p:sp>
        <p:nvSpPr>
          <p:cNvPr id="53" name="Shape 50"/>
          <p:cNvSpPr/>
          <p:nvPr/>
        </p:nvSpPr>
        <p:spPr>
          <a:xfrm>
            <a:off x="6053328" y="2167128"/>
            <a:ext cx="0" cy="1060704"/>
          </a:xfrm>
          <a:prstGeom prst="line">
            <a:avLst/>
          </a:prstGeom>
          <a:noFill/>
          <a:ln w="9525">
            <a:solidFill>
              <a:srgbClr val="1F3864"/>
            </a:solidFill>
            <a:prstDash val="solid"/>
          </a:ln>
        </p:spPr>
      </p:sp>
      <p:sp>
        <p:nvSpPr>
          <p:cNvPr id="54" name="Shape 51"/>
          <p:cNvSpPr/>
          <p:nvPr/>
        </p:nvSpPr>
        <p:spPr>
          <a:xfrm>
            <a:off x="5897880" y="2057400"/>
            <a:ext cx="201168" cy="201168"/>
          </a:xfrm>
          <a:prstGeom prst="ellipse">
            <a:avLst/>
          </a:prstGeom>
          <a:solidFill>
            <a:srgbClr val="CCE0FF"/>
          </a:solidFill>
          <a:ln w="9525">
            <a:solidFill>
              <a:srgbClr val="1F3864"/>
            </a:solidFill>
            <a:prstDash val="solid"/>
          </a:ln>
        </p:spPr>
      </p:sp>
      <p:sp>
        <p:nvSpPr>
          <p:cNvPr id="55" name="Shape 52"/>
          <p:cNvSpPr/>
          <p:nvPr/>
        </p:nvSpPr>
        <p:spPr>
          <a:xfrm>
            <a:off x="5897880" y="3118104"/>
            <a:ext cx="201168" cy="201168"/>
          </a:xfrm>
          <a:prstGeom prst="ellipse">
            <a:avLst/>
          </a:prstGeom>
          <a:solidFill>
            <a:srgbClr val="CCE0FF"/>
          </a:solidFill>
          <a:ln w="9525">
            <a:solidFill>
              <a:srgbClr val="1F3864"/>
            </a:solidFill>
            <a:prstDash val="solid"/>
          </a:ln>
        </p:spPr>
      </p:sp>
      <p:sp>
        <p:nvSpPr>
          <p:cNvPr id="56" name="Shape 53"/>
          <p:cNvSpPr/>
          <p:nvPr/>
        </p:nvSpPr>
        <p:spPr>
          <a:xfrm>
            <a:off x="6099048" y="2167128"/>
            <a:ext cx="1078992" cy="0"/>
          </a:xfrm>
          <a:prstGeom prst="line">
            <a:avLst/>
          </a:prstGeom>
          <a:noFill/>
          <a:ln w="9525">
            <a:solidFill>
              <a:srgbClr val="AAAAAA"/>
            </a:solidFill>
            <a:prstDash val="solid"/>
          </a:ln>
        </p:spPr>
      </p:sp>
      <p:sp>
        <p:nvSpPr>
          <p:cNvPr id="57" name="Shape 54"/>
          <p:cNvSpPr/>
          <p:nvPr/>
        </p:nvSpPr>
        <p:spPr>
          <a:xfrm>
            <a:off x="6099048" y="3227832"/>
            <a:ext cx="1078992" cy="0"/>
          </a:xfrm>
          <a:prstGeom prst="line">
            <a:avLst/>
          </a:prstGeom>
          <a:noFill/>
          <a:ln w="9525">
            <a:solidFill>
              <a:srgbClr val="AAAAAA"/>
            </a:solidFill>
            <a:prstDash val="solid"/>
          </a:ln>
        </p:spPr>
      </p:sp>
      <p:sp>
        <p:nvSpPr>
          <p:cNvPr id="58" name="Shape 55"/>
          <p:cNvSpPr/>
          <p:nvPr/>
        </p:nvSpPr>
        <p:spPr>
          <a:xfrm>
            <a:off x="7242048" y="1636776"/>
            <a:ext cx="0" cy="530352"/>
          </a:xfrm>
          <a:prstGeom prst="line">
            <a:avLst/>
          </a:prstGeom>
          <a:noFill/>
          <a:ln w="9525">
            <a:solidFill>
              <a:srgbClr val="1F3864"/>
            </a:solidFill>
            <a:prstDash val="solid"/>
          </a:ln>
        </p:spPr>
      </p:sp>
      <p:sp>
        <p:nvSpPr>
          <p:cNvPr id="59" name="Shape 56"/>
          <p:cNvSpPr/>
          <p:nvPr/>
        </p:nvSpPr>
        <p:spPr>
          <a:xfrm>
            <a:off x="7086600" y="1527048"/>
            <a:ext cx="201168" cy="201168"/>
          </a:xfrm>
          <a:prstGeom prst="ellipse">
            <a:avLst/>
          </a:prstGeom>
          <a:solidFill>
            <a:srgbClr val="CCE0FF"/>
          </a:solidFill>
          <a:ln w="9525">
            <a:solidFill>
              <a:srgbClr val="1F3864"/>
            </a:solidFill>
            <a:prstDash val="solid"/>
          </a:ln>
        </p:spPr>
      </p:sp>
      <p:sp>
        <p:nvSpPr>
          <p:cNvPr id="60" name="Shape 57"/>
          <p:cNvSpPr/>
          <p:nvPr/>
        </p:nvSpPr>
        <p:spPr>
          <a:xfrm>
            <a:off x="7086600" y="2057400"/>
            <a:ext cx="201168" cy="201168"/>
          </a:xfrm>
          <a:prstGeom prst="ellipse">
            <a:avLst/>
          </a:prstGeom>
          <a:solidFill>
            <a:srgbClr val="CCE0FF"/>
          </a:solidFill>
          <a:ln w="9525">
            <a:solidFill>
              <a:srgbClr val="1F3864"/>
            </a:solidFill>
            <a:prstDash val="solid"/>
          </a:ln>
        </p:spPr>
      </p:sp>
      <p:sp>
        <p:nvSpPr>
          <p:cNvPr id="61" name="Shape 58"/>
          <p:cNvSpPr/>
          <p:nvPr/>
        </p:nvSpPr>
        <p:spPr>
          <a:xfrm>
            <a:off x="7287768" y="1636776"/>
            <a:ext cx="137160" cy="0"/>
          </a:xfrm>
          <a:prstGeom prst="line">
            <a:avLst/>
          </a:prstGeom>
          <a:noFill/>
          <a:ln w="9525">
            <a:solidFill>
              <a:srgbClr val="AAAAAA"/>
            </a:solidFill>
            <a:prstDash val="solid"/>
          </a:ln>
        </p:spPr>
      </p:sp>
      <p:sp>
        <p:nvSpPr>
          <p:cNvPr id="62" name="Shape 59"/>
          <p:cNvSpPr/>
          <p:nvPr/>
        </p:nvSpPr>
        <p:spPr>
          <a:xfrm>
            <a:off x="7287768" y="2167128"/>
            <a:ext cx="137160" cy="0"/>
          </a:xfrm>
          <a:prstGeom prst="line">
            <a:avLst/>
          </a:prstGeom>
          <a:noFill/>
          <a:ln w="9525">
            <a:solidFill>
              <a:srgbClr val="AAAAAA"/>
            </a:solidFill>
            <a:prstDash val="solid"/>
          </a:ln>
        </p:spPr>
      </p:sp>
      <p:sp>
        <p:nvSpPr>
          <p:cNvPr id="63" name="Shape 60"/>
          <p:cNvSpPr/>
          <p:nvPr/>
        </p:nvSpPr>
        <p:spPr>
          <a:xfrm>
            <a:off x="7242048" y="2697480"/>
            <a:ext cx="0" cy="530352"/>
          </a:xfrm>
          <a:prstGeom prst="line">
            <a:avLst/>
          </a:prstGeom>
          <a:noFill/>
          <a:ln w="9525">
            <a:solidFill>
              <a:srgbClr val="1F3864"/>
            </a:solidFill>
            <a:prstDash val="solid"/>
          </a:ln>
        </p:spPr>
      </p:sp>
      <p:sp>
        <p:nvSpPr>
          <p:cNvPr id="64" name="Shape 61"/>
          <p:cNvSpPr/>
          <p:nvPr/>
        </p:nvSpPr>
        <p:spPr>
          <a:xfrm>
            <a:off x="7086600" y="2587752"/>
            <a:ext cx="201168" cy="201168"/>
          </a:xfrm>
          <a:prstGeom prst="ellipse">
            <a:avLst/>
          </a:prstGeom>
          <a:solidFill>
            <a:srgbClr val="CCE0FF"/>
          </a:solidFill>
          <a:ln w="9525">
            <a:solidFill>
              <a:srgbClr val="1F3864"/>
            </a:solidFill>
            <a:prstDash val="solid"/>
          </a:ln>
        </p:spPr>
      </p:sp>
      <p:sp>
        <p:nvSpPr>
          <p:cNvPr id="65" name="Shape 62"/>
          <p:cNvSpPr/>
          <p:nvPr/>
        </p:nvSpPr>
        <p:spPr>
          <a:xfrm>
            <a:off x="7086600" y="3118104"/>
            <a:ext cx="201168" cy="201168"/>
          </a:xfrm>
          <a:prstGeom prst="ellipse">
            <a:avLst/>
          </a:prstGeom>
          <a:solidFill>
            <a:srgbClr val="CCE0FF"/>
          </a:solidFill>
          <a:ln w="9525">
            <a:solidFill>
              <a:srgbClr val="1F3864"/>
            </a:solidFill>
            <a:prstDash val="solid"/>
          </a:ln>
        </p:spPr>
      </p:sp>
      <p:sp>
        <p:nvSpPr>
          <p:cNvPr id="66" name="Shape 63"/>
          <p:cNvSpPr/>
          <p:nvPr/>
        </p:nvSpPr>
        <p:spPr>
          <a:xfrm>
            <a:off x="7287768" y="2697480"/>
            <a:ext cx="137160" cy="0"/>
          </a:xfrm>
          <a:prstGeom prst="line">
            <a:avLst/>
          </a:prstGeom>
          <a:noFill/>
          <a:ln w="9525">
            <a:solidFill>
              <a:srgbClr val="AAAAAA"/>
            </a:solidFill>
            <a:prstDash val="solid"/>
          </a:ln>
        </p:spPr>
      </p:sp>
      <p:sp>
        <p:nvSpPr>
          <p:cNvPr id="67" name="Shape 64"/>
          <p:cNvSpPr/>
          <p:nvPr/>
        </p:nvSpPr>
        <p:spPr>
          <a:xfrm>
            <a:off x="7287768" y="3227832"/>
            <a:ext cx="137160" cy="0"/>
          </a:xfrm>
          <a:prstGeom prst="line">
            <a:avLst/>
          </a:prstGeom>
          <a:noFill/>
          <a:ln w="9525">
            <a:solidFill>
              <a:srgbClr val="AAAAAA"/>
            </a:solidFill>
            <a:prstDash val="solid"/>
          </a:ln>
        </p:spPr>
      </p:sp>
      <p:sp>
        <p:nvSpPr>
          <p:cNvPr id="68" name="Text 65"/>
          <p:cNvSpPr/>
          <p:nvPr/>
        </p:nvSpPr>
        <p:spPr>
          <a:xfrm>
            <a:off x="5788152" y="3493008"/>
            <a:ext cx="640080" cy="182880"/>
          </a:xfrm>
          <a:prstGeom prst="rect">
            <a:avLst/>
          </a:prstGeom>
          <a:noFill/>
          <a:ln/>
        </p:spPr>
        <p:txBody>
          <a:bodyPr wrap="square" rtlCol="0" anchor="ctr"/>
          <a:lstStyle/>
          <a:p>
            <a:pPr algn="ctr" indent="0" marL="0">
              <a:buNone/>
            </a:pPr>
            <a:r>
              <a:rPr lang="en-US" sz="800" i="1" dirty="0">
                <a:solidFill>
                  <a:srgbClr val="555555"/>
                </a:solidFill>
              </a:rPr>
              <a:t>Stage 1</a:t>
            </a:r>
            <a:endParaRPr lang="en-US" sz="800" dirty="0"/>
          </a:p>
        </p:txBody>
      </p:sp>
      <p:sp>
        <p:nvSpPr>
          <p:cNvPr id="69" name="Text 66"/>
          <p:cNvSpPr/>
          <p:nvPr/>
        </p:nvSpPr>
        <p:spPr>
          <a:xfrm>
            <a:off x="6976872" y="3493008"/>
            <a:ext cx="640080" cy="182880"/>
          </a:xfrm>
          <a:prstGeom prst="rect">
            <a:avLst/>
          </a:prstGeom>
          <a:noFill/>
          <a:ln/>
        </p:spPr>
        <p:txBody>
          <a:bodyPr wrap="square" rtlCol="0" anchor="ctr"/>
          <a:lstStyle/>
          <a:p>
            <a:pPr algn="ctr" indent="0" marL="0">
              <a:buNone/>
            </a:pPr>
            <a:r>
              <a:rPr lang="en-US" sz="800" i="1" dirty="0">
                <a:solidFill>
                  <a:srgbClr val="555555"/>
                </a:solidFill>
              </a:rPr>
              <a:t>Stage 2</a:t>
            </a:r>
            <a:endParaRPr lang="en-US" sz="800" dirty="0"/>
          </a:p>
        </p:txBody>
      </p:sp>
      <p:sp>
        <p:nvSpPr>
          <p:cNvPr id="70" name="Text 67"/>
          <p:cNvSpPr/>
          <p:nvPr/>
        </p:nvSpPr>
        <p:spPr>
          <a:xfrm>
            <a:off x="4663440" y="3730752"/>
            <a:ext cx="4114800" cy="201168"/>
          </a:xfrm>
          <a:prstGeom prst="rect">
            <a:avLst/>
          </a:prstGeom>
          <a:noFill/>
          <a:ln/>
        </p:spPr>
        <p:txBody>
          <a:bodyPr wrap="square" rtlCol="0" anchor="ctr"/>
          <a:lstStyle/>
          <a:p>
            <a:pPr algn="ctr" indent="0" marL="0">
              <a:buNone/>
            </a:pPr>
            <a:r>
              <a:rPr lang="en-US" sz="950" i="1" dirty="0">
                <a:solidFill>
                  <a:srgbClr val="555555"/>
                </a:solidFill>
              </a:rPr>
              <a:t>Each butterfly = 2 modmuls</a:t>
            </a:r>
            <a:endParaRPr lang="en-US" sz="950" dirty="0"/>
          </a:p>
        </p:txBody>
      </p:sp>
      <p:sp>
        <p:nvSpPr>
          <p:cNvPr id="71" name="Text 68"/>
          <p:cNvSpPr/>
          <p:nvPr/>
        </p:nvSpPr>
        <p:spPr>
          <a:xfrm>
            <a:off x="4663440" y="4005072"/>
            <a:ext cx="4114800" cy="402336"/>
          </a:xfrm>
          <a:prstGeom prst="rect">
            <a:avLst/>
          </a:prstGeom>
          <a:noFill/>
          <a:ln/>
        </p:spPr>
        <p:txBody>
          <a:bodyPr wrap="square" rtlCol="0" anchor="ctr"/>
          <a:lstStyle/>
          <a:p>
            <a:pPr indent="0" marL="0">
              <a:buNone/>
            </a:pPr>
            <a:r>
              <a:rPr lang="en-US" sz="1100" dirty="0">
                <a:solidFill>
                  <a:srgbClr val="1A1A1A"/>
                </a:solidFill>
                <a:latin typeface="Calibri" pitchFamily="34" charset="0"/>
                <a:ea typeface="Calibri" pitchFamily="34" charset="-122"/>
                <a:cs typeface="Calibri" pitchFamily="34" charset="-120"/>
              </a:rPr>
              <a:t>Used in Kyber/Dilithium (NIST PQC) and ZK-proof systems (Plonky2)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F3864"/>
          </a:solidFill>
          <a:ln w="12700">
            <a:solidFill>
              <a:srgbClr val="1F3864"/>
            </a:solidFill>
            <a:prstDash val="solid"/>
          </a:ln>
        </p:spPr>
      </p:sp>
      <p:sp>
        <p:nvSpPr>
          <p:cNvPr id="3" name="Shape 1"/>
          <p:cNvSpPr/>
          <p:nvPr/>
        </p:nvSpPr>
        <p:spPr>
          <a:xfrm>
            <a:off x="0" y="822960"/>
            <a:ext cx="9144000" cy="50292"/>
          </a:xfrm>
          <a:prstGeom prst="rect">
            <a:avLst/>
          </a:prstGeom>
          <a:solidFill>
            <a:srgbClr val="FFC000"/>
          </a:solidFill>
          <a:ln w="12700">
            <a:solidFill>
              <a:srgbClr val="FFC000"/>
            </a:solidFill>
            <a:prstDash val="solid"/>
          </a:ln>
        </p:spPr>
      </p:sp>
      <p:sp>
        <p:nvSpPr>
          <p:cNvPr id="4" name="Text 2"/>
          <p:cNvSpPr/>
          <p:nvPr/>
        </p:nvSpPr>
        <p:spPr>
          <a:xfrm>
            <a:off x="347472" y="0"/>
            <a:ext cx="7315200" cy="82296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Implementation</a:t>
            </a:r>
            <a:endParaRPr lang="en-US" sz="2200" dirty="0"/>
          </a:p>
        </p:txBody>
      </p:sp>
      <p:pic>
        <p:nvPicPr>
          <p:cNvPr id="5" name="Image 0" descr="preencoded.png">    </p:cNvPr>
          <p:cNvPicPr>
            <a:picLocks noChangeAspect="1"/>
          </p:cNvPicPr>
          <p:nvPr/>
        </p:nvPicPr>
        <p:blipFill>
          <a:blip r:embed="rId1"/>
          <a:stretch>
            <a:fillRect/>
          </a:stretch>
        </p:blipFill>
        <p:spPr>
          <a:xfrm>
            <a:off x="7909560" y="73152"/>
            <a:ext cx="685800" cy="685800"/>
          </a:xfrm>
          <a:prstGeom prst="rect">
            <a:avLst/>
          </a:prstGeom>
        </p:spPr>
      </p:pic>
      <p:sp>
        <p:nvSpPr>
          <p:cNvPr id="6" name="Shape 3"/>
          <p:cNvSpPr/>
          <p:nvPr/>
        </p:nvSpPr>
        <p:spPr>
          <a:xfrm>
            <a:off x="0" y="4800600"/>
            <a:ext cx="9144000" cy="342900"/>
          </a:xfrm>
          <a:prstGeom prst="rect">
            <a:avLst/>
          </a:prstGeom>
          <a:solidFill>
            <a:srgbClr val="0F1D3A"/>
          </a:solidFill>
          <a:ln w="12700">
            <a:solidFill>
              <a:srgbClr val="0F1D3A"/>
            </a:solidFill>
            <a:prstDash val="solid"/>
          </a:ln>
        </p:spPr>
      </p:sp>
      <p:sp>
        <p:nvSpPr>
          <p:cNvPr id="7" name="Text 4"/>
          <p:cNvSpPr/>
          <p:nvPr/>
        </p:nvSpPr>
        <p:spPr>
          <a:xfrm>
            <a:off x="137160" y="4823460"/>
            <a:ext cx="4114800" cy="274320"/>
          </a:xfrm>
          <a:prstGeom prst="rect">
            <a:avLst/>
          </a:prstGeom>
          <a:noFill/>
          <a:ln/>
        </p:spPr>
        <p:txBody>
          <a:bodyPr wrap="square" rtlCol="0" anchor="ctr"/>
          <a:lstStyle/>
          <a:p>
            <a:pPr indent="0" marL="0">
              <a:buNone/>
            </a:pPr>
            <a:r>
              <a:rPr lang="en-US" sz="1000" dirty="0">
                <a:solidFill>
                  <a:srgbClr val="FFFFFF"/>
                </a:solidFill>
                <a:latin typeface="Calibri" pitchFamily="34" charset="0"/>
                <a:ea typeface="Calibri" pitchFamily="34" charset="-122"/>
                <a:cs typeface="Calibri" pitchFamily="34" charset="-120"/>
              </a:rPr>
              <a:t>ECE 268 – Spring 2026</a:t>
            </a:r>
            <a:endParaRPr lang="en-US" sz="1000" dirty="0"/>
          </a:p>
        </p:txBody>
      </p:sp>
      <p:sp>
        <p:nvSpPr>
          <p:cNvPr id="8" name="Text 5"/>
          <p:cNvSpPr/>
          <p:nvPr/>
        </p:nvSpPr>
        <p:spPr>
          <a:xfrm>
            <a:off x="4754880" y="4823460"/>
            <a:ext cx="4206240" cy="274320"/>
          </a:xfrm>
          <a:prstGeom prst="rect">
            <a:avLst/>
          </a:prstGeom>
          <a:noFill/>
          <a:ln/>
        </p:spPr>
        <p:txBody>
          <a:bodyPr wrap="square" rtlCol="0" anchor="ctr"/>
          <a:lstStyle/>
          <a:p>
            <a:pPr algn="r" indent="0" marL="0">
              <a:buNone/>
            </a:pPr>
            <a:r>
              <a:rPr lang="en-US" sz="1000" dirty="0">
                <a:solidFill>
                  <a:srgbClr val="FFFFFF"/>
                </a:solidFill>
                <a:latin typeface="Calibri" pitchFamily="34" charset="0"/>
                <a:ea typeface="Calibri" pitchFamily="34" charset="-122"/>
                <a:cs typeface="Calibri" pitchFamily="34" charset="-120"/>
              </a:rPr>
              <a:t>Security of Hardware Embedded Systems</a:t>
            </a:r>
            <a:endParaRPr lang="en-US" sz="1000" dirty="0"/>
          </a:p>
        </p:txBody>
      </p:sp>
      <p:sp>
        <p:nvSpPr>
          <p:cNvPr id="9" name="Text 6"/>
          <p:cNvSpPr/>
          <p:nvPr/>
        </p:nvSpPr>
        <p:spPr>
          <a:xfrm>
            <a:off x="365760" y="987552"/>
            <a:ext cx="3931920" cy="274320"/>
          </a:xfrm>
          <a:prstGeom prst="rect">
            <a:avLst/>
          </a:prstGeom>
          <a:noFill/>
          <a:ln/>
        </p:spPr>
        <p:txBody>
          <a:bodyPr wrap="square" rtlCol="0" anchor="ctr"/>
          <a:lstStyle/>
          <a:p>
            <a:pPr indent="0" marL="0">
              <a:buNone/>
            </a:pPr>
            <a:r>
              <a:rPr lang="en-US" sz="1300" b="1" dirty="0">
                <a:solidFill>
                  <a:srgbClr val="1F3864"/>
                </a:solidFill>
                <a:latin typeface="Calibri" pitchFamily="34" charset="0"/>
                <a:ea typeface="Calibri" pitchFamily="34" charset="-122"/>
                <a:cs typeface="Calibri" pitchFamily="34" charset="-120"/>
              </a:rPr>
              <a:t>Prime fields</a:t>
            </a:r>
            <a:endParaRPr lang="en-US" sz="1300" dirty="0"/>
          </a:p>
        </p:txBody>
      </p:sp>
      <p:sp>
        <p:nvSpPr>
          <p:cNvPr id="10" name="Shape 7"/>
          <p:cNvSpPr/>
          <p:nvPr/>
        </p:nvSpPr>
        <p:spPr>
          <a:xfrm>
            <a:off x="365760" y="1280160"/>
            <a:ext cx="3474720" cy="0"/>
          </a:xfrm>
          <a:prstGeom prst="line">
            <a:avLst/>
          </a:prstGeom>
          <a:noFill/>
          <a:ln w="19050">
            <a:solidFill>
              <a:srgbClr val="FFC000"/>
            </a:solidFill>
            <a:prstDash val="solid"/>
          </a:ln>
        </p:spPr>
      </p:sp>
      <p:sp>
        <p:nvSpPr>
          <p:cNvPr id="11" name="Text 8"/>
          <p:cNvSpPr/>
          <p:nvPr/>
        </p:nvSpPr>
        <p:spPr>
          <a:xfrm>
            <a:off x="365760" y="1417320"/>
            <a:ext cx="502920" cy="256032"/>
          </a:xfrm>
          <a:prstGeom prst="rect">
            <a:avLst/>
          </a:prstGeom>
          <a:noFill/>
          <a:ln/>
        </p:spPr>
        <p:txBody>
          <a:bodyPr wrap="square" rtlCol="0" anchor="ctr"/>
          <a:lstStyle/>
          <a:p>
            <a:pPr indent="0" marL="0">
              <a:buNone/>
            </a:pPr>
            <a:r>
              <a:rPr lang="en-US" sz="1100" b="1" dirty="0">
                <a:solidFill>
                  <a:srgbClr val="FFC000"/>
                </a:solidFill>
                <a:latin typeface="Calibri" pitchFamily="34" charset="0"/>
                <a:ea typeface="Calibri" pitchFamily="34" charset="-122"/>
                <a:cs typeface="Calibri" pitchFamily="34" charset="-120"/>
              </a:rPr>
              <a:t>P32</a:t>
            </a:r>
            <a:endParaRPr lang="en-US" sz="1100" dirty="0"/>
          </a:p>
        </p:txBody>
      </p:sp>
      <p:sp>
        <p:nvSpPr>
          <p:cNvPr id="12" name="Text 9"/>
          <p:cNvSpPr/>
          <p:nvPr/>
        </p:nvSpPr>
        <p:spPr>
          <a:xfrm>
            <a:off x="914400" y="1417320"/>
            <a:ext cx="3063240" cy="256032"/>
          </a:xfrm>
          <a:prstGeom prst="rect">
            <a:avLst/>
          </a:prstGeom>
          <a:noFill/>
          <a:ln/>
        </p:spPr>
        <p:txBody>
          <a:bodyPr wrap="square" rtlCol="0" anchor="ctr"/>
          <a:lstStyle/>
          <a:p>
            <a:pPr indent="0" marL="0">
              <a:buNone/>
            </a:pPr>
            <a:r>
              <a:rPr lang="en-US" sz="1100" dirty="0">
                <a:solidFill>
                  <a:srgbClr val="1F3864"/>
                </a:solidFill>
                <a:latin typeface="Courier New" pitchFamily="34" charset="0"/>
                <a:ea typeface="Courier New" pitchFamily="34" charset="-122"/>
                <a:cs typeface="Courier New" pitchFamily="34" charset="-120"/>
              </a:rPr>
              <a:t>998244353 = 119·2²³+1</a:t>
            </a:r>
            <a:endParaRPr lang="en-US" sz="1100" dirty="0"/>
          </a:p>
        </p:txBody>
      </p:sp>
      <p:sp>
        <p:nvSpPr>
          <p:cNvPr id="13" name="Text 10"/>
          <p:cNvSpPr/>
          <p:nvPr/>
        </p:nvSpPr>
        <p:spPr>
          <a:xfrm>
            <a:off x="914400" y="1709928"/>
            <a:ext cx="3017520" cy="219456"/>
          </a:xfrm>
          <a:prstGeom prst="rect">
            <a:avLst/>
          </a:prstGeom>
          <a:noFill/>
          <a:ln/>
        </p:spPr>
        <p:txBody>
          <a:bodyPr wrap="square" rtlCol="0" anchor="ctr"/>
          <a:lstStyle/>
          <a:p>
            <a:pPr indent="0" marL="0">
              <a:buNone/>
            </a:pPr>
            <a:r>
              <a:rPr lang="en-US" sz="1000" dirty="0">
                <a:solidFill>
                  <a:srgbClr val="555555"/>
                </a:solidFill>
                <a:latin typeface="Calibri" pitchFamily="34" charset="0"/>
                <a:ea typeface="Calibri" pitchFamily="34" charset="-122"/>
                <a:cs typeface="Calibri" pitchFamily="34" charset="-120"/>
              </a:rPr>
              <a:t>30-bit  ·  Primary — NTT benchmark</a:t>
            </a:r>
            <a:endParaRPr lang="en-US" sz="1000" dirty="0"/>
          </a:p>
        </p:txBody>
      </p:sp>
      <p:sp>
        <p:nvSpPr>
          <p:cNvPr id="14" name="Shape 11"/>
          <p:cNvSpPr/>
          <p:nvPr/>
        </p:nvSpPr>
        <p:spPr>
          <a:xfrm>
            <a:off x="365760" y="2112264"/>
            <a:ext cx="3749040" cy="0"/>
          </a:xfrm>
          <a:prstGeom prst="line">
            <a:avLst/>
          </a:prstGeom>
          <a:noFill/>
          <a:ln w="6350">
            <a:solidFill>
              <a:srgbClr val="E0E8F0"/>
            </a:solidFill>
            <a:prstDash val="solid"/>
          </a:ln>
        </p:spPr>
      </p:sp>
      <p:sp>
        <p:nvSpPr>
          <p:cNvPr id="15" name="Text 12"/>
          <p:cNvSpPr/>
          <p:nvPr/>
        </p:nvSpPr>
        <p:spPr>
          <a:xfrm>
            <a:off x="365760" y="2221992"/>
            <a:ext cx="502920" cy="256032"/>
          </a:xfrm>
          <a:prstGeom prst="rect">
            <a:avLst/>
          </a:prstGeom>
          <a:noFill/>
          <a:ln/>
        </p:spPr>
        <p:txBody>
          <a:bodyPr wrap="square" rtlCol="0" anchor="ctr"/>
          <a:lstStyle/>
          <a:p>
            <a:pPr indent="0" marL="0">
              <a:buNone/>
            </a:pPr>
            <a:r>
              <a:rPr lang="en-US" sz="1100" b="1" dirty="0">
                <a:solidFill>
                  <a:srgbClr val="FFC000"/>
                </a:solidFill>
                <a:latin typeface="Calibri" pitchFamily="34" charset="0"/>
                <a:ea typeface="Calibri" pitchFamily="34" charset="-122"/>
                <a:cs typeface="Calibri" pitchFamily="34" charset="-120"/>
              </a:rPr>
              <a:t>P64</a:t>
            </a:r>
            <a:endParaRPr lang="en-US" sz="1100" dirty="0"/>
          </a:p>
        </p:txBody>
      </p:sp>
      <p:sp>
        <p:nvSpPr>
          <p:cNvPr id="16" name="Text 13"/>
          <p:cNvSpPr/>
          <p:nvPr/>
        </p:nvSpPr>
        <p:spPr>
          <a:xfrm>
            <a:off x="914400" y="2221992"/>
            <a:ext cx="3063240" cy="256032"/>
          </a:xfrm>
          <a:prstGeom prst="rect">
            <a:avLst/>
          </a:prstGeom>
          <a:noFill/>
          <a:ln/>
        </p:spPr>
        <p:txBody>
          <a:bodyPr wrap="square" rtlCol="0" anchor="ctr"/>
          <a:lstStyle/>
          <a:p>
            <a:pPr indent="0" marL="0">
              <a:buNone/>
            </a:pPr>
            <a:r>
              <a:rPr lang="en-US" sz="1100" dirty="0">
                <a:solidFill>
                  <a:srgbClr val="1F3864"/>
                </a:solidFill>
                <a:latin typeface="Courier New" pitchFamily="34" charset="0"/>
                <a:ea typeface="Courier New" pitchFamily="34" charset="-122"/>
                <a:cs typeface="Courier New" pitchFamily="34" charset="-120"/>
              </a:rPr>
              <a:t>2⁶⁴ − 2³² + 1 (Goldilocks)</a:t>
            </a:r>
            <a:endParaRPr lang="en-US" sz="1100" dirty="0"/>
          </a:p>
        </p:txBody>
      </p:sp>
      <p:sp>
        <p:nvSpPr>
          <p:cNvPr id="17" name="Text 14"/>
          <p:cNvSpPr/>
          <p:nvPr/>
        </p:nvSpPr>
        <p:spPr>
          <a:xfrm>
            <a:off x="914400" y="2514600"/>
            <a:ext cx="3017520" cy="219456"/>
          </a:xfrm>
          <a:prstGeom prst="rect">
            <a:avLst/>
          </a:prstGeom>
          <a:noFill/>
          <a:ln/>
        </p:spPr>
        <p:txBody>
          <a:bodyPr wrap="square" rtlCol="0" anchor="ctr"/>
          <a:lstStyle/>
          <a:p>
            <a:pPr indent="0" marL="0">
              <a:buNone/>
            </a:pPr>
            <a:r>
              <a:rPr lang="en-US" sz="1000" dirty="0">
                <a:solidFill>
                  <a:srgbClr val="555555"/>
                </a:solidFill>
                <a:latin typeface="Calibri" pitchFamily="34" charset="0"/>
                <a:ea typeface="Calibri" pitchFamily="34" charset="-122"/>
                <a:cs typeface="Calibri" pitchFamily="34" charset="-120"/>
              </a:rPr>
              <a:t>64-bit  ·  Bonus — batch modexp / ZK</a:t>
            </a:r>
            <a:endParaRPr lang="en-US" sz="1000" dirty="0"/>
          </a:p>
        </p:txBody>
      </p:sp>
      <p:sp>
        <p:nvSpPr>
          <p:cNvPr id="18" name="Text 15"/>
          <p:cNvSpPr/>
          <p:nvPr/>
        </p:nvSpPr>
        <p:spPr>
          <a:xfrm>
            <a:off x="365760" y="3108960"/>
            <a:ext cx="3749040" cy="822960"/>
          </a:xfrm>
          <a:prstGeom prst="rect">
            <a:avLst/>
          </a:prstGeom>
          <a:noFill/>
          <a:ln/>
        </p:spPr>
        <p:txBody>
          <a:bodyPr wrap="square" rtlCol="0" anchor="ctr"/>
          <a:lstStyle/>
          <a:p>
            <a:pPr indent="0" marL="0">
              <a:buNone/>
            </a:pPr>
            <a:r>
              <a:rPr lang="en-US" sz="1050" dirty="0">
                <a:solidFill>
                  <a:srgbClr val="1A1A1A"/>
                </a:solidFill>
                <a:latin typeface="Calibri" pitchFamily="34" charset="0"/>
                <a:ea typeface="Calibri" pitchFamily="34" charset="-122"/>
                <a:cs typeface="Calibri" pitchFamily="34" charset="-120"/>
              </a:rPr>
              <a:t>Key design: same modarith.cuh header marked __host__ __device__ compiles for both CPU (local testing, no GPU needed) and GPU (T4). Validated 2M+ random test cases locally before any GPU kernel ran.</a:t>
            </a:r>
            <a:endParaRPr lang="en-US" sz="1050" dirty="0"/>
          </a:p>
        </p:txBody>
      </p:sp>
      <p:sp>
        <p:nvSpPr>
          <p:cNvPr id="19" name="Text 16"/>
          <p:cNvSpPr/>
          <p:nvPr/>
        </p:nvSpPr>
        <p:spPr>
          <a:xfrm>
            <a:off x="4663440" y="987552"/>
            <a:ext cx="4160520" cy="274320"/>
          </a:xfrm>
          <a:prstGeom prst="rect">
            <a:avLst/>
          </a:prstGeom>
          <a:noFill/>
          <a:ln/>
        </p:spPr>
        <p:txBody>
          <a:bodyPr wrap="square" rtlCol="0" anchor="ctr"/>
          <a:lstStyle/>
          <a:p>
            <a:pPr indent="0" marL="0">
              <a:buNone/>
            </a:pPr>
            <a:r>
              <a:rPr lang="en-US" sz="1300" b="1" dirty="0">
                <a:solidFill>
                  <a:srgbClr val="1F3864"/>
                </a:solidFill>
                <a:latin typeface="Calibri" pitchFamily="34" charset="0"/>
                <a:ea typeface="Calibri" pitchFamily="34" charset="-122"/>
                <a:cs typeface="Calibri" pitchFamily="34" charset="-120"/>
              </a:rPr>
              <a:t>System stack</a:t>
            </a:r>
            <a:endParaRPr lang="en-US" sz="1300" dirty="0"/>
          </a:p>
        </p:txBody>
      </p:sp>
      <p:sp>
        <p:nvSpPr>
          <p:cNvPr id="20" name="Shape 17"/>
          <p:cNvSpPr/>
          <p:nvPr/>
        </p:nvSpPr>
        <p:spPr>
          <a:xfrm>
            <a:off x="4663440" y="1280160"/>
            <a:ext cx="3657600" cy="0"/>
          </a:xfrm>
          <a:prstGeom prst="line">
            <a:avLst/>
          </a:prstGeom>
          <a:noFill/>
          <a:ln w="19050">
            <a:solidFill>
              <a:srgbClr val="FFC000"/>
            </a:solidFill>
            <a:prstDash val="solid"/>
          </a:ln>
        </p:spPr>
      </p:sp>
      <p:sp>
        <p:nvSpPr>
          <p:cNvPr id="21" name="Shape 18"/>
          <p:cNvSpPr/>
          <p:nvPr/>
        </p:nvSpPr>
        <p:spPr>
          <a:xfrm>
            <a:off x="5029200" y="1417320"/>
            <a:ext cx="3383280" cy="475488"/>
          </a:xfrm>
          <a:prstGeom prst="bevel">
            <a:avLst/>
          </a:prstGeom>
          <a:solidFill>
            <a:srgbClr val="FFC000"/>
          </a:solidFill>
          <a:ln w="12700">
            <a:solidFill>
              <a:srgbClr val="2A3F55"/>
            </a:solidFill>
            <a:prstDash val="solid"/>
          </a:ln>
        </p:spPr>
      </p:sp>
      <p:sp>
        <p:nvSpPr>
          <p:cNvPr id="22" name="Text 19"/>
          <p:cNvSpPr/>
          <p:nvPr/>
        </p:nvSpPr>
        <p:spPr>
          <a:xfrm>
            <a:off x="5120640" y="1444752"/>
            <a:ext cx="3246120" cy="228600"/>
          </a:xfrm>
          <a:prstGeom prst="rect">
            <a:avLst/>
          </a:prstGeom>
          <a:noFill/>
          <a:ln/>
        </p:spPr>
        <p:txBody>
          <a:bodyPr wrap="square" rtlCol="0" anchor="ctr"/>
          <a:lstStyle/>
          <a:p>
            <a:pPr indent="0" marL="0">
              <a:buNone/>
            </a:pPr>
            <a:r>
              <a:rPr lang="en-US" sz="1100" b="1" dirty="0">
                <a:solidFill>
                  <a:srgbClr val="1F3864"/>
                </a:solidFill>
                <a:latin typeface="Calibri" pitchFamily="34" charset="0"/>
                <a:ea typeface="Calibri" pitchFamily="34" charset="-122"/>
                <a:cs typeface="Calibri" pitchFamily="34" charset="-120"/>
              </a:rPr>
              <a:t>oracle.py</a:t>
            </a:r>
            <a:endParaRPr lang="en-US" sz="1100" dirty="0"/>
          </a:p>
        </p:txBody>
      </p:sp>
      <p:sp>
        <p:nvSpPr>
          <p:cNvPr id="23" name="Text 20"/>
          <p:cNvSpPr/>
          <p:nvPr/>
        </p:nvSpPr>
        <p:spPr>
          <a:xfrm>
            <a:off x="5120640" y="1673352"/>
            <a:ext cx="3246120" cy="182880"/>
          </a:xfrm>
          <a:prstGeom prst="rect">
            <a:avLst/>
          </a:prstGeom>
          <a:noFill/>
          <a:ln/>
        </p:spPr>
        <p:txBody>
          <a:bodyPr wrap="square" rtlCol="0" anchor="ctr"/>
          <a:lstStyle/>
          <a:p>
            <a:pPr indent="0" marL="0">
              <a:buNone/>
            </a:pPr>
            <a:r>
              <a:rPr lang="en-US" sz="900" dirty="0">
                <a:solidFill>
                  <a:srgbClr val="1F3864"/>
                </a:solidFill>
                <a:latin typeface="Calibri" pitchFamily="34" charset="0"/>
                <a:ea typeface="Calibri" pitchFamily="34" charset="-122"/>
                <a:cs typeface="Calibri" pitchFamily="34" charset="-120"/>
              </a:rPr>
              <a:t>Python / sympy — ground truth</a:t>
            </a:r>
            <a:endParaRPr lang="en-US" sz="900" dirty="0"/>
          </a:p>
        </p:txBody>
      </p:sp>
      <p:sp>
        <p:nvSpPr>
          <p:cNvPr id="24" name="Shape 21"/>
          <p:cNvSpPr/>
          <p:nvPr/>
        </p:nvSpPr>
        <p:spPr>
          <a:xfrm>
            <a:off x="6675120" y="1892808"/>
            <a:ext cx="0" cy="118872"/>
          </a:xfrm>
          <a:prstGeom prst="line">
            <a:avLst/>
          </a:prstGeom>
          <a:noFill/>
          <a:ln w="12700">
            <a:solidFill>
              <a:srgbClr val="FFC000"/>
            </a:solidFill>
            <a:prstDash val="solid"/>
          </a:ln>
        </p:spPr>
      </p:sp>
      <p:sp>
        <p:nvSpPr>
          <p:cNvPr id="25" name="Shape 22"/>
          <p:cNvSpPr/>
          <p:nvPr/>
        </p:nvSpPr>
        <p:spPr>
          <a:xfrm>
            <a:off x="4754880" y="2011680"/>
            <a:ext cx="3840480" cy="475488"/>
          </a:xfrm>
          <a:prstGeom prst="bevel">
            <a:avLst/>
          </a:prstGeom>
          <a:solidFill>
            <a:srgbClr val="1F3864"/>
          </a:solidFill>
          <a:ln w="12700">
            <a:solidFill>
              <a:srgbClr val="2A3F55"/>
            </a:solidFill>
            <a:prstDash val="solid"/>
          </a:ln>
        </p:spPr>
      </p:sp>
      <p:sp>
        <p:nvSpPr>
          <p:cNvPr id="26" name="Text 23"/>
          <p:cNvSpPr/>
          <p:nvPr/>
        </p:nvSpPr>
        <p:spPr>
          <a:xfrm>
            <a:off x="4846320" y="2039112"/>
            <a:ext cx="3703320" cy="228600"/>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host_test.cpp</a:t>
            </a:r>
            <a:endParaRPr lang="en-US" sz="1100" dirty="0"/>
          </a:p>
        </p:txBody>
      </p:sp>
      <p:sp>
        <p:nvSpPr>
          <p:cNvPr id="27" name="Text 24"/>
          <p:cNvSpPr/>
          <p:nvPr/>
        </p:nvSpPr>
        <p:spPr>
          <a:xfrm>
            <a:off x="4846320" y="2267712"/>
            <a:ext cx="3703320" cy="182880"/>
          </a:xfrm>
          <a:prstGeom prst="rect">
            <a:avLst/>
          </a:prstGeom>
          <a:noFill/>
          <a:ln/>
        </p:spPr>
        <p:txBody>
          <a:bodyPr wrap="square" rtlCol="0" anchor="ctr"/>
          <a:lstStyle/>
          <a:p>
            <a:pPr indent="0" marL="0">
              <a:buNone/>
            </a:pPr>
            <a:r>
              <a:rPr lang="en-US" sz="900" dirty="0">
                <a:solidFill>
                  <a:srgbClr val="9AB8D0"/>
                </a:solidFill>
                <a:latin typeface="Calibri" pitchFamily="34" charset="0"/>
                <a:ea typeface="Calibri" pitchFamily="34" charset="-122"/>
                <a:cs typeface="Calibri" pitchFamily="34" charset="-120"/>
              </a:rPr>
              <a:t>CPU C++ — correctness, no GPU</a:t>
            </a:r>
            <a:endParaRPr lang="en-US" sz="900" dirty="0"/>
          </a:p>
        </p:txBody>
      </p:sp>
      <p:sp>
        <p:nvSpPr>
          <p:cNvPr id="28" name="Shape 25"/>
          <p:cNvSpPr/>
          <p:nvPr/>
        </p:nvSpPr>
        <p:spPr>
          <a:xfrm>
            <a:off x="6629400" y="2487168"/>
            <a:ext cx="0" cy="118872"/>
          </a:xfrm>
          <a:prstGeom prst="line">
            <a:avLst/>
          </a:prstGeom>
          <a:noFill/>
          <a:ln w="12700">
            <a:solidFill>
              <a:srgbClr val="FFC000"/>
            </a:solidFill>
            <a:prstDash val="solid"/>
          </a:ln>
        </p:spPr>
      </p:sp>
      <p:sp>
        <p:nvSpPr>
          <p:cNvPr id="29" name="Shape 26"/>
          <p:cNvSpPr/>
          <p:nvPr/>
        </p:nvSpPr>
        <p:spPr>
          <a:xfrm>
            <a:off x="4572000" y="2606040"/>
            <a:ext cx="4251960" cy="475488"/>
          </a:xfrm>
          <a:prstGeom prst="bevel">
            <a:avLst/>
          </a:prstGeom>
          <a:solidFill>
            <a:srgbClr val="2A4A8A"/>
          </a:solidFill>
          <a:ln w="12700">
            <a:solidFill>
              <a:srgbClr val="2A3F55"/>
            </a:solidFill>
            <a:prstDash val="solid"/>
          </a:ln>
        </p:spPr>
      </p:sp>
      <p:sp>
        <p:nvSpPr>
          <p:cNvPr id="30" name="Text 27"/>
          <p:cNvSpPr/>
          <p:nvPr/>
        </p:nvSpPr>
        <p:spPr>
          <a:xfrm>
            <a:off x="4663440" y="2633472"/>
            <a:ext cx="4114800" cy="228600"/>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modarith.cuh</a:t>
            </a:r>
            <a:endParaRPr lang="en-US" sz="1100" dirty="0"/>
          </a:p>
        </p:txBody>
      </p:sp>
      <p:sp>
        <p:nvSpPr>
          <p:cNvPr id="31" name="Text 28"/>
          <p:cNvSpPr/>
          <p:nvPr/>
        </p:nvSpPr>
        <p:spPr>
          <a:xfrm>
            <a:off x="4663440" y="2862072"/>
            <a:ext cx="4114800" cy="182880"/>
          </a:xfrm>
          <a:prstGeom prst="rect">
            <a:avLst/>
          </a:prstGeom>
          <a:noFill/>
          <a:ln/>
        </p:spPr>
        <p:txBody>
          <a:bodyPr wrap="square" rtlCol="0" anchor="ctr"/>
          <a:lstStyle/>
          <a:p>
            <a:pPr indent="0" marL="0">
              <a:buNone/>
            </a:pPr>
            <a:r>
              <a:rPr lang="en-US" sz="900" dirty="0">
                <a:solidFill>
                  <a:srgbClr val="9AB8D0"/>
                </a:solidFill>
                <a:latin typeface="Calibri" pitchFamily="34" charset="0"/>
                <a:ea typeface="Calibri" pitchFamily="34" charset="-122"/>
                <a:cs typeface="Calibri" pitchFamily="34" charset="-120"/>
              </a:rPr>
              <a:t>__host__ __device__  Barrett · modmul · modexp</a:t>
            </a:r>
            <a:endParaRPr lang="en-US" sz="900" dirty="0"/>
          </a:p>
        </p:txBody>
      </p:sp>
      <p:sp>
        <p:nvSpPr>
          <p:cNvPr id="32" name="Shape 29"/>
          <p:cNvSpPr/>
          <p:nvPr/>
        </p:nvSpPr>
        <p:spPr>
          <a:xfrm>
            <a:off x="6652260" y="3081528"/>
            <a:ext cx="0" cy="118872"/>
          </a:xfrm>
          <a:prstGeom prst="line">
            <a:avLst/>
          </a:prstGeom>
          <a:noFill/>
          <a:ln w="12700">
            <a:solidFill>
              <a:srgbClr val="FFC000"/>
            </a:solidFill>
            <a:prstDash val="solid"/>
          </a:ln>
        </p:spPr>
      </p:sp>
      <p:sp>
        <p:nvSpPr>
          <p:cNvPr id="33" name="Shape 30"/>
          <p:cNvSpPr/>
          <p:nvPr/>
        </p:nvSpPr>
        <p:spPr>
          <a:xfrm>
            <a:off x="4754880" y="3200400"/>
            <a:ext cx="3840480" cy="475488"/>
          </a:xfrm>
          <a:prstGeom prst="bevel">
            <a:avLst/>
          </a:prstGeom>
          <a:solidFill>
            <a:srgbClr val="1F3864"/>
          </a:solidFill>
          <a:ln w="12700">
            <a:solidFill>
              <a:srgbClr val="2A3F55"/>
            </a:solidFill>
            <a:prstDash val="solid"/>
          </a:ln>
        </p:spPr>
      </p:sp>
      <p:sp>
        <p:nvSpPr>
          <p:cNvPr id="34" name="Text 31"/>
          <p:cNvSpPr/>
          <p:nvPr/>
        </p:nvSpPr>
        <p:spPr>
          <a:xfrm>
            <a:off x="4846320" y="3227832"/>
            <a:ext cx="3703320" cy="228600"/>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ntt.cu / bench.cu</a:t>
            </a:r>
            <a:endParaRPr lang="en-US" sz="1100" dirty="0"/>
          </a:p>
        </p:txBody>
      </p:sp>
      <p:sp>
        <p:nvSpPr>
          <p:cNvPr id="35" name="Text 32"/>
          <p:cNvSpPr/>
          <p:nvPr/>
        </p:nvSpPr>
        <p:spPr>
          <a:xfrm>
            <a:off x="4846320" y="3456432"/>
            <a:ext cx="3703320" cy="182880"/>
          </a:xfrm>
          <a:prstGeom prst="rect">
            <a:avLst/>
          </a:prstGeom>
          <a:noFill/>
          <a:ln/>
        </p:spPr>
        <p:txBody>
          <a:bodyPr wrap="square" rtlCol="0" anchor="ctr"/>
          <a:lstStyle/>
          <a:p>
            <a:pPr indent="0" marL="0">
              <a:buNone/>
            </a:pPr>
            <a:r>
              <a:rPr lang="en-US" sz="900" dirty="0">
                <a:solidFill>
                  <a:srgbClr val="9AB8D0"/>
                </a:solidFill>
                <a:latin typeface="Calibri" pitchFamily="34" charset="0"/>
                <a:ea typeface="Calibri" pitchFamily="34" charset="-122"/>
                <a:cs typeface="Calibri" pitchFamily="34" charset="-120"/>
              </a:rPr>
              <a:t>CUDA kernels</a:t>
            </a:r>
            <a:endParaRPr lang="en-US" sz="900" dirty="0"/>
          </a:p>
        </p:txBody>
      </p:sp>
      <p:sp>
        <p:nvSpPr>
          <p:cNvPr id="36" name="Shape 33"/>
          <p:cNvSpPr/>
          <p:nvPr/>
        </p:nvSpPr>
        <p:spPr>
          <a:xfrm>
            <a:off x="6629400" y="3675888"/>
            <a:ext cx="0" cy="118872"/>
          </a:xfrm>
          <a:prstGeom prst="line">
            <a:avLst/>
          </a:prstGeom>
          <a:noFill/>
          <a:ln w="12700">
            <a:solidFill>
              <a:srgbClr val="FFC000"/>
            </a:solidFill>
            <a:prstDash val="solid"/>
          </a:ln>
        </p:spPr>
      </p:sp>
      <p:sp>
        <p:nvSpPr>
          <p:cNvPr id="37" name="Shape 34"/>
          <p:cNvSpPr/>
          <p:nvPr/>
        </p:nvSpPr>
        <p:spPr>
          <a:xfrm>
            <a:off x="5029200" y="3794760"/>
            <a:ext cx="3383280" cy="475488"/>
          </a:xfrm>
          <a:prstGeom prst="bevel">
            <a:avLst/>
          </a:prstGeom>
          <a:solidFill>
            <a:srgbClr val="0F1D3A"/>
          </a:solidFill>
          <a:ln w="12700">
            <a:solidFill>
              <a:srgbClr val="2A3F55"/>
            </a:solidFill>
            <a:prstDash val="solid"/>
          </a:ln>
        </p:spPr>
      </p:sp>
      <p:sp>
        <p:nvSpPr>
          <p:cNvPr id="38" name="Text 35"/>
          <p:cNvSpPr/>
          <p:nvPr/>
        </p:nvSpPr>
        <p:spPr>
          <a:xfrm>
            <a:off x="5120640" y="3822192"/>
            <a:ext cx="3246120" cy="228600"/>
          </a:xfrm>
          <a:prstGeom prst="rect">
            <a:avLst/>
          </a:prstGeom>
          <a:noFill/>
          <a:ln/>
        </p:spPr>
        <p:txBody>
          <a:bodyPr wrap="square" rtlCol="0" anchor="ctr"/>
          <a:lstStyle/>
          <a:p>
            <a:pPr indent="0" marL="0">
              <a:buNone/>
            </a:pPr>
            <a:r>
              <a:rPr lang="en-US" sz="1100" b="1" dirty="0">
                <a:solidFill>
                  <a:srgbClr val="FFC000"/>
                </a:solidFill>
                <a:latin typeface="Calibri" pitchFamily="34" charset="0"/>
                <a:ea typeface="Calibri" pitchFamily="34" charset="-122"/>
                <a:cs typeface="Calibri" pitchFamily="34" charset="-120"/>
              </a:rPr>
              <a:t>NVIDIA T4 (sm_75)</a:t>
            </a:r>
            <a:endParaRPr lang="en-US" sz="1100" dirty="0"/>
          </a:p>
        </p:txBody>
      </p:sp>
      <p:sp>
        <p:nvSpPr>
          <p:cNvPr id="39" name="Text 36"/>
          <p:cNvSpPr/>
          <p:nvPr/>
        </p:nvSpPr>
        <p:spPr>
          <a:xfrm>
            <a:off x="5120640" y="4050792"/>
            <a:ext cx="3246120" cy="182880"/>
          </a:xfrm>
          <a:prstGeom prst="rect">
            <a:avLst/>
          </a:prstGeom>
          <a:noFill/>
          <a:ln/>
        </p:spPr>
        <p:txBody>
          <a:bodyPr wrap="square" rtlCol="0" anchor="ctr"/>
          <a:lstStyle/>
          <a:p>
            <a:pPr indent="0" marL="0">
              <a:buNone/>
            </a:pPr>
            <a:r>
              <a:rPr lang="en-US" sz="900" dirty="0">
                <a:solidFill>
                  <a:srgbClr val="9AB8D0"/>
                </a:solidFill>
                <a:latin typeface="Calibri" pitchFamily="34" charset="0"/>
                <a:ea typeface="Calibri" pitchFamily="34" charset="-122"/>
                <a:cs typeface="Calibri" pitchFamily="34" charset="-120"/>
              </a:rPr>
              <a:t>2560 CUDA cores · Colab</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F3864"/>
          </a:solidFill>
          <a:ln w="12700">
            <a:solidFill>
              <a:srgbClr val="1F3864"/>
            </a:solidFill>
            <a:prstDash val="solid"/>
          </a:ln>
        </p:spPr>
      </p:sp>
      <p:sp>
        <p:nvSpPr>
          <p:cNvPr id="3" name="Shape 1"/>
          <p:cNvSpPr/>
          <p:nvPr/>
        </p:nvSpPr>
        <p:spPr>
          <a:xfrm>
            <a:off x="0" y="822960"/>
            <a:ext cx="9144000" cy="50292"/>
          </a:xfrm>
          <a:prstGeom prst="rect">
            <a:avLst/>
          </a:prstGeom>
          <a:solidFill>
            <a:srgbClr val="FFC000"/>
          </a:solidFill>
          <a:ln w="12700">
            <a:solidFill>
              <a:srgbClr val="FFC000"/>
            </a:solidFill>
            <a:prstDash val="solid"/>
          </a:ln>
        </p:spPr>
      </p:sp>
      <p:sp>
        <p:nvSpPr>
          <p:cNvPr id="4" name="Text 2"/>
          <p:cNvSpPr/>
          <p:nvPr/>
        </p:nvSpPr>
        <p:spPr>
          <a:xfrm>
            <a:off x="347472" y="0"/>
            <a:ext cx="7315200" cy="82296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Code — Barrett Core  (modarith.cuh)</a:t>
            </a:r>
            <a:endParaRPr lang="en-US" sz="2200" dirty="0"/>
          </a:p>
        </p:txBody>
      </p:sp>
      <p:pic>
        <p:nvPicPr>
          <p:cNvPr id="5" name="Image 0" descr="preencoded.png">    </p:cNvPr>
          <p:cNvPicPr>
            <a:picLocks noChangeAspect="1"/>
          </p:cNvPicPr>
          <p:nvPr/>
        </p:nvPicPr>
        <p:blipFill>
          <a:blip r:embed="rId1"/>
          <a:stretch>
            <a:fillRect/>
          </a:stretch>
        </p:blipFill>
        <p:spPr>
          <a:xfrm>
            <a:off x="7909560" y="73152"/>
            <a:ext cx="685800" cy="685800"/>
          </a:xfrm>
          <a:prstGeom prst="rect">
            <a:avLst/>
          </a:prstGeom>
        </p:spPr>
      </p:pic>
      <p:sp>
        <p:nvSpPr>
          <p:cNvPr id="6" name="Shape 3"/>
          <p:cNvSpPr/>
          <p:nvPr/>
        </p:nvSpPr>
        <p:spPr>
          <a:xfrm>
            <a:off x="0" y="4800600"/>
            <a:ext cx="9144000" cy="342900"/>
          </a:xfrm>
          <a:prstGeom prst="rect">
            <a:avLst/>
          </a:prstGeom>
          <a:solidFill>
            <a:srgbClr val="0F1D3A"/>
          </a:solidFill>
          <a:ln w="12700">
            <a:solidFill>
              <a:srgbClr val="0F1D3A"/>
            </a:solidFill>
            <a:prstDash val="solid"/>
          </a:ln>
        </p:spPr>
      </p:sp>
      <p:sp>
        <p:nvSpPr>
          <p:cNvPr id="7" name="Text 4"/>
          <p:cNvSpPr/>
          <p:nvPr/>
        </p:nvSpPr>
        <p:spPr>
          <a:xfrm>
            <a:off x="137160" y="4823460"/>
            <a:ext cx="4114800" cy="274320"/>
          </a:xfrm>
          <a:prstGeom prst="rect">
            <a:avLst/>
          </a:prstGeom>
          <a:noFill/>
          <a:ln/>
        </p:spPr>
        <p:txBody>
          <a:bodyPr wrap="square" rtlCol="0" anchor="ctr"/>
          <a:lstStyle/>
          <a:p>
            <a:pPr indent="0" marL="0">
              <a:buNone/>
            </a:pPr>
            <a:r>
              <a:rPr lang="en-US" sz="1000" dirty="0">
                <a:solidFill>
                  <a:srgbClr val="FFFFFF"/>
                </a:solidFill>
                <a:latin typeface="Calibri" pitchFamily="34" charset="0"/>
                <a:ea typeface="Calibri" pitchFamily="34" charset="-122"/>
                <a:cs typeface="Calibri" pitchFamily="34" charset="-120"/>
              </a:rPr>
              <a:t>ECE 268 – Spring 2026</a:t>
            </a:r>
            <a:endParaRPr lang="en-US" sz="1000" dirty="0"/>
          </a:p>
        </p:txBody>
      </p:sp>
      <p:sp>
        <p:nvSpPr>
          <p:cNvPr id="8" name="Text 5"/>
          <p:cNvSpPr/>
          <p:nvPr/>
        </p:nvSpPr>
        <p:spPr>
          <a:xfrm>
            <a:off x="4754880" y="4823460"/>
            <a:ext cx="4206240" cy="274320"/>
          </a:xfrm>
          <a:prstGeom prst="rect">
            <a:avLst/>
          </a:prstGeom>
          <a:noFill/>
          <a:ln/>
        </p:spPr>
        <p:txBody>
          <a:bodyPr wrap="square" rtlCol="0" anchor="ctr"/>
          <a:lstStyle/>
          <a:p>
            <a:pPr algn="r" indent="0" marL="0">
              <a:buNone/>
            </a:pPr>
            <a:r>
              <a:rPr lang="en-US" sz="1000" dirty="0">
                <a:solidFill>
                  <a:srgbClr val="FFFFFF"/>
                </a:solidFill>
                <a:latin typeface="Calibri" pitchFamily="34" charset="0"/>
                <a:ea typeface="Calibri" pitchFamily="34" charset="-122"/>
                <a:cs typeface="Calibri" pitchFamily="34" charset="-120"/>
              </a:rPr>
              <a:t>Security of Hardware Embedded Systems</a:t>
            </a:r>
            <a:endParaRPr lang="en-US" sz="1000" dirty="0"/>
          </a:p>
        </p:txBody>
      </p:sp>
      <p:sp>
        <p:nvSpPr>
          <p:cNvPr id="9" name="Text 6"/>
          <p:cNvSpPr/>
          <p:nvPr/>
        </p:nvSpPr>
        <p:spPr>
          <a:xfrm>
            <a:off x="320040" y="960120"/>
            <a:ext cx="4160520" cy="256032"/>
          </a:xfrm>
          <a:prstGeom prst="rect">
            <a:avLst/>
          </a:prstGeom>
          <a:noFill/>
          <a:ln/>
        </p:spPr>
        <p:txBody>
          <a:bodyPr wrap="square" rtlCol="0" anchor="ctr"/>
          <a:lstStyle/>
          <a:p>
            <a:pPr indent="0" marL="0">
              <a:buNone/>
            </a:pPr>
            <a:r>
              <a:rPr lang="en-US" sz="1100" b="1" dirty="0">
                <a:solidFill>
                  <a:srgbClr val="1F3864"/>
                </a:solidFill>
                <a:latin typeface="Calibri" pitchFamily="34" charset="0"/>
                <a:ea typeface="Calibri" pitchFamily="34" charset="-122"/>
                <a:cs typeface="Calibri" pitchFamily="34" charset="-120"/>
              </a:rPr>
              <a:t>barrett_reduce32  —  CPU/GPU shared path</a:t>
            </a:r>
            <a:endParaRPr lang="en-US" sz="1100" dirty="0"/>
          </a:p>
        </p:txBody>
      </p:sp>
      <p:sp>
        <p:nvSpPr>
          <p:cNvPr id="10" name="Shape 7"/>
          <p:cNvSpPr/>
          <p:nvPr/>
        </p:nvSpPr>
        <p:spPr>
          <a:xfrm>
            <a:off x="320040" y="1234440"/>
            <a:ext cx="4206240" cy="2395728"/>
          </a:xfrm>
          <a:prstGeom prst="rect">
            <a:avLst/>
          </a:prstGeom>
          <a:solidFill>
            <a:srgbClr val="0D1B2A"/>
          </a:solidFill>
          <a:ln w="12700">
            <a:solidFill>
              <a:srgbClr val="2A3F55"/>
            </a:solidFill>
            <a:prstDash val="solid"/>
          </a:ln>
        </p:spPr>
      </p:sp>
      <p:sp>
        <p:nvSpPr>
          <p:cNvPr id="11" name="Text 8"/>
          <p:cNvSpPr/>
          <p:nvPr/>
        </p:nvSpPr>
        <p:spPr>
          <a:xfrm>
            <a:off x="429768" y="1325880"/>
            <a:ext cx="4041648" cy="137160"/>
          </a:xfrm>
          <a:prstGeom prst="rect">
            <a:avLst/>
          </a:prstGeom>
          <a:noFill/>
          <a:ln/>
        </p:spPr>
        <p:txBody>
          <a:bodyPr wrap="square" rtlCol="0" anchor="ctr"/>
          <a:lstStyle/>
          <a:p>
            <a:pPr indent="0" marL="0">
              <a:buNone/>
            </a:pPr>
            <a:r>
              <a:rPr lang="en-US" sz="800" dirty="0">
                <a:solidFill>
                  <a:srgbClr val="6A9F6A"/>
                </a:solidFill>
                <a:latin typeface="Courier New" pitchFamily="34" charset="0"/>
                <a:ea typeface="Courier New" pitchFamily="34" charset="-122"/>
                <a:cs typeface="Courier New" pitchFamily="34" charset="-120"/>
              </a:rPr>
              <a:t>// mu = floor(2^62 / P32)  — precomputed once</a:t>
            </a:r>
            <a:endParaRPr lang="en-US" sz="800" dirty="0"/>
          </a:p>
        </p:txBody>
      </p:sp>
      <p:sp>
        <p:nvSpPr>
          <p:cNvPr id="12" name="Text 9"/>
          <p:cNvSpPr/>
          <p:nvPr/>
        </p:nvSpPr>
        <p:spPr>
          <a:xfrm>
            <a:off x="429768" y="1456639"/>
            <a:ext cx="4041648" cy="137160"/>
          </a:xfrm>
          <a:prstGeom prst="rect">
            <a:avLst/>
          </a:prstGeom>
          <a:noFill/>
          <a:ln/>
        </p:spPr>
        <p:txBody>
          <a:bodyPr wrap="square" rtlCol="0" anchor="ctr"/>
          <a:lstStyle/>
          <a:p>
            <a:pPr indent="0" marL="0">
              <a:buNone/>
            </a:pPr>
            <a:r>
              <a:rPr lang="en-US" sz="800" dirty="0">
                <a:solidFill>
                  <a:srgbClr val="569CD6"/>
                </a:solidFill>
                <a:latin typeface="Courier New" pitchFamily="34" charset="0"/>
                <a:ea typeface="Courier New" pitchFamily="34" charset="-122"/>
                <a:cs typeface="Courier New" pitchFamily="34" charset="-120"/>
              </a:rPr>
              <a:t>__host__ __device__</a:t>
            </a:r>
            <a:endParaRPr lang="en-US" sz="800" dirty="0"/>
          </a:p>
        </p:txBody>
      </p:sp>
      <p:sp>
        <p:nvSpPr>
          <p:cNvPr id="13" name="Text 10"/>
          <p:cNvSpPr/>
          <p:nvPr/>
        </p:nvSpPr>
        <p:spPr>
          <a:xfrm>
            <a:off x="429768" y="1587398"/>
            <a:ext cx="4041648" cy="137160"/>
          </a:xfrm>
          <a:prstGeom prst="rect">
            <a:avLst/>
          </a:prstGeom>
          <a:noFill/>
          <a:ln/>
        </p:spPr>
        <p:txBody>
          <a:bodyPr wrap="square" rtlCol="0" anchor="ctr"/>
          <a:lstStyle/>
          <a:p>
            <a:pPr indent="0" marL="0">
              <a:buNone/>
            </a:pPr>
            <a:r>
              <a:rPr lang="en-US" sz="800" dirty="0">
                <a:solidFill>
                  <a:srgbClr val="DCDCAA"/>
                </a:solidFill>
                <a:latin typeface="Courier New" pitchFamily="34" charset="0"/>
                <a:ea typeface="Courier New" pitchFamily="34" charset="-122"/>
                <a:cs typeface="Courier New" pitchFamily="34" charset="-120"/>
              </a:rPr>
              <a:t>static inline u64 barrett_reduce32(</a:t>
            </a:r>
            <a:endParaRPr lang="en-US" sz="800" dirty="0"/>
          </a:p>
        </p:txBody>
      </p:sp>
      <p:sp>
        <p:nvSpPr>
          <p:cNvPr id="14" name="Text 11"/>
          <p:cNvSpPr/>
          <p:nvPr/>
        </p:nvSpPr>
        <p:spPr>
          <a:xfrm>
            <a:off x="429768" y="1718158"/>
            <a:ext cx="4041648" cy="137160"/>
          </a:xfrm>
          <a:prstGeom prst="rect">
            <a:avLst/>
          </a:prstGeom>
          <a:noFill/>
          <a:ln/>
        </p:spPr>
        <p:txBody>
          <a:bodyPr wrap="square" rtlCol="0" anchor="ctr"/>
          <a:lstStyle/>
          <a:p>
            <a:pPr indent="0" marL="0">
              <a:buNone/>
            </a:pPr>
            <a:r>
              <a:rPr lang="en-US" sz="800" dirty="0">
                <a:solidFill>
                  <a:srgbClr val="DCDCAA"/>
                </a:solidFill>
                <a:latin typeface="Courier New" pitchFamily="34" charset="0"/>
                <a:ea typeface="Courier New" pitchFamily="34" charset="-122"/>
                <a:cs typeface="Courier New" pitchFamily="34" charset="-120"/>
              </a:rPr>
              <a:t>    u64 x, const Barrett32&amp; B) {</a:t>
            </a:r>
            <a:endParaRPr lang="en-US" sz="800" dirty="0"/>
          </a:p>
        </p:txBody>
      </p:sp>
      <p:sp>
        <p:nvSpPr>
          <p:cNvPr id="15" name="Text 12"/>
          <p:cNvSpPr/>
          <p:nvPr/>
        </p:nvSpPr>
        <p:spPr>
          <a:xfrm>
            <a:off x="429768" y="1979676"/>
            <a:ext cx="4041648" cy="137160"/>
          </a:xfrm>
          <a:prstGeom prst="rect">
            <a:avLst/>
          </a:prstGeom>
          <a:noFill/>
          <a:ln/>
        </p:spPr>
        <p:txBody>
          <a:bodyPr wrap="square" rtlCol="0" anchor="ctr"/>
          <a:lstStyle/>
          <a:p>
            <a:pPr indent="0" marL="0">
              <a:buNone/>
            </a:pPr>
            <a:r>
              <a:rPr lang="en-US" sz="800" dirty="0">
                <a:solidFill>
                  <a:srgbClr val="6A9F6A"/>
                </a:solidFill>
                <a:latin typeface="Courier New" pitchFamily="34" charset="0"/>
                <a:ea typeface="Courier New" pitchFamily="34" charset="-122"/>
                <a:cs typeface="Courier New" pitchFamily="34" charset="-120"/>
              </a:rPr>
              <a:t>  // estimate q = floor(x/p), off by ≤1</a:t>
            </a:r>
            <a:endParaRPr lang="en-US" sz="800" dirty="0"/>
          </a:p>
        </p:txBody>
      </p:sp>
      <p:sp>
        <p:nvSpPr>
          <p:cNvPr id="16" name="Text 13"/>
          <p:cNvSpPr/>
          <p:nvPr/>
        </p:nvSpPr>
        <p:spPr>
          <a:xfrm>
            <a:off x="429768" y="2110435"/>
            <a:ext cx="4041648" cy="137160"/>
          </a:xfrm>
          <a:prstGeom prst="rect">
            <a:avLst/>
          </a:prstGeom>
          <a:noFill/>
          <a:ln/>
        </p:spPr>
        <p:txBody>
          <a:bodyPr wrap="square" rtlCol="0" anchor="ctr"/>
          <a:lstStyle/>
          <a:p>
            <a:pPr indent="0" marL="0">
              <a:buNone/>
            </a:pPr>
            <a:r>
              <a:rPr lang="en-US" sz="800" dirty="0">
                <a:solidFill>
                  <a:srgbClr val="D4D4D4"/>
                </a:solidFill>
                <a:latin typeface="Courier New" pitchFamily="34" charset="0"/>
                <a:ea typeface="Courier New" pitchFamily="34" charset="-122"/>
                <a:cs typeface="Courier New" pitchFamily="34" charset="-120"/>
              </a:rPr>
              <a:t>  u64 q = ((__uint128_t)x * B.mu)</a:t>
            </a:r>
            <a:endParaRPr lang="en-US" sz="800" dirty="0"/>
          </a:p>
        </p:txBody>
      </p:sp>
      <p:sp>
        <p:nvSpPr>
          <p:cNvPr id="17" name="Text 14"/>
          <p:cNvSpPr/>
          <p:nvPr/>
        </p:nvSpPr>
        <p:spPr>
          <a:xfrm>
            <a:off x="429768" y="2241194"/>
            <a:ext cx="4041648" cy="137160"/>
          </a:xfrm>
          <a:prstGeom prst="rect">
            <a:avLst/>
          </a:prstGeom>
          <a:noFill/>
          <a:ln/>
        </p:spPr>
        <p:txBody>
          <a:bodyPr wrap="square" rtlCol="0" anchor="ctr"/>
          <a:lstStyle/>
          <a:p>
            <a:pPr indent="0" marL="0">
              <a:buNone/>
            </a:pPr>
            <a:r>
              <a:rPr lang="en-US" sz="800" dirty="0">
                <a:solidFill>
                  <a:srgbClr val="D4D4D4"/>
                </a:solidFill>
                <a:latin typeface="Courier New" pitchFamily="34" charset="0"/>
                <a:ea typeface="Courier New" pitchFamily="34" charset="-122"/>
                <a:cs typeface="Courier New" pitchFamily="34" charset="-120"/>
              </a:rPr>
              <a:t>              &gt;&gt; B.shift;</a:t>
            </a:r>
            <a:endParaRPr lang="en-US" sz="800" dirty="0"/>
          </a:p>
        </p:txBody>
      </p:sp>
      <p:sp>
        <p:nvSpPr>
          <p:cNvPr id="18" name="Text 15"/>
          <p:cNvSpPr/>
          <p:nvPr/>
        </p:nvSpPr>
        <p:spPr>
          <a:xfrm>
            <a:off x="429768" y="2502713"/>
            <a:ext cx="4041648" cy="137160"/>
          </a:xfrm>
          <a:prstGeom prst="rect">
            <a:avLst/>
          </a:prstGeom>
          <a:noFill/>
          <a:ln/>
        </p:spPr>
        <p:txBody>
          <a:bodyPr wrap="square" rtlCol="0" anchor="ctr"/>
          <a:lstStyle/>
          <a:p>
            <a:pPr indent="0" marL="0">
              <a:buNone/>
            </a:pPr>
            <a:r>
              <a:rPr lang="en-US" sz="800" dirty="0">
                <a:solidFill>
                  <a:srgbClr val="D4D4D4"/>
                </a:solidFill>
                <a:latin typeface="Courier New" pitchFamily="34" charset="0"/>
                <a:ea typeface="Courier New" pitchFamily="34" charset="-122"/>
                <a:cs typeface="Courier New" pitchFamily="34" charset="-120"/>
              </a:rPr>
              <a:t>  u64 r = x - q * B.p;   // r in [0,2p)</a:t>
            </a:r>
            <a:endParaRPr lang="en-US" sz="800" dirty="0"/>
          </a:p>
        </p:txBody>
      </p:sp>
      <p:sp>
        <p:nvSpPr>
          <p:cNvPr id="19" name="Text 16"/>
          <p:cNvSpPr/>
          <p:nvPr/>
        </p:nvSpPr>
        <p:spPr>
          <a:xfrm>
            <a:off x="429768" y="2764231"/>
            <a:ext cx="4041648" cy="137160"/>
          </a:xfrm>
          <a:prstGeom prst="rect">
            <a:avLst/>
          </a:prstGeom>
          <a:noFill/>
          <a:ln/>
        </p:spPr>
        <p:txBody>
          <a:bodyPr wrap="square" rtlCol="0" anchor="ctr"/>
          <a:lstStyle/>
          <a:p>
            <a:pPr indent="0" marL="0">
              <a:buNone/>
            </a:pPr>
            <a:r>
              <a:rPr lang="en-US" sz="800" dirty="0">
                <a:solidFill>
                  <a:srgbClr val="FFC000"/>
                </a:solidFill>
                <a:latin typeface="Courier New" pitchFamily="34" charset="0"/>
                <a:ea typeface="Courier New" pitchFamily="34" charset="-122"/>
                <a:cs typeface="Courier New" pitchFamily="34" charset="-120"/>
              </a:rPr>
              <a:t>  if (r &gt;= B.p) r -= B.p; // correction</a:t>
            </a:r>
            <a:endParaRPr lang="en-US" sz="800" dirty="0"/>
          </a:p>
        </p:txBody>
      </p:sp>
      <p:sp>
        <p:nvSpPr>
          <p:cNvPr id="20" name="Text 17"/>
          <p:cNvSpPr/>
          <p:nvPr/>
        </p:nvSpPr>
        <p:spPr>
          <a:xfrm>
            <a:off x="429768" y="2894990"/>
            <a:ext cx="4041648" cy="137160"/>
          </a:xfrm>
          <a:prstGeom prst="rect">
            <a:avLst/>
          </a:prstGeom>
          <a:noFill/>
          <a:ln/>
        </p:spPr>
        <p:txBody>
          <a:bodyPr wrap="square" rtlCol="0" anchor="ctr"/>
          <a:lstStyle/>
          <a:p>
            <a:pPr indent="0" marL="0">
              <a:buNone/>
            </a:pPr>
            <a:r>
              <a:rPr lang="en-US" sz="800" dirty="0">
                <a:solidFill>
                  <a:srgbClr val="D4D4D4"/>
                </a:solidFill>
                <a:latin typeface="Courier New" pitchFamily="34" charset="0"/>
                <a:ea typeface="Courier New" pitchFamily="34" charset="-122"/>
                <a:cs typeface="Courier New" pitchFamily="34" charset="-120"/>
              </a:rPr>
              <a:t>  return r;</a:t>
            </a:r>
            <a:endParaRPr lang="en-US" sz="800" dirty="0"/>
          </a:p>
        </p:txBody>
      </p:sp>
      <p:sp>
        <p:nvSpPr>
          <p:cNvPr id="21" name="Text 18"/>
          <p:cNvSpPr/>
          <p:nvPr/>
        </p:nvSpPr>
        <p:spPr>
          <a:xfrm>
            <a:off x="429768" y="3025750"/>
            <a:ext cx="4041648" cy="137160"/>
          </a:xfrm>
          <a:prstGeom prst="rect">
            <a:avLst/>
          </a:prstGeom>
          <a:noFill/>
          <a:ln/>
        </p:spPr>
        <p:txBody>
          <a:bodyPr wrap="square" rtlCol="0" anchor="ctr"/>
          <a:lstStyle/>
          <a:p>
            <a:pPr indent="0" marL="0">
              <a:buNone/>
            </a:pPr>
            <a:r>
              <a:rPr lang="en-US" sz="800" dirty="0">
                <a:solidFill>
                  <a:srgbClr val="DCDCAA"/>
                </a:solidFill>
                <a:latin typeface="Courier New" pitchFamily="34" charset="0"/>
                <a:ea typeface="Courier New" pitchFamily="34" charset="-122"/>
                <a:cs typeface="Courier New" pitchFamily="34" charset="-120"/>
              </a:rPr>
              <a:t>}</a:t>
            </a:r>
            <a:endParaRPr lang="en-US" sz="800" dirty="0"/>
          </a:p>
        </p:txBody>
      </p:sp>
      <p:sp>
        <p:nvSpPr>
          <p:cNvPr id="22" name="Text 19"/>
          <p:cNvSpPr/>
          <p:nvPr/>
        </p:nvSpPr>
        <p:spPr>
          <a:xfrm>
            <a:off x="320040" y="3675888"/>
            <a:ext cx="4206240" cy="228600"/>
          </a:xfrm>
          <a:prstGeom prst="rect">
            <a:avLst/>
          </a:prstGeom>
          <a:noFill/>
          <a:ln/>
        </p:spPr>
        <p:txBody>
          <a:bodyPr wrap="square" rtlCol="0" anchor="ctr"/>
          <a:lstStyle/>
          <a:p>
            <a:pPr indent="0" marL="0">
              <a:buNone/>
            </a:pPr>
            <a:r>
              <a:rPr lang="en-US" sz="1000" i="1" dirty="0">
                <a:solidFill>
                  <a:srgbClr val="555555"/>
                </a:solidFill>
                <a:latin typeface="Calibri" pitchFamily="34" charset="0"/>
                <a:ea typeface="Calibri" pitchFamily="34" charset="-122"/>
                <a:cs typeface="Calibri" pitchFamily="34" charset="-120"/>
              </a:rPr>
              <a:t>3 ops total: mul-high · mul-sub · 1 conditional sub</a:t>
            </a:r>
            <a:endParaRPr lang="en-US" sz="1000" dirty="0"/>
          </a:p>
        </p:txBody>
      </p:sp>
      <p:sp>
        <p:nvSpPr>
          <p:cNvPr id="23" name="Text 20"/>
          <p:cNvSpPr/>
          <p:nvPr/>
        </p:nvSpPr>
        <p:spPr>
          <a:xfrm>
            <a:off x="4754880" y="960120"/>
            <a:ext cx="4069080" cy="256032"/>
          </a:xfrm>
          <a:prstGeom prst="rect">
            <a:avLst/>
          </a:prstGeom>
          <a:noFill/>
          <a:ln/>
        </p:spPr>
        <p:txBody>
          <a:bodyPr wrap="square" rtlCol="0" anchor="ctr"/>
          <a:lstStyle/>
          <a:p>
            <a:pPr indent="0" marL="0">
              <a:buNone/>
            </a:pPr>
            <a:r>
              <a:rPr lang="en-US" sz="1100" b="1" dirty="0">
                <a:solidFill>
                  <a:srgbClr val="1F3864"/>
                </a:solidFill>
                <a:latin typeface="Calibri" pitchFamily="34" charset="0"/>
                <a:ea typeface="Calibri" pitchFamily="34" charset="-122"/>
                <a:cs typeface="Calibri" pitchFamily="34" charset="-120"/>
              </a:rPr>
              <a:t>modmul_device  —  GPU-optimized path</a:t>
            </a:r>
            <a:endParaRPr lang="en-US" sz="1100" dirty="0"/>
          </a:p>
        </p:txBody>
      </p:sp>
      <p:sp>
        <p:nvSpPr>
          <p:cNvPr id="24" name="Shape 21"/>
          <p:cNvSpPr/>
          <p:nvPr/>
        </p:nvSpPr>
        <p:spPr>
          <a:xfrm>
            <a:off x="4754880" y="1234440"/>
            <a:ext cx="4069080" cy="2395728"/>
          </a:xfrm>
          <a:prstGeom prst="rect">
            <a:avLst/>
          </a:prstGeom>
          <a:solidFill>
            <a:srgbClr val="0D1B2A"/>
          </a:solidFill>
          <a:ln w="12700">
            <a:solidFill>
              <a:srgbClr val="2A3F55"/>
            </a:solidFill>
            <a:prstDash val="solid"/>
          </a:ln>
        </p:spPr>
      </p:sp>
      <p:sp>
        <p:nvSpPr>
          <p:cNvPr id="25" name="Text 22"/>
          <p:cNvSpPr/>
          <p:nvPr/>
        </p:nvSpPr>
        <p:spPr>
          <a:xfrm>
            <a:off x="4864608" y="1325880"/>
            <a:ext cx="3904488" cy="137160"/>
          </a:xfrm>
          <a:prstGeom prst="rect">
            <a:avLst/>
          </a:prstGeom>
          <a:noFill/>
          <a:ln/>
        </p:spPr>
        <p:txBody>
          <a:bodyPr wrap="square" rtlCol="0" anchor="ctr"/>
          <a:lstStyle/>
          <a:p>
            <a:pPr indent="0" marL="0">
              <a:buNone/>
            </a:pPr>
            <a:r>
              <a:rPr lang="en-US" sz="800" dirty="0">
                <a:solidFill>
                  <a:srgbClr val="6A9F6A"/>
                </a:solidFill>
                <a:latin typeface="Courier New" pitchFamily="34" charset="0"/>
                <a:ea typeface="Courier New" pitchFamily="34" charset="-122"/>
                <a:cs typeface="Courier New" pitchFamily="34" charset="-120"/>
              </a:rPr>
              <a:t>// CPU: standard path</a:t>
            </a:r>
            <a:endParaRPr lang="en-US" sz="800" dirty="0"/>
          </a:p>
        </p:txBody>
      </p:sp>
      <p:sp>
        <p:nvSpPr>
          <p:cNvPr id="26" name="Text 23"/>
          <p:cNvSpPr/>
          <p:nvPr/>
        </p:nvSpPr>
        <p:spPr>
          <a:xfrm>
            <a:off x="4864608" y="1456639"/>
            <a:ext cx="3904488" cy="137160"/>
          </a:xfrm>
          <a:prstGeom prst="rect">
            <a:avLst/>
          </a:prstGeom>
          <a:noFill/>
          <a:ln/>
        </p:spPr>
        <p:txBody>
          <a:bodyPr wrap="square" rtlCol="0" anchor="ctr"/>
          <a:lstStyle/>
          <a:p>
            <a:pPr indent="0" marL="0">
              <a:buNone/>
            </a:pPr>
            <a:r>
              <a:rPr lang="en-US" sz="800" dirty="0">
                <a:solidFill>
                  <a:srgbClr val="569CD6"/>
                </a:solidFill>
                <a:latin typeface="Courier New" pitchFamily="34" charset="0"/>
                <a:ea typeface="Courier New" pitchFamily="34" charset="-122"/>
                <a:cs typeface="Courier New" pitchFamily="34" charset="-120"/>
              </a:rPr>
              <a:t>__host__ __device__</a:t>
            </a:r>
            <a:endParaRPr lang="en-US" sz="800" dirty="0"/>
          </a:p>
        </p:txBody>
      </p:sp>
      <p:sp>
        <p:nvSpPr>
          <p:cNvPr id="27" name="Text 24"/>
          <p:cNvSpPr/>
          <p:nvPr/>
        </p:nvSpPr>
        <p:spPr>
          <a:xfrm>
            <a:off x="4864608" y="1587398"/>
            <a:ext cx="3904488" cy="137160"/>
          </a:xfrm>
          <a:prstGeom prst="rect">
            <a:avLst/>
          </a:prstGeom>
          <a:noFill/>
          <a:ln/>
        </p:spPr>
        <p:txBody>
          <a:bodyPr wrap="square" rtlCol="0" anchor="ctr"/>
          <a:lstStyle/>
          <a:p>
            <a:pPr indent="0" marL="0">
              <a:buNone/>
            </a:pPr>
            <a:r>
              <a:rPr lang="en-US" sz="800" dirty="0">
                <a:solidFill>
                  <a:srgbClr val="DCDCAA"/>
                </a:solidFill>
                <a:latin typeface="Courier New" pitchFamily="34" charset="0"/>
                <a:ea typeface="Courier New" pitchFamily="34" charset="-122"/>
                <a:cs typeface="Courier New" pitchFamily="34" charset="-120"/>
              </a:rPr>
              <a:t>static inline u64 modmul(</a:t>
            </a:r>
            <a:endParaRPr lang="en-US" sz="800" dirty="0"/>
          </a:p>
        </p:txBody>
      </p:sp>
      <p:sp>
        <p:nvSpPr>
          <p:cNvPr id="28" name="Text 25"/>
          <p:cNvSpPr/>
          <p:nvPr/>
        </p:nvSpPr>
        <p:spPr>
          <a:xfrm>
            <a:off x="4864608" y="1718158"/>
            <a:ext cx="3904488" cy="137160"/>
          </a:xfrm>
          <a:prstGeom prst="rect">
            <a:avLst/>
          </a:prstGeom>
          <a:noFill/>
          <a:ln/>
        </p:spPr>
        <p:txBody>
          <a:bodyPr wrap="square" rtlCol="0" anchor="ctr"/>
          <a:lstStyle/>
          <a:p>
            <a:pPr indent="0" marL="0">
              <a:buNone/>
            </a:pPr>
            <a:r>
              <a:rPr lang="en-US" sz="800" dirty="0">
                <a:solidFill>
                  <a:srgbClr val="DCDCAA"/>
                </a:solidFill>
                <a:latin typeface="Courier New" pitchFamily="34" charset="0"/>
                <a:ea typeface="Courier New" pitchFamily="34" charset="-122"/>
                <a:cs typeface="Courier New" pitchFamily="34" charset="-120"/>
              </a:rPr>
              <a:t>    u64 a, u64 b, const Barrett32&amp; B){</a:t>
            </a:r>
            <a:endParaRPr lang="en-US" sz="800" dirty="0"/>
          </a:p>
        </p:txBody>
      </p:sp>
      <p:sp>
        <p:nvSpPr>
          <p:cNvPr id="29" name="Text 26"/>
          <p:cNvSpPr/>
          <p:nvPr/>
        </p:nvSpPr>
        <p:spPr>
          <a:xfrm>
            <a:off x="4864608" y="1848917"/>
            <a:ext cx="3904488" cy="137160"/>
          </a:xfrm>
          <a:prstGeom prst="rect">
            <a:avLst/>
          </a:prstGeom>
          <a:noFill/>
          <a:ln/>
        </p:spPr>
        <p:txBody>
          <a:bodyPr wrap="square" rtlCol="0" anchor="ctr"/>
          <a:lstStyle/>
          <a:p>
            <a:pPr indent="0" marL="0">
              <a:buNone/>
            </a:pPr>
            <a:r>
              <a:rPr lang="en-US" sz="800" dirty="0">
                <a:solidFill>
                  <a:srgbClr val="D4D4D4"/>
                </a:solidFill>
                <a:latin typeface="Courier New" pitchFamily="34" charset="0"/>
                <a:ea typeface="Courier New" pitchFamily="34" charset="-122"/>
                <a:cs typeface="Courier New" pitchFamily="34" charset="-120"/>
              </a:rPr>
              <a:t>  return barrett_reduce32(a*b, B);</a:t>
            </a:r>
            <a:endParaRPr lang="en-US" sz="800" dirty="0"/>
          </a:p>
        </p:txBody>
      </p:sp>
      <p:sp>
        <p:nvSpPr>
          <p:cNvPr id="30" name="Text 27"/>
          <p:cNvSpPr/>
          <p:nvPr/>
        </p:nvSpPr>
        <p:spPr>
          <a:xfrm>
            <a:off x="4864608" y="1979676"/>
            <a:ext cx="3904488" cy="137160"/>
          </a:xfrm>
          <a:prstGeom prst="rect">
            <a:avLst/>
          </a:prstGeom>
          <a:noFill/>
          <a:ln/>
        </p:spPr>
        <p:txBody>
          <a:bodyPr wrap="square" rtlCol="0" anchor="ctr"/>
          <a:lstStyle/>
          <a:p>
            <a:pPr indent="0" marL="0">
              <a:buNone/>
            </a:pPr>
            <a:r>
              <a:rPr lang="en-US" sz="800" dirty="0">
                <a:solidFill>
                  <a:srgbClr val="DCDCAA"/>
                </a:solidFill>
                <a:latin typeface="Courier New" pitchFamily="34" charset="0"/>
                <a:ea typeface="Courier New" pitchFamily="34" charset="-122"/>
                <a:cs typeface="Courier New" pitchFamily="34" charset="-120"/>
              </a:rPr>
              <a:t>}</a:t>
            </a:r>
            <a:endParaRPr lang="en-US" sz="800" dirty="0"/>
          </a:p>
        </p:txBody>
      </p:sp>
      <p:sp>
        <p:nvSpPr>
          <p:cNvPr id="31" name="Text 28"/>
          <p:cNvSpPr/>
          <p:nvPr/>
        </p:nvSpPr>
        <p:spPr>
          <a:xfrm>
            <a:off x="4864608" y="2241194"/>
            <a:ext cx="3904488" cy="137160"/>
          </a:xfrm>
          <a:prstGeom prst="rect">
            <a:avLst/>
          </a:prstGeom>
          <a:noFill/>
          <a:ln/>
        </p:spPr>
        <p:txBody>
          <a:bodyPr wrap="square" rtlCol="0" anchor="ctr"/>
          <a:lstStyle/>
          <a:p>
            <a:pPr indent="0" marL="0">
              <a:buNone/>
            </a:pPr>
            <a:r>
              <a:rPr lang="en-US" sz="800" dirty="0">
                <a:solidFill>
                  <a:srgbClr val="6A9F6A"/>
                </a:solidFill>
                <a:latin typeface="Courier New" pitchFamily="34" charset="0"/>
                <a:ea typeface="Courier New" pitchFamily="34" charset="-122"/>
                <a:cs typeface="Courier New" pitchFamily="34" charset="-120"/>
              </a:rPr>
              <a:t>// GPU: __umul64hi = 1 asm instruction</a:t>
            </a:r>
            <a:endParaRPr lang="en-US" sz="800" dirty="0"/>
          </a:p>
        </p:txBody>
      </p:sp>
      <p:sp>
        <p:nvSpPr>
          <p:cNvPr id="32" name="Text 29"/>
          <p:cNvSpPr/>
          <p:nvPr/>
        </p:nvSpPr>
        <p:spPr>
          <a:xfrm>
            <a:off x="4864608" y="2371954"/>
            <a:ext cx="3904488" cy="137160"/>
          </a:xfrm>
          <a:prstGeom prst="rect">
            <a:avLst/>
          </a:prstGeom>
          <a:noFill/>
          <a:ln/>
        </p:spPr>
        <p:txBody>
          <a:bodyPr wrap="square" rtlCol="0" anchor="ctr"/>
          <a:lstStyle/>
          <a:p>
            <a:pPr indent="0" marL="0">
              <a:buNone/>
            </a:pPr>
            <a:r>
              <a:rPr lang="en-US" sz="800" dirty="0">
                <a:solidFill>
                  <a:srgbClr val="569CD6"/>
                </a:solidFill>
                <a:latin typeface="Courier New" pitchFamily="34" charset="0"/>
                <a:ea typeface="Courier New" pitchFamily="34" charset="-122"/>
                <a:cs typeface="Courier New" pitchFamily="34" charset="-120"/>
              </a:rPr>
              <a:t>__device__</a:t>
            </a:r>
            <a:endParaRPr lang="en-US" sz="800" dirty="0"/>
          </a:p>
        </p:txBody>
      </p:sp>
      <p:sp>
        <p:nvSpPr>
          <p:cNvPr id="33" name="Text 30"/>
          <p:cNvSpPr/>
          <p:nvPr/>
        </p:nvSpPr>
        <p:spPr>
          <a:xfrm>
            <a:off x="4864608" y="2502713"/>
            <a:ext cx="3904488" cy="137160"/>
          </a:xfrm>
          <a:prstGeom prst="rect">
            <a:avLst/>
          </a:prstGeom>
          <a:noFill/>
          <a:ln/>
        </p:spPr>
        <p:txBody>
          <a:bodyPr wrap="square" rtlCol="0" anchor="ctr"/>
          <a:lstStyle/>
          <a:p>
            <a:pPr indent="0" marL="0">
              <a:buNone/>
            </a:pPr>
            <a:r>
              <a:rPr lang="en-US" sz="800" dirty="0">
                <a:solidFill>
                  <a:srgbClr val="DCDCAA"/>
                </a:solidFill>
                <a:latin typeface="Courier New" pitchFamily="34" charset="0"/>
                <a:ea typeface="Courier New" pitchFamily="34" charset="-122"/>
                <a:cs typeface="Courier New" pitchFamily="34" charset="-120"/>
              </a:rPr>
              <a:t>static inline u64 modmul_device(</a:t>
            </a:r>
            <a:endParaRPr lang="en-US" sz="800" dirty="0"/>
          </a:p>
        </p:txBody>
      </p:sp>
      <p:sp>
        <p:nvSpPr>
          <p:cNvPr id="34" name="Text 31"/>
          <p:cNvSpPr/>
          <p:nvPr/>
        </p:nvSpPr>
        <p:spPr>
          <a:xfrm>
            <a:off x="4864608" y="2633472"/>
            <a:ext cx="3904488" cy="137160"/>
          </a:xfrm>
          <a:prstGeom prst="rect">
            <a:avLst/>
          </a:prstGeom>
          <a:noFill/>
          <a:ln/>
        </p:spPr>
        <p:txBody>
          <a:bodyPr wrap="square" rtlCol="0" anchor="ctr"/>
          <a:lstStyle/>
          <a:p>
            <a:pPr indent="0" marL="0">
              <a:buNone/>
            </a:pPr>
            <a:r>
              <a:rPr lang="en-US" sz="800" dirty="0">
                <a:solidFill>
                  <a:srgbClr val="DCDCAA"/>
                </a:solidFill>
                <a:latin typeface="Courier New" pitchFamily="34" charset="0"/>
                <a:ea typeface="Courier New" pitchFamily="34" charset="-122"/>
                <a:cs typeface="Courier New" pitchFamily="34" charset="-120"/>
              </a:rPr>
              <a:t>    u64 a, u64 b, const Barrett64&amp; B){</a:t>
            </a:r>
            <a:endParaRPr lang="en-US" sz="800" dirty="0"/>
          </a:p>
        </p:txBody>
      </p:sp>
      <p:sp>
        <p:nvSpPr>
          <p:cNvPr id="35" name="Text 32"/>
          <p:cNvSpPr/>
          <p:nvPr/>
        </p:nvSpPr>
        <p:spPr>
          <a:xfrm>
            <a:off x="4864608" y="2764231"/>
            <a:ext cx="3904488" cy="137160"/>
          </a:xfrm>
          <a:prstGeom prst="rect">
            <a:avLst/>
          </a:prstGeom>
          <a:noFill/>
          <a:ln/>
        </p:spPr>
        <p:txBody>
          <a:bodyPr wrap="square" rtlCol="0" anchor="ctr"/>
          <a:lstStyle/>
          <a:p>
            <a:pPr indent="0" marL="0">
              <a:buNone/>
            </a:pPr>
            <a:r>
              <a:rPr lang="en-US" sz="800" dirty="0">
                <a:solidFill>
                  <a:srgbClr val="FFC000"/>
                </a:solidFill>
                <a:latin typeface="Courier New" pitchFamily="34" charset="0"/>
                <a:ea typeface="Courier New" pitchFamily="34" charset="-122"/>
                <a:cs typeface="Courier New" pitchFamily="34" charset="-120"/>
              </a:rPr>
              <a:t>  u64 hi = __umul64hi(a, b); // ← asm</a:t>
            </a:r>
            <a:endParaRPr lang="en-US" sz="800" dirty="0"/>
          </a:p>
        </p:txBody>
      </p:sp>
      <p:sp>
        <p:nvSpPr>
          <p:cNvPr id="36" name="Text 33"/>
          <p:cNvSpPr/>
          <p:nvPr/>
        </p:nvSpPr>
        <p:spPr>
          <a:xfrm>
            <a:off x="4864608" y="2894990"/>
            <a:ext cx="3904488" cy="137160"/>
          </a:xfrm>
          <a:prstGeom prst="rect">
            <a:avLst/>
          </a:prstGeom>
          <a:noFill/>
          <a:ln/>
        </p:spPr>
        <p:txBody>
          <a:bodyPr wrap="square" rtlCol="0" anchor="ctr"/>
          <a:lstStyle/>
          <a:p>
            <a:pPr indent="0" marL="0">
              <a:buNone/>
            </a:pPr>
            <a:r>
              <a:rPr lang="en-US" sz="800" dirty="0">
                <a:solidFill>
                  <a:srgbClr val="D4D4D4"/>
                </a:solidFill>
                <a:latin typeface="Courier New" pitchFamily="34" charset="0"/>
                <a:ea typeface="Courier New" pitchFamily="34" charset="-122"/>
                <a:cs typeface="Courier New" pitchFamily="34" charset="-120"/>
              </a:rPr>
              <a:t>  u64 lo = a * b;</a:t>
            </a:r>
            <a:endParaRPr lang="en-US" sz="800" dirty="0"/>
          </a:p>
        </p:txBody>
      </p:sp>
      <p:sp>
        <p:nvSpPr>
          <p:cNvPr id="37" name="Text 34"/>
          <p:cNvSpPr/>
          <p:nvPr/>
        </p:nvSpPr>
        <p:spPr>
          <a:xfrm>
            <a:off x="4864608" y="3025750"/>
            <a:ext cx="3904488" cy="137160"/>
          </a:xfrm>
          <a:prstGeom prst="rect">
            <a:avLst/>
          </a:prstGeom>
          <a:noFill/>
          <a:ln/>
        </p:spPr>
        <p:txBody>
          <a:bodyPr wrap="square" rtlCol="0" anchor="ctr"/>
          <a:lstStyle/>
          <a:p>
            <a:pPr indent="0" marL="0">
              <a:buNone/>
            </a:pPr>
            <a:r>
              <a:rPr lang="en-US" sz="800" dirty="0">
                <a:solidFill>
                  <a:srgbClr val="D4D4D4"/>
                </a:solidFill>
                <a:latin typeface="Courier New" pitchFamily="34" charset="0"/>
                <a:ea typeface="Courier New" pitchFamily="34" charset="-122"/>
                <a:cs typeface="Courier New" pitchFamily="34" charset="-120"/>
              </a:rPr>
              <a:t>  return barrett64_reduce(hi,lo,B);</a:t>
            </a:r>
            <a:endParaRPr lang="en-US" sz="800" dirty="0"/>
          </a:p>
        </p:txBody>
      </p:sp>
      <p:sp>
        <p:nvSpPr>
          <p:cNvPr id="38" name="Text 35"/>
          <p:cNvSpPr/>
          <p:nvPr/>
        </p:nvSpPr>
        <p:spPr>
          <a:xfrm>
            <a:off x="4864608" y="3156509"/>
            <a:ext cx="3904488" cy="137160"/>
          </a:xfrm>
          <a:prstGeom prst="rect">
            <a:avLst/>
          </a:prstGeom>
          <a:noFill/>
          <a:ln/>
        </p:spPr>
        <p:txBody>
          <a:bodyPr wrap="square" rtlCol="0" anchor="ctr"/>
          <a:lstStyle/>
          <a:p>
            <a:pPr indent="0" marL="0">
              <a:buNone/>
            </a:pPr>
            <a:r>
              <a:rPr lang="en-US" sz="800" dirty="0">
                <a:solidFill>
                  <a:srgbClr val="DCDCAA"/>
                </a:solidFill>
                <a:latin typeface="Courier New" pitchFamily="34" charset="0"/>
                <a:ea typeface="Courier New" pitchFamily="34" charset="-122"/>
                <a:cs typeface="Courier New" pitchFamily="34" charset="-120"/>
              </a:rPr>
              <a:t>}</a:t>
            </a:r>
            <a:endParaRPr lang="en-US" sz="800" dirty="0"/>
          </a:p>
        </p:txBody>
      </p:sp>
      <p:sp>
        <p:nvSpPr>
          <p:cNvPr id="39" name="Text 36"/>
          <p:cNvSpPr/>
          <p:nvPr/>
        </p:nvSpPr>
        <p:spPr>
          <a:xfrm>
            <a:off x="4754880" y="3675888"/>
            <a:ext cx="4069080" cy="228600"/>
          </a:xfrm>
          <a:prstGeom prst="rect">
            <a:avLst/>
          </a:prstGeom>
          <a:noFill/>
          <a:ln/>
        </p:spPr>
        <p:txBody>
          <a:bodyPr wrap="square" rtlCol="0" anchor="ctr"/>
          <a:lstStyle/>
          <a:p>
            <a:pPr indent="0" marL="0">
              <a:buNone/>
            </a:pPr>
            <a:r>
              <a:rPr lang="en-US" sz="1000" i="1" dirty="0">
                <a:solidFill>
                  <a:srgbClr val="555555"/>
                </a:solidFill>
                <a:latin typeface="Calibri" pitchFamily="34" charset="0"/>
                <a:ea typeface="Calibri" pitchFamily="34" charset="-122"/>
                <a:cs typeface="Calibri" pitchFamily="34" charset="-120"/>
              </a:rPr>
              <a:t>__umul64hi = single sm_75 instruction · warp uniform</a:t>
            </a:r>
            <a:endParaRPr lang="en-US" sz="1000" dirty="0"/>
          </a:p>
        </p:txBody>
      </p:sp>
      <p:sp>
        <p:nvSpPr>
          <p:cNvPr id="40" name="Shape 37"/>
          <p:cNvSpPr/>
          <p:nvPr/>
        </p:nvSpPr>
        <p:spPr>
          <a:xfrm>
            <a:off x="320040" y="3968496"/>
            <a:ext cx="8503920" cy="0"/>
          </a:xfrm>
          <a:prstGeom prst="line">
            <a:avLst/>
          </a:prstGeom>
          <a:noFill/>
          <a:ln w="9525">
            <a:solidFill>
              <a:srgbClr val="E0E8F0"/>
            </a:solidFill>
            <a:prstDash val="solid"/>
          </a:ln>
        </p:spPr>
      </p:sp>
      <p:sp>
        <p:nvSpPr>
          <p:cNvPr id="41" name="Text 38"/>
          <p:cNvSpPr/>
          <p:nvPr/>
        </p:nvSpPr>
        <p:spPr>
          <a:xfrm>
            <a:off x="320040" y="4023360"/>
            <a:ext cx="8503920" cy="512064"/>
          </a:xfrm>
          <a:prstGeom prst="rect">
            <a:avLst/>
          </a:prstGeom>
          <a:noFill/>
          <a:ln/>
        </p:spPr>
        <p:txBody>
          <a:bodyPr wrap="square" rtlCol="0" anchor="ctr"/>
          <a:lstStyle/>
          <a:p>
            <a:pPr indent="0" marL="0">
              <a:buNone/>
            </a:pPr>
            <a:r>
              <a:rPr lang="en-US" sz="1100" dirty="0">
                <a:solidFill>
                  <a:srgbClr val="1A1A1A"/>
                </a:solidFill>
                <a:latin typeface="Calibri" pitchFamily="34" charset="0"/>
                <a:ea typeface="Calibri" pitchFamily="34" charset="-122"/>
                <a:cs typeface="Calibri" pitchFamily="34" charset="-120"/>
              </a:rPr>
              <a:t>Same header, same logic — compiles for both CPU and GPU. 2M+ random cases validated locally before any GPU kernel ran.</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F3864"/>
          </a:solidFill>
          <a:ln w="12700">
            <a:solidFill>
              <a:srgbClr val="1F3864"/>
            </a:solidFill>
            <a:prstDash val="solid"/>
          </a:ln>
        </p:spPr>
      </p:sp>
      <p:sp>
        <p:nvSpPr>
          <p:cNvPr id="3" name="Shape 1"/>
          <p:cNvSpPr/>
          <p:nvPr/>
        </p:nvSpPr>
        <p:spPr>
          <a:xfrm>
            <a:off x="0" y="822960"/>
            <a:ext cx="9144000" cy="50292"/>
          </a:xfrm>
          <a:prstGeom prst="rect">
            <a:avLst/>
          </a:prstGeom>
          <a:solidFill>
            <a:srgbClr val="FFC000"/>
          </a:solidFill>
          <a:ln w="12700">
            <a:solidFill>
              <a:srgbClr val="FFC000"/>
            </a:solidFill>
            <a:prstDash val="solid"/>
          </a:ln>
        </p:spPr>
      </p:sp>
      <p:sp>
        <p:nvSpPr>
          <p:cNvPr id="4" name="Text 2"/>
          <p:cNvSpPr/>
          <p:nvPr/>
        </p:nvSpPr>
        <p:spPr>
          <a:xfrm>
            <a:off x="347472" y="0"/>
            <a:ext cx="7315200" cy="82296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Code — GPU NTT Kernel  (ntt.cu)</a:t>
            </a:r>
            <a:endParaRPr lang="en-US" sz="2200" dirty="0"/>
          </a:p>
        </p:txBody>
      </p:sp>
      <p:pic>
        <p:nvPicPr>
          <p:cNvPr id="5" name="Image 0" descr="preencoded.png">    </p:cNvPr>
          <p:cNvPicPr>
            <a:picLocks noChangeAspect="1"/>
          </p:cNvPicPr>
          <p:nvPr/>
        </p:nvPicPr>
        <p:blipFill>
          <a:blip r:embed="rId1"/>
          <a:stretch>
            <a:fillRect/>
          </a:stretch>
        </p:blipFill>
        <p:spPr>
          <a:xfrm>
            <a:off x="7909560" y="73152"/>
            <a:ext cx="685800" cy="685800"/>
          </a:xfrm>
          <a:prstGeom prst="rect">
            <a:avLst/>
          </a:prstGeom>
        </p:spPr>
      </p:pic>
      <p:sp>
        <p:nvSpPr>
          <p:cNvPr id="6" name="Shape 3"/>
          <p:cNvSpPr/>
          <p:nvPr/>
        </p:nvSpPr>
        <p:spPr>
          <a:xfrm>
            <a:off x="0" y="4800600"/>
            <a:ext cx="9144000" cy="342900"/>
          </a:xfrm>
          <a:prstGeom prst="rect">
            <a:avLst/>
          </a:prstGeom>
          <a:solidFill>
            <a:srgbClr val="0F1D3A"/>
          </a:solidFill>
          <a:ln w="12700">
            <a:solidFill>
              <a:srgbClr val="0F1D3A"/>
            </a:solidFill>
            <a:prstDash val="solid"/>
          </a:ln>
        </p:spPr>
      </p:sp>
      <p:sp>
        <p:nvSpPr>
          <p:cNvPr id="7" name="Text 4"/>
          <p:cNvSpPr/>
          <p:nvPr/>
        </p:nvSpPr>
        <p:spPr>
          <a:xfrm>
            <a:off x="137160" y="4823460"/>
            <a:ext cx="4114800" cy="274320"/>
          </a:xfrm>
          <a:prstGeom prst="rect">
            <a:avLst/>
          </a:prstGeom>
          <a:noFill/>
          <a:ln/>
        </p:spPr>
        <p:txBody>
          <a:bodyPr wrap="square" rtlCol="0" anchor="ctr"/>
          <a:lstStyle/>
          <a:p>
            <a:pPr indent="0" marL="0">
              <a:buNone/>
            </a:pPr>
            <a:r>
              <a:rPr lang="en-US" sz="1000" dirty="0">
                <a:solidFill>
                  <a:srgbClr val="FFFFFF"/>
                </a:solidFill>
                <a:latin typeface="Calibri" pitchFamily="34" charset="0"/>
                <a:ea typeface="Calibri" pitchFamily="34" charset="-122"/>
                <a:cs typeface="Calibri" pitchFamily="34" charset="-120"/>
              </a:rPr>
              <a:t>ECE 268 – Spring 2026</a:t>
            </a:r>
            <a:endParaRPr lang="en-US" sz="1000" dirty="0"/>
          </a:p>
        </p:txBody>
      </p:sp>
      <p:sp>
        <p:nvSpPr>
          <p:cNvPr id="8" name="Text 5"/>
          <p:cNvSpPr/>
          <p:nvPr/>
        </p:nvSpPr>
        <p:spPr>
          <a:xfrm>
            <a:off x="4754880" y="4823460"/>
            <a:ext cx="4206240" cy="274320"/>
          </a:xfrm>
          <a:prstGeom prst="rect">
            <a:avLst/>
          </a:prstGeom>
          <a:noFill/>
          <a:ln/>
        </p:spPr>
        <p:txBody>
          <a:bodyPr wrap="square" rtlCol="0" anchor="ctr"/>
          <a:lstStyle/>
          <a:p>
            <a:pPr algn="r" indent="0" marL="0">
              <a:buNone/>
            </a:pPr>
            <a:r>
              <a:rPr lang="en-US" sz="1000" dirty="0">
                <a:solidFill>
                  <a:srgbClr val="FFFFFF"/>
                </a:solidFill>
                <a:latin typeface="Calibri" pitchFamily="34" charset="0"/>
                <a:ea typeface="Calibri" pitchFamily="34" charset="-122"/>
                <a:cs typeface="Calibri" pitchFamily="34" charset="-120"/>
              </a:rPr>
              <a:t>Security of Hardware Embedded Systems</a:t>
            </a:r>
            <a:endParaRPr lang="en-US" sz="1000" dirty="0"/>
          </a:p>
        </p:txBody>
      </p:sp>
      <p:sp>
        <p:nvSpPr>
          <p:cNvPr id="9" name="Text 6"/>
          <p:cNvSpPr/>
          <p:nvPr/>
        </p:nvSpPr>
        <p:spPr>
          <a:xfrm>
            <a:off x="320040" y="960120"/>
            <a:ext cx="4572000" cy="256032"/>
          </a:xfrm>
          <a:prstGeom prst="rect">
            <a:avLst/>
          </a:prstGeom>
          <a:noFill/>
          <a:ln/>
        </p:spPr>
        <p:txBody>
          <a:bodyPr wrap="square" rtlCol="0" anchor="ctr"/>
          <a:lstStyle/>
          <a:p>
            <a:pPr indent="0" marL="0">
              <a:buNone/>
            </a:pPr>
            <a:r>
              <a:rPr lang="en-US" sz="1100" b="1" dirty="0">
                <a:solidFill>
                  <a:srgbClr val="1F3864"/>
                </a:solidFill>
                <a:latin typeface="Calibri" pitchFamily="34" charset="0"/>
                <a:ea typeface="Calibri" pitchFamily="34" charset="-122"/>
                <a:cs typeface="Calibri" pitchFamily="34" charset="-120"/>
              </a:rPr>
              <a:t>ntt_stage_kernel  —  one thread per butterfly pair</a:t>
            </a:r>
            <a:endParaRPr lang="en-US" sz="1100" dirty="0"/>
          </a:p>
        </p:txBody>
      </p:sp>
      <p:sp>
        <p:nvSpPr>
          <p:cNvPr id="10" name="Shape 7"/>
          <p:cNvSpPr/>
          <p:nvPr/>
        </p:nvSpPr>
        <p:spPr>
          <a:xfrm>
            <a:off x="320040" y="1234440"/>
            <a:ext cx="4572000" cy="3218688"/>
          </a:xfrm>
          <a:prstGeom prst="rect">
            <a:avLst/>
          </a:prstGeom>
          <a:solidFill>
            <a:srgbClr val="0D1B2A"/>
          </a:solidFill>
          <a:ln w="12700">
            <a:solidFill>
              <a:srgbClr val="2A3F55"/>
            </a:solidFill>
            <a:prstDash val="solid"/>
          </a:ln>
        </p:spPr>
      </p:sp>
      <p:sp>
        <p:nvSpPr>
          <p:cNvPr id="11" name="Text 8"/>
          <p:cNvSpPr/>
          <p:nvPr/>
        </p:nvSpPr>
        <p:spPr>
          <a:xfrm>
            <a:off x="429768" y="1325880"/>
            <a:ext cx="4407408" cy="137160"/>
          </a:xfrm>
          <a:prstGeom prst="rect">
            <a:avLst/>
          </a:prstGeom>
          <a:noFill/>
          <a:ln/>
        </p:spPr>
        <p:txBody>
          <a:bodyPr wrap="square" rtlCol="0" anchor="ctr"/>
          <a:lstStyle/>
          <a:p>
            <a:pPr indent="0" marL="0">
              <a:buNone/>
            </a:pPr>
            <a:r>
              <a:rPr lang="en-US" sz="800" dirty="0">
                <a:solidFill>
                  <a:srgbClr val="DCDCAA"/>
                </a:solidFill>
                <a:latin typeface="Courier New" pitchFamily="34" charset="0"/>
                <a:ea typeface="Courier New" pitchFamily="34" charset="-122"/>
                <a:cs typeface="Courier New" pitchFamily="34" charset="-120"/>
              </a:rPr>
              <a:t>__global__ void ntt_stage_kernel(</a:t>
            </a:r>
            <a:endParaRPr lang="en-US" sz="800" dirty="0"/>
          </a:p>
        </p:txBody>
      </p:sp>
      <p:sp>
        <p:nvSpPr>
          <p:cNvPr id="12" name="Text 9"/>
          <p:cNvSpPr/>
          <p:nvPr/>
        </p:nvSpPr>
        <p:spPr>
          <a:xfrm>
            <a:off x="429768" y="1456639"/>
            <a:ext cx="4407408" cy="137160"/>
          </a:xfrm>
          <a:prstGeom prst="rect">
            <a:avLst/>
          </a:prstGeom>
          <a:noFill/>
          <a:ln/>
        </p:spPr>
        <p:txBody>
          <a:bodyPr wrap="square" rtlCol="0" anchor="ctr"/>
          <a:lstStyle/>
          <a:p>
            <a:pPr indent="0" marL="0">
              <a:buNone/>
            </a:pPr>
            <a:r>
              <a:rPr lang="en-US" sz="800" dirty="0">
                <a:solidFill>
                  <a:srgbClr val="D4D4D4"/>
                </a:solidFill>
                <a:latin typeface="Courier New" pitchFamily="34" charset="0"/>
                <a:ea typeface="Courier New" pitchFamily="34" charset="-122"/>
                <a:cs typeface="Courier New" pitchFamily="34" charset="-120"/>
              </a:rPr>
              <a:t>    u64* A, int n, int half,</a:t>
            </a:r>
            <a:endParaRPr lang="en-US" sz="800" dirty="0"/>
          </a:p>
        </p:txBody>
      </p:sp>
      <p:sp>
        <p:nvSpPr>
          <p:cNvPr id="13" name="Text 10"/>
          <p:cNvSpPr/>
          <p:nvPr/>
        </p:nvSpPr>
        <p:spPr>
          <a:xfrm>
            <a:off x="429768" y="1587398"/>
            <a:ext cx="4407408" cy="137160"/>
          </a:xfrm>
          <a:prstGeom prst="rect">
            <a:avLst/>
          </a:prstGeom>
          <a:noFill/>
          <a:ln/>
        </p:spPr>
        <p:txBody>
          <a:bodyPr wrap="square" rtlCol="0" anchor="ctr"/>
          <a:lstStyle/>
          <a:p>
            <a:pPr indent="0" marL="0">
              <a:buNone/>
            </a:pPr>
            <a:r>
              <a:rPr lang="en-US" sz="800" dirty="0">
                <a:solidFill>
                  <a:srgbClr val="D4D4D4"/>
                </a:solidFill>
                <a:latin typeface="Courier New" pitchFamily="34" charset="0"/>
                <a:ea typeface="Courier New" pitchFamily="34" charset="-122"/>
                <a:cs typeface="Courier New" pitchFamily="34" charset="-120"/>
              </a:rPr>
              <a:t>    u64 w, const Barrett32 B) {</a:t>
            </a:r>
            <a:endParaRPr lang="en-US" sz="800" dirty="0"/>
          </a:p>
        </p:txBody>
      </p:sp>
      <p:sp>
        <p:nvSpPr>
          <p:cNvPr id="14" name="Text 11"/>
          <p:cNvSpPr/>
          <p:nvPr/>
        </p:nvSpPr>
        <p:spPr>
          <a:xfrm>
            <a:off x="429768" y="1848917"/>
            <a:ext cx="4407408" cy="137160"/>
          </a:xfrm>
          <a:prstGeom prst="rect">
            <a:avLst/>
          </a:prstGeom>
          <a:noFill/>
          <a:ln/>
        </p:spPr>
        <p:txBody>
          <a:bodyPr wrap="square" rtlCol="0" anchor="ctr"/>
          <a:lstStyle/>
          <a:p>
            <a:pPr indent="0" marL="0">
              <a:buNone/>
            </a:pPr>
            <a:r>
              <a:rPr lang="en-US" sz="800" dirty="0">
                <a:solidFill>
                  <a:srgbClr val="D4D4D4"/>
                </a:solidFill>
                <a:latin typeface="Courier New" pitchFamily="34" charset="0"/>
                <a:ea typeface="Courier New" pitchFamily="34" charset="-122"/>
                <a:cs typeface="Courier New" pitchFamily="34" charset="-120"/>
              </a:rPr>
              <a:t>  int tid = blockIdx.x*blockDim.x + threadIdx.x;</a:t>
            </a:r>
            <a:endParaRPr lang="en-US" sz="800" dirty="0"/>
          </a:p>
        </p:txBody>
      </p:sp>
      <p:sp>
        <p:nvSpPr>
          <p:cNvPr id="15" name="Text 12"/>
          <p:cNvSpPr/>
          <p:nvPr/>
        </p:nvSpPr>
        <p:spPr>
          <a:xfrm>
            <a:off x="429768" y="1979676"/>
            <a:ext cx="4407408" cy="137160"/>
          </a:xfrm>
          <a:prstGeom prst="rect">
            <a:avLst/>
          </a:prstGeom>
          <a:noFill/>
          <a:ln/>
        </p:spPr>
        <p:txBody>
          <a:bodyPr wrap="square" rtlCol="0" anchor="ctr"/>
          <a:lstStyle/>
          <a:p>
            <a:pPr indent="0" marL="0">
              <a:buNone/>
            </a:pPr>
            <a:r>
              <a:rPr lang="en-US" sz="800" dirty="0">
                <a:solidFill>
                  <a:srgbClr val="569CD6"/>
                </a:solidFill>
                <a:latin typeface="Courier New" pitchFamily="34" charset="0"/>
                <a:ea typeface="Courier New" pitchFamily="34" charset="-122"/>
                <a:cs typeface="Courier New" pitchFamily="34" charset="-120"/>
              </a:rPr>
              <a:t>  if (tid &gt;= n/2) return;</a:t>
            </a:r>
            <a:endParaRPr lang="en-US" sz="800" dirty="0"/>
          </a:p>
        </p:txBody>
      </p:sp>
      <p:sp>
        <p:nvSpPr>
          <p:cNvPr id="16" name="Text 13"/>
          <p:cNvSpPr/>
          <p:nvPr/>
        </p:nvSpPr>
        <p:spPr>
          <a:xfrm>
            <a:off x="429768" y="2241194"/>
            <a:ext cx="4407408" cy="137160"/>
          </a:xfrm>
          <a:prstGeom prst="rect">
            <a:avLst/>
          </a:prstGeom>
          <a:noFill/>
          <a:ln/>
        </p:spPr>
        <p:txBody>
          <a:bodyPr wrap="square" rtlCol="0" anchor="ctr"/>
          <a:lstStyle/>
          <a:p>
            <a:pPr indent="0" marL="0">
              <a:buNone/>
            </a:pPr>
            <a:r>
              <a:rPr lang="en-US" sz="800" dirty="0">
                <a:solidFill>
                  <a:srgbClr val="D4D4D4"/>
                </a:solidFill>
                <a:latin typeface="Courier New" pitchFamily="34" charset="0"/>
                <a:ea typeface="Courier New" pitchFamily="34" charset="-122"/>
                <a:cs typeface="Courier New" pitchFamily="34" charset="-120"/>
              </a:rPr>
              <a:t>  int j   = tid % half;</a:t>
            </a:r>
            <a:endParaRPr lang="en-US" sz="800" dirty="0"/>
          </a:p>
        </p:txBody>
      </p:sp>
      <p:sp>
        <p:nvSpPr>
          <p:cNvPr id="17" name="Text 14"/>
          <p:cNvSpPr/>
          <p:nvPr/>
        </p:nvSpPr>
        <p:spPr>
          <a:xfrm>
            <a:off x="429768" y="2371954"/>
            <a:ext cx="4407408" cy="137160"/>
          </a:xfrm>
          <a:prstGeom prst="rect">
            <a:avLst/>
          </a:prstGeom>
          <a:noFill/>
          <a:ln/>
        </p:spPr>
        <p:txBody>
          <a:bodyPr wrap="square" rtlCol="0" anchor="ctr"/>
          <a:lstStyle/>
          <a:p>
            <a:pPr indent="0" marL="0">
              <a:buNone/>
            </a:pPr>
            <a:r>
              <a:rPr lang="en-US" sz="800" dirty="0">
                <a:solidFill>
                  <a:srgbClr val="D4D4D4"/>
                </a:solidFill>
                <a:latin typeface="Courier New" pitchFamily="34" charset="0"/>
                <a:ea typeface="Courier New" pitchFamily="34" charset="-122"/>
                <a:cs typeface="Courier New" pitchFamily="34" charset="-120"/>
              </a:rPr>
              <a:t>  int u_i = (tid/half)*2*half + j;</a:t>
            </a:r>
            <a:endParaRPr lang="en-US" sz="800" dirty="0"/>
          </a:p>
        </p:txBody>
      </p:sp>
      <p:sp>
        <p:nvSpPr>
          <p:cNvPr id="18" name="Text 15"/>
          <p:cNvSpPr/>
          <p:nvPr/>
        </p:nvSpPr>
        <p:spPr>
          <a:xfrm>
            <a:off x="429768" y="2502713"/>
            <a:ext cx="4407408" cy="137160"/>
          </a:xfrm>
          <a:prstGeom prst="rect">
            <a:avLst/>
          </a:prstGeom>
          <a:noFill/>
          <a:ln/>
        </p:spPr>
        <p:txBody>
          <a:bodyPr wrap="square" rtlCol="0" anchor="ctr"/>
          <a:lstStyle/>
          <a:p>
            <a:pPr indent="0" marL="0">
              <a:buNone/>
            </a:pPr>
            <a:r>
              <a:rPr lang="en-US" sz="800" dirty="0">
                <a:solidFill>
                  <a:srgbClr val="D4D4D4"/>
                </a:solidFill>
                <a:latin typeface="Courier New" pitchFamily="34" charset="0"/>
                <a:ea typeface="Courier New" pitchFamily="34" charset="-122"/>
                <a:cs typeface="Courier New" pitchFamily="34" charset="-120"/>
              </a:rPr>
              <a:t>  int v_i = u_i + half;</a:t>
            </a:r>
            <a:endParaRPr lang="en-US" sz="800" dirty="0"/>
          </a:p>
        </p:txBody>
      </p:sp>
      <p:sp>
        <p:nvSpPr>
          <p:cNvPr id="19" name="Text 16"/>
          <p:cNvSpPr/>
          <p:nvPr/>
        </p:nvSpPr>
        <p:spPr>
          <a:xfrm>
            <a:off x="429768" y="2764231"/>
            <a:ext cx="4407408" cy="137160"/>
          </a:xfrm>
          <a:prstGeom prst="rect">
            <a:avLst/>
          </a:prstGeom>
          <a:noFill/>
          <a:ln/>
        </p:spPr>
        <p:txBody>
          <a:bodyPr wrap="square" rtlCol="0" anchor="ctr"/>
          <a:lstStyle/>
          <a:p>
            <a:pPr indent="0" marL="0">
              <a:buNone/>
            </a:pPr>
            <a:r>
              <a:rPr lang="en-US" sz="800" dirty="0">
                <a:solidFill>
                  <a:srgbClr val="6A9F6A"/>
                </a:solidFill>
                <a:latin typeface="Courier New" pitchFamily="34" charset="0"/>
                <a:ea typeface="Courier New" pitchFamily="34" charset="-122"/>
                <a:cs typeface="Courier New" pitchFamily="34" charset="-120"/>
              </a:rPr>
              <a:t>  // Cooley-Tukey butterfly</a:t>
            </a:r>
            <a:endParaRPr lang="en-US" sz="800" dirty="0"/>
          </a:p>
        </p:txBody>
      </p:sp>
      <p:sp>
        <p:nvSpPr>
          <p:cNvPr id="20" name="Text 17"/>
          <p:cNvSpPr/>
          <p:nvPr/>
        </p:nvSpPr>
        <p:spPr>
          <a:xfrm>
            <a:off x="429768" y="2894990"/>
            <a:ext cx="4407408" cy="137160"/>
          </a:xfrm>
          <a:prstGeom prst="rect">
            <a:avLst/>
          </a:prstGeom>
          <a:noFill/>
          <a:ln/>
        </p:spPr>
        <p:txBody>
          <a:bodyPr wrap="square" rtlCol="0" anchor="ctr"/>
          <a:lstStyle/>
          <a:p>
            <a:pPr indent="0" marL="0">
              <a:buNone/>
            </a:pPr>
            <a:r>
              <a:rPr lang="en-US" sz="800" dirty="0">
                <a:solidFill>
                  <a:srgbClr val="D4D4D4"/>
                </a:solidFill>
                <a:latin typeface="Courier New" pitchFamily="34" charset="0"/>
                <a:ea typeface="Courier New" pitchFamily="34" charset="-122"/>
                <a:cs typeface="Courier New" pitchFamily="34" charset="-120"/>
              </a:rPr>
              <a:t>  u64 tw = modpow_device(w, j, B);</a:t>
            </a:r>
            <a:endParaRPr lang="en-US" sz="800" dirty="0"/>
          </a:p>
        </p:txBody>
      </p:sp>
      <p:sp>
        <p:nvSpPr>
          <p:cNvPr id="21" name="Text 18"/>
          <p:cNvSpPr/>
          <p:nvPr/>
        </p:nvSpPr>
        <p:spPr>
          <a:xfrm>
            <a:off x="429768" y="3025750"/>
            <a:ext cx="4407408" cy="137160"/>
          </a:xfrm>
          <a:prstGeom prst="rect">
            <a:avLst/>
          </a:prstGeom>
          <a:noFill/>
          <a:ln/>
        </p:spPr>
        <p:txBody>
          <a:bodyPr wrap="square" rtlCol="0" anchor="ctr"/>
          <a:lstStyle/>
          <a:p>
            <a:pPr indent="0" marL="0">
              <a:buNone/>
            </a:pPr>
            <a:r>
              <a:rPr lang="en-US" sz="800" dirty="0">
                <a:solidFill>
                  <a:srgbClr val="D4D4D4"/>
                </a:solidFill>
                <a:latin typeface="Courier New" pitchFamily="34" charset="0"/>
                <a:ea typeface="Courier New" pitchFamily="34" charset="-122"/>
                <a:cs typeface="Courier New" pitchFamily="34" charset="-120"/>
              </a:rPr>
              <a:t>  u64 u  = A[u_i];</a:t>
            </a:r>
            <a:endParaRPr lang="en-US" sz="800" dirty="0"/>
          </a:p>
        </p:txBody>
      </p:sp>
      <p:sp>
        <p:nvSpPr>
          <p:cNvPr id="22" name="Text 19"/>
          <p:cNvSpPr/>
          <p:nvPr/>
        </p:nvSpPr>
        <p:spPr>
          <a:xfrm>
            <a:off x="429768" y="3156509"/>
            <a:ext cx="4407408" cy="137160"/>
          </a:xfrm>
          <a:prstGeom prst="rect">
            <a:avLst/>
          </a:prstGeom>
          <a:noFill/>
          <a:ln/>
        </p:spPr>
        <p:txBody>
          <a:bodyPr wrap="square" rtlCol="0" anchor="ctr"/>
          <a:lstStyle/>
          <a:p>
            <a:pPr indent="0" marL="0">
              <a:buNone/>
            </a:pPr>
            <a:r>
              <a:rPr lang="en-US" sz="800" dirty="0">
                <a:solidFill>
                  <a:srgbClr val="FFC000"/>
                </a:solidFill>
                <a:latin typeface="Courier New" pitchFamily="34" charset="0"/>
                <a:ea typeface="Courier New" pitchFamily="34" charset="-122"/>
                <a:cs typeface="Courier New" pitchFamily="34" charset="-120"/>
              </a:rPr>
              <a:t>  u64 v  = modmul_device(A[v_i], tw, B); // Barrett</a:t>
            </a:r>
            <a:endParaRPr lang="en-US" sz="800" dirty="0"/>
          </a:p>
        </p:txBody>
      </p:sp>
      <p:sp>
        <p:nvSpPr>
          <p:cNvPr id="23" name="Text 20"/>
          <p:cNvSpPr/>
          <p:nvPr/>
        </p:nvSpPr>
        <p:spPr>
          <a:xfrm>
            <a:off x="429768" y="3287268"/>
            <a:ext cx="4407408" cy="137160"/>
          </a:xfrm>
          <a:prstGeom prst="rect">
            <a:avLst/>
          </a:prstGeom>
          <a:noFill/>
          <a:ln/>
        </p:spPr>
        <p:txBody>
          <a:bodyPr wrap="square" rtlCol="0" anchor="ctr"/>
          <a:lstStyle/>
          <a:p>
            <a:pPr indent="0" marL="0">
              <a:buNone/>
            </a:pPr>
            <a:r>
              <a:rPr lang="en-US" sz="800" dirty="0">
                <a:solidFill>
                  <a:srgbClr val="FFC000"/>
                </a:solidFill>
                <a:latin typeface="Courier New" pitchFamily="34" charset="0"/>
                <a:ea typeface="Courier New" pitchFamily="34" charset="-122"/>
                <a:cs typeface="Courier New" pitchFamily="34" charset="-120"/>
              </a:rPr>
              <a:t>  A[u_i] = modadd(u, v, B.p);</a:t>
            </a:r>
            <a:endParaRPr lang="en-US" sz="800" dirty="0"/>
          </a:p>
        </p:txBody>
      </p:sp>
      <p:sp>
        <p:nvSpPr>
          <p:cNvPr id="24" name="Text 21"/>
          <p:cNvSpPr/>
          <p:nvPr/>
        </p:nvSpPr>
        <p:spPr>
          <a:xfrm>
            <a:off x="429768" y="3418027"/>
            <a:ext cx="4407408" cy="137160"/>
          </a:xfrm>
          <a:prstGeom prst="rect">
            <a:avLst/>
          </a:prstGeom>
          <a:noFill/>
          <a:ln/>
        </p:spPr>
        <p:txBody>
          <a:bodyPr wrap="square" rtlCol="0" anchor="ctr"/>
          <a:lstStyle/>
          <a:p>
            <a:pPr indent="0" marL="0">
              <a:buNone/>
            </a:pPr>
            <a:r>
              <a:rPr lang="en-US" sz="800" dirty="0">
                <a:solidFill>
                  <a:srgbClr val="FFC000"/>
                </a:solidFill>
                <a:latin typeface="Courier New" pitchFamily="34" charset="0"/>
                <a:ea typeface="Courier New" pitchFamily="34" charset="-122"/>
                <a:cs typeface="Courier New" pitchFamily="34" charset="-120"/>
              </a:rPr>
              <a:t>  A[v_i] = modsub(u, v, B.p);</a:t>
            </a:r>
            <a:endParaRPr lang="en-US" sz="800" dirty="0"/>
          </a:p>
        </p:txBody>
      </p:sp>
      <p:sp>
        <p:nvSpPr>
          <p:cNvPr id="25" name="Text 22"/>
          <p:cNvSpPr/>
          <p:nvPr/>
        </p:nvSpPr>
        <p:spPr>
          <a:xfrm>
            <a:off x="429768" y="3548786"/>
            <a:ext cx="4407408" cy="137160"/>
          </a:xfrm>
          <a:prstGeom prst="rect">
            <a:avLst/>
          </a:prstGeom>
          <a:noFill/>
          <a:ln/>
        </p:spPr>
        <p:txBody>
          <a:bodyPr wrap="square" rtlCol="0" anchor="ctr"/>
          <a:lstStyle/>
          <a:p>
            <a:pPr indent="0" marL="0">
              <a:buNone/>
            </a:pPr>
            <a:r>
              <a:rPr lang="en-US" sz="800" dirty="0">
                <a:solidFill>
                  <a:srgbClr val="DCDCAA"/>
                </a:solidFill>
                <a:latin typeface="Courier New" pitchFamily="34" charset="0"/>
                <a:ea typeface="Courier New" pitchFamily="34" charset="-122"/>
                <a:cs typeface="Courier New" pitchFamily="34" charset="-120"/>
              </a:rPr>
              <a:t>}</a:t>
            </a:r>
            <a:endParaRPr lang="en-US" sz="800" dirty="0"/>
          </a:p>
        </p:txBody>
      </p:sp>
      <p:sp>
        <p:nvSpPr>
          <p:cNvPr id="26" name="Text 23"/>
          <p:cNvSpPr/>
          <p:nvPr/>
        </p:nvSpPr>
        <p:spPr>
          <a:xfrm>
            <a:off x="429768" y="3679546"/>
            <a:ext cx="4407408" cy="137160"/>
          </a:xfrm>
          <a:prstGeom prst="rect">
            <a:avLst/>
          </a:prstGeom>
          <a:noFill/>
          <a:ln/>
        </p:spPr>
        <p:txBody>
          <a:bodyPr wrap="square" rtlCol="0" anchor="ctr"/>
          <a:lstStyle/>
          <a:p>
            <a:pPr indent="0" marL="0">
              <a:buNone/>
            </a:pPr>
            <a:r>
              <a:rPr lang="en-US" sz="800" dirty="0">
                <a:solidFill>
                  <a:srgbClr val="6A9F6A"/>
                </a:solidFill>
                <a:latin typeface="Courier New" pitchFamily="34" charset="0"/>
                <a:ea typeface="Courier New" pitchFamily="34" charset="-122"/>
                <a:cs typeface="Courier New" pitchFamily="34" charset="-120"/>
              </a:rPr>
              <a:t>// launched log₂n times, n/2 threads each</a:t>
            </a:r>
            <a:endParaRPr lang="en-US" sz="800" dirty="0"/>
          </a:p>
        </p:txBody>
      </p:sp>
      <p:sp>
        <p:nvSpPr>
          <p:cNvPr id="27" name="Text 24"/>
          <p:cNvSpPr/>
          <p:nvPr/>
        </p:nvSpPr>
        <p:spPr>
          <a:xfrm>
            <a:off x="5074920" y="960120"/>
            <a:ext cx="3749040" cy="256032"/>
          </a:xfrm>
          <a:prstGeom prst="rect">
            <a:avLst/>
          </a:prstGeom>
          <a:noFill/>
          <a:ln/>
        </p:spPr>
        <p:txBody>
          <a:bodyPr wrap="square" rtlCol="0" anchor="ctr"/>
          <a:lstStyle/>
          <a:p>
            <a:pPr indent="0" marL="0">
              <a:buNone/>
            </a:pPr>
            <a:r>
              <a:rPr lang="en-US" sz="1300" b="1" dirty="0">
                <a:solidFill>
                  <a:srgbClr val="1F3864"/>
                </a:solidFill>
                <a:latin typeface="Calibri" pitchFamily="34" charset="0"/>
                <a:ea typeface="Calibri" pitchFamily="34" charset="-122"/>
                <a:cs typeface="Calibri" pitchFamily="34" charset="-120"/>
              </a:rPr>
              <a:t>Design choices</a:t>
            </a:r>
            <a:endParaRPr lang="en-US" sz="1300" dirty="0"/>
          </a:p>
        </p:txBody>
      </p:sp>
      <p:sp>
        <p:nvSpPr>
          <p:cNvPr id="28" name="Shape 25"/>
          <p:cNvSpPr/>
          <p:nvPr/>
        </p:nvSpPr>
        <p:spPr>
          <a:xfrm>
            <a:off x="5074920" y="1234440"/>
            <a:ext cx="3474720" cy="0"/>
          </a:xfrm>
          <a:prstGeom prst="line">
            <a:avLst/>
          </a:prstGeom>
          <a:noFill/>
          <a:ln w="19050">
            <a:solidFill>
              <a:srgbClr val="FFC000"/>
            </a:solidFill>
            <a:prstDash val="solid"/>
          </a:ln>
        </p:spPr>
      </p:sp>
      <p:sp>
        <p:nvSpPr>
          <p:cNvPr id="29" name="Text 26"/>
          <p:cNvSpPr/>
          <p:nvPr/>
        </p:nvSpPr>
        <p:spPr>
          <a:xfrm>
            <a:off x="5074920" y="1389888"/>
            <a:ext cx="3749040" cy="237744"/>
          </a:xfrm>
          <a:prstGeom prst="rect">
            <a:avLst/>
          </a:prstGeom>
          <a:noFill/>
          <a:ln/>
        </p:spPr>
        <p:txBody>
          <a:bodyPr wrap="square" rtlCol="0" anchor="ctr"/>
          <a:lstStyle/>
          <a:p>
            <a:pPr indent="0" marL="0">
              <a:buNone/>
            </a:pPr>
            <a:r>
              <a:rPr lang="en-US" sz="1100" b="1" dirty="0">
                <a:solidFill>
                  <a:srgbClr val="1F3864"/>
                </a:solidFill>
                <a:latin typeface="Calibri" pitchFamily="34" charset="0"/>
                <a:ea typeface="Calibri" pitchFamily="34" charset="-122"/>
                <a:cs typeface="Calibri" pitchFamily="34" charset="-120"/>
              </a:rPr>
              <a:t>Per-stage launch</a:t>
            </a:r>
            <a:endParaRPr lang="en-US" sz="1100" dirty="0"/>
          </a:p>
        </p:txBody>
      </p:sp>
      <p:sp>
        <p:nvSpPr>
          <p:cNvPr id="30" name="Text 27"/>
          <p:cNvSpPr/>
          <p:nvPr/>
        </p:nvSpPr>
        <p:spPr>
          <a:xfrm>
            <a:off x="5074920" y="1636776"/>
            <a:ext cx="3749040" cy="502920"/>
          </a:xfrm>
          <a:prstGeom prst="rect">
            <a:avLst/>
          </a:prstGeom>
          <a:noFill/>
          <a:ln/>
        </p:spPr>
        <p:txBody>
          <a:bodyPr wrap="square" rtlCol="0" anchor="ctr"/>
          <a:lstStyle/>
          <a:p>
            <a:pPr indent="0" marL="0">
              <a:buNone/>
            </a:pPr>
            <a:r>
              <a:rPr lang="en-US" sz="1000" dirty="0">
                <a:solidFill>
                  <a:srgbClr val="555555"/>
                </a:solidFill>
                <a:latin typeface="Calibri" pitchFamily="34" charset="0"/>
                <a:ea typeface="Calibri" pitchFamily="34" charset="-122"/>
                <a:cs typeface="Calibri" pitchFamily="34" charset="-120"/>
              </a:rPr>
              <a:t>log₂n separate kernel calls, n/2 threads each. Global sync at kernel boundary keeps it simple and correct.</a:t>
            </a:r>
            <a:endParaRPr lang="en-US" sz="1000" dirty="0"/>
          </a:p>
        </p:txBody>
      </p:sp>
      <p:sp>
        <p:nvSpPr>
          <p:cNvPr id="31" name="Shape 28"/>
          <p:cNvSpPr/>
          <p:nvPr/>
        </p:nvSpPr>
        <p:spPr>
          <a:xfrm>
            <a:off x="5074920" y="2157984"/>
            <a:ext cx="3657600" cy="0"/>
          </a:xfrm>
          <a:prstGeom prst="line">
            <a:avLst/>
          </a:prstGeom>
          <a:noFill/>
          <a:ln w="6350">
            <a:solidFill>
              <a:srgbClr val="E0E8F0"/>
            </a:solidFill>
            <a:prstDash val="solid"/>
          </a:ln>
        </p:spPr>
      </p:sp>
      <p:sp>
        <p:nvSpPr>
          <p:cNvPr id="32" name="Text 29"/>
          <p:cNvSpPr/>
          <p:nvPr/>
        </p:nvSpPr>
        <p:spPr>
          <a:xfrm>
            <a:off x="5074920" y="2212848"/>
            <a:ext cx="3749040" cy="237744"/>
          </a:xfrm>
          <a:prstGeom prst="rect">
            <a:avLst/>
          </a:prstGeom>
          <a:noFill/>
          <a:ln/>
        </p:spPr>
        <p:txBody>
          <a:bodyPr wrap="square" rtlCol="0" anchor="ctr"/>
          <a:lstStyle/>
          <a:p>
            <a:pPr indent="0" marL="0">
              <a:buNone/>
            </a:pPr>
            <a:r>
              <a:rPr lang="en-US" sz="1100" b="1" dirty="0">
                <a:solidFill>
                  <a:srgbClr val="1F3864"/>
                </a:solidFill>
                <a:latin typeface="Calibri" pitchFamily="34" charset="0"/>
                <a:ea typeface="Calibri" pitchFamily="34" charset="-122"/>
                <a:cs typeface="Calibri" pitchFamily="34" charset="-120"/>
              </a:rPr>
              <a:t>In-place Cooley-Tukey</a:t>
            </a:r>
            <a:endParaRPr lang="en-US" sz="1100" dirty="0"/>
          </a:p>
        </p:txBody>
      </p:sp>
      <p:sp>
        <p:nvSpPr>
          <p:cNvPr id="33" name="Text 30"/>
          <p:cNvSpPr/>
          <p:nvPr/>
        </p:nvSpPr>
        <p:spPr>
          <a:xfrm>
            <a:off x="5074920" y="2459736"/>
            <a:ext cx="3749040" cy="502920"/>
          </a:xfrm>
          <a:prstGeom prst="rect">
            <a:avLst/>
          </a:prstGeom>
          <a:noFill/>
          <a:ln/>
        </p:spPr>
        <p:txBody>
          <a:bodyPr wrap="square" rtlCol="0" anchor="ctr"/>
          <a:lstStyle/>
          <a:p>
            <a:pPr indent="0" marL="0">
              <a:buNone/>
            </a:pPr>
            <a:r>
              <a:rPr lang="en-US" sz="1000" dirty="0">
                <a:solidFill>
                  <a:srgbClr val="555555"/>
                </a:solidFill>
                <a:latin typeface="Calibri" pitchFamily="34" charset="0"/>
                <a:ea typeface="Calibri" pitchFamily="34" charset="-122"/>
                <a:cs typeface="Calibri" pitchFamily="34" charset="-120"/>
              </a:rPr>
              <a:t>Single contiguous buffer. Bit-reversal permutation kernel runs once before the forward transform.</a:t>
            </a:r>
            <a:endParaRPr lang="en-US" sz="1000" dirty="0"/>
          </a:p>
        </p:txBody>
      </p:sp>
      <p:sp>
        <p:nvSpPr>
          <p:cNvPr id="34" name="Shape 31"/>
          <p:cNvSpPr/>
          <p:nvPr/>
        </p:nvSpPr>
        <p:spPr>
          <a:xfrm>
            <a:off x="5074920" y="2980944"/>
            <a:ext cx="3657600" cy="0"/>
          </a:xfrm>
          <a:prstGeom prst="line">
            <a:avLst/>
          </a:prstGeom>
          <a:noFill/>
          <a:ln w="6350">
            <a:solidFill>
              <a:srgbClr val="E0E8F0"/>
            </a:solidFill>
            <a:prstDash val="solid"/>
          </a:ln>
        </p:spPr>
      </p:sp>
      <p:sp>
        <p:nvSpPr>
          <p:cNvPr id="35" name="Text 32"/>
          <p:cNvSpPr/>
          <p:nvPr/>
        </p:nvSpPr>
        <p:spPr>
          <a:xfrm>
            <a:off x="5074920" y="3035808"/>
            <a:ext cx="3749040" cy="237744"/>
          </a:xfrm>
          <a:prstGeom prst="rect">
            <a:avLst/>
          </a:prstGeom>
          <a:noFill/>
          <a:ln/>
        </p:spPr>
        <p:txBody>
          <a:bodyPr wrap="square" rtlCol="0" anchor="ctr"/>
          <a:lstStyle/>
          <a:p>
            <a:pPr indent="0" marL="0">
              <a:buNone/>
            </a:pPr>
            <a:r>
              <a:rPr lang="en-US" sz="1100" b="1" dirty="0">
                <a:solidFill>
                  <a:srgbClr val="1F3864"/>
                </a:solidFill>
                <a:latin typeface="Calibri" pitchFamily="34" charset="0"/>
                <a:ea typeface="Calibri" pitchFamily="34" charset="-122"/>
                <a:cs typeface="Calibri" pitchFamily="34" charset="-120"/>
              </a:rPr>
              <a:t>Barrett over Montgomery</a:t>
            </a:r>
            <a:endParaRPr lang="en-US" sz="1100" dirty="0"/>
          </a:p>
        </p:txBody>
      </p:sp>
      <p:sp>
        <p:nvSpPr>
          <p:cNvPr id="36" name="Text 33"/>
          <p:cNvSpPr/>
          <p:nvPr/>
        </p:nvSpPr>
        <p:spPr>
          <a:xfrm>
            <a:off x="5074920" y="3282696"/>
            <a:ext cx="3749040" cy="502920"/>
          </a:xfrm>
          <a:prstGeom prst="rect">
            <a:avLst/>
          </a:prstGeom>
          <a:noFill/>
          <a:ln/>
        </p:spPr>
        <p:txBody>
          <a:bodyPr wrap="square" rtlCol="0" anchor="ctr"/>
          <a:lstStyle/>
          <a:p>
            <a:pPr indent="0" marL="0">
              <a:buNone/>
            </a:pPr>
            <a:r>
              <a:rPr lang="en-US" sz="1000" dirty="0">
                <a:solidFill>
                  <a:srgbClr val="555555"/>
                </a:solidFill>
                <a:latin typeface="Calibri" pitchFamily="34" charset="0"/>
                <a:ea typeface="Calibri" pitchFamily="34" charset="-122"/>
                <a:cs typeface="Calibri" pitchFamily="34" charset="-120"/>
              </a:rPr>
              <a:t>Data stays in normal residue form across all stages — avoids two extra O(n) domain-conversion passes that would hurt memory bandwidth at large n.</a:t>
            </a:r>
            <a:endParaRPr lang="en-US" sz="1000" dirty="0"/>
          </a:p>
        </p:txBody>
      </p:sp>
      <p:sp>
        <p:nvSpPr>
          <p:cNvPr id="37" name="Shape 34"/>
          <p:cNvSpPr/>
          <p:nvPr/>
        </p:nvSpPr>
        <p:spPr>
          <a:xfrm>
            <a:off x="5074920" y="3803904"/>
            <a:ext cx="3657600" cy="0"/>
          </a:xfrm>
          <a:prstGeom prst="line">
            <a:avLst/>
          </a:prstGeom>
          <a:noFill/>
          <a:ln w="6350">
            <a:solidFill>
              <a:srgbClr val="E0E8F0"/>
            </a:solidFill>
            <a:prstDash val="solid"/>
          </a:ln>
        </p:spPr>
      </p:sp>
      <p:sp>
        <p:nvSpPr>
          <p:cNvPr id="38" name="Text 35"/>
          <p:cNvSpPr/>
          <p:nvPr/>
        </p:nvSpPr>
        <p:spPr>
          <a:xfrm>
            <a:off x="5074920" y="3858768"/>
            <a:ext cx="3749040" cy="237744"/>
          </a:xfrm>
          <a:prstGeom prst="rect">
            <a:avLst/>
          </a:prstGeom>
          <a:noFill/>
          <a:ln/>
        </p:spPr>
        <p:txBody>
          <a:bodyPr wrap="square" rtlCol="0" anchor="ctr"/>
          <a:lstStyle/>
          <a:p>
            <a:pPr indent="0" marL="0">
              <a:buNone/>
            </a:pPr>
            <a:r>
              <a:rPr lang="en-US" sz="1100" b="1" dirty="0">
                <a:solidFill>
                  <a:srgbClr val="1F3864"/>
                </a:solidFill>
                <a:latin typeface="Calibri" pitchFamily="34" charset="0"/>
                <a:ea typeface="Calibri" pitchFamily="34" charset="-122"/>
                <a:cs typeface="Calibri" pitchFamily="34" charset="-120"/>
              </a:rPr>
              <a:t>Dual __host__ __device__</a:t>
            </a:r>
            <a:endParaRPr lang="en-US" sz="1100" dirty="0"/>
          </a:p>
        </p:txBody>
      </p:sp>
      <p:sp>
        <p:nvSpPr>
          <p:cNvPr id="39" name="Text 36"/>
          <p:cNvSpPr/>
          <p:nvPr/>
        </p:nvSpPr>
        <p:spPr>
          <a:xfrm>
            <a:off x="5074920" y="4105656"/>
            <a:ext cx="3749040" cy="502920"/>
          </a:xfrm>
          <a:prstGeom prst="rect">
            <a:avLst/>
          </a:prstGeom>
          <a:noFill/>
          <a:ln/>
        </p:spPr>
        <p:txBody>
          <a:bodyPr wrap="square" rtlCol="0" anchor="ctr"/>
          <a:lstStyle/>
          <a:p>
            <a:pPr indent="0" marL="0">
              <a:buNone/>
            </a:pPr>
            <a:r>
              <a:rPr lang="en-US" sz="1000" dirty="0">
                <a:solidFill>
                  <a:srgbClr val="555555"/>
                </a:solidFill>
                <a:latin typeface="Calibri" pitchFamily="34" charset="0"/>
                <a:ea typeface="Calibri" pitchFamily="34" charset="-122"/>
                <a:cs typeface="Calibri" pitchFamily="34" charset="-120"/>
              </a:rPr>
              <a:t>Same butterfly arithmetic runs on both CPU and T4. Triple-verified: GPU ≡ CPU ≡ Python.</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F3864"/>
          </a:solidFill>
          <a:ln w="12700">
            <a:solidFill>
              <a:srgbClr val="1F3864"/>
            </a:solidFill>
            <a:prstDash val="solid"/>
          </a:ln>
        </p:spPr>
      </p:sp>
      <p:sp>
        <p:nvSpPr>
          <p:cNvPr id="3" name="Shape 1"/>
          <p:cNvSpPr/>
          <p:nvPr/>
        </p:nvSpPr>
        <p:spPr>
          <a:xfrm>
            <a:off x="0" y="822960"/>
            <a:ext cx="9144000" cy="50292"/>
          </a:xfrm>
          <a:prstGeom prst="rect">
            <a:avLst/>
          </a:prstGeom>
          <a:solidFill>
            <a:srgbClr val="FFC000"/>
          </a:solidFill>
          <a:ln w="12700">
            <a:solidFill>
              <a:srgbClr val="FFC000"/>
            </a:solidFill>
            <a:prstDash val="solid"/>
          </a:ln>
        </p:spPr>
      </p:sp>
      <p:sp>
        <p:nvSpPr>
          <p:cNvPr id="4" name="Text 2"/>
          <p:cNvSpPr/>
          <p:nvPr/>
        </p:nvSpPr>
        <p:spPr>
          <a:xfrm>
            <a:off x="347472" y="0"/>
            <a:ext cx="7315200" cy="82296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Correctness &amp; Validation</a:t>
            </a:r>
            <a:endParaRPr lang="en-US" sz="2200" dirty="0"/>
          </a:p>
        </p:txBody>
      </p:sp>
      <p:pic>
        <p:nvPicPr>
          <p:cNvPr id="5" name="Image 0" descr="preencoded.png">    </p:cNvPr>
          <p:cNvPicPr>
            <a:picLocks noChangeAspect="1"/>
          </p:cNvPicPr>
          <p:nvPr/>
        </p:nvPicPr>
        <p:blipFill>
          <a:blip r:embed="rId1"/>
          <a:stretch>
            <a:fillRect/>
          </a:stretch>
        </p:blipFill>
        <p:spPr>
          <a:xfrm>
            <a:off x="7909560" y="73152"/>
            <a:ext cx="685800" cy="685800"/>
          </a:xfrm>
          <a:prstGeom prst="rect">
            <a:avLst/>
          </a:prstGeom>
        </p:spPr>
      </p:pic>
      <p:sp>
        <p:nvSpPr>
          <p:cNvPr id="6" name="Shape 3"/>
          <p:cNvSpPr/>
          <p:nvPr/>
        </p:nvSpPr>
        <p:spPr>
          <a:xfrm>
            <a:off x="0" y="4800600"/>
            <a:ext cx="9144000" cy="342900"/>
          </a:xfrm>
          <a:prstGeom prst="rect">
            <a:avLst/>
          </a:prstGeom>
          <a:solidFill>
            <a:srgbClr val="0F1D3A"/>
          </a:solidFill>
          <a:ln w="12700">
            <a:solidFill>
              <a:srgbClr val="0F1D3A"/>
            </a:solidFill>
            <a:prstDash val="solid"/>
          </a:ln>
        </p:spPr>
      </p:sp>
      <p:sp>
        <p:nvSpPr>
          <p:cNvPr id="7" name="Text 4"/>
          <p:cNvSpPr/>
          <p:nvPr/>
        </p:nvSpPr>
        <p:spPr>
          <a:xfrm>
            <a:off x="137160" y="4823460"/>
            <a:ext cx="4114800" cy="274320"/>
          </a:xfrm>
          <a:prstGeom prst="rect">
            <a:avLst/>
          </a:prstGeom>
          <a:noFill/>
          <a:ln/>
        </p:spPr>
        <p:txBody>
          <a:bodyPr wrap="square" rtlCol="0" anchor="ctr"/>
          <a:lstStyle/>
          <a:p>
            <a:pPr indent="0" marL="0">
              <a:buNone/>
            </a:pPr>
            <a:r>
              <a:rPr lang="en-US" sz="1000" dirty="0">
                <a:solidFill>
                  <a:srgbClr val="FFFFFF"/>
                </a:solidFill>
                <a:latin typeface="Calibri" pitchFamily="34" charset="0"/>
                <a:ea typeface="Calibri" pitchFamily="34" charset="-122"/>
                <a:cs typeface="Calibri" pitchFamily="34" charset="-120"/>
              </a:rPr>
              <a:t>ECE 268 – Spring 2026</a:t>
            </a:r>
            <a:endParaRPr lang="en-US" sz="1000" dirty="0"/>
          </a:p>
        </p:txBody>
      </p:sp>
      <p:sp>
        <p:nvSpPr>
          <p:cNvPr id="8" name="Text 5"/>
          <p:cNvSpPr/>
          <p:nvPr/>
        </p:nvSpPr>
        <p:spPr>
          <a:xfrm>
            <a:off x="4754880" y="4823460"/>
            <a:ext cx="4206240" cy="274320"/>
          </a:xfrm>
          <a:prstGeom prst="rect">
            <a:avLst/>
          </a:prstGeom>
          <a:noFill/>
          <a:ln/>
        </p:spPr>
        <p:txBody>
          <a:bodyPr wrap="square" rtlCol="0" anchor="ctr"/>
          <a:lstStyle/>
          <a:p>
            <a:pPr algn="r" indent="0" marL="0">
              <a:buNone/>
            </a:pPr>
            <a:r>
              <a:rPr lang="en-US" sz="1000" dirty="0">
                <a:solidFill>
                  <a:srgbClr val="FFFFFF"/>
                </a:solidFill>
                <a:latin typeface="Calibri" pitchFamily="34" charset="0"/>
                <a:ea typeface="Calibri" pitchFamily="34" charset="-122"/>
                <a:cs typeface="Calibri" pitchFamily="34" charset="-120"/>
              </a:rPr>
              <a:t>Security of Hardware Embedded Systems</a:t>
            </a:r>
            <a:endParaRPr lang="en-US" sz="1000" dirty="0"/>
          </a:p>
        </p:txBody>
      </p:sp>
      <p:sp>
        <p:nvSpPr>
          <p:cNvPr id="9" name="Text 6"/>
          <p:cNvSpPr/>
          <p:nvPr/>
        </p:nvSpPr>
        <p:spPr>
          <a:xfrm>
            <a:off x="365760" y="987552"/>
            <a:ext cx="8412480" cy="292608"/>
          </a:xfrm>
          <a:prstGeom prst="rect">
            <a:avLst/>
          </a:prstGeom>
          <a:noFill/>
          <a:ln/>
        </p:spPr>
        <p:txBody>
          <a:bodyPr wrap="square" rtlCol="0" anchor="ctr"/>
          <a:lstStyle/>
          <a:p>
            <a:pPr algn="ctr" indent="0" marL="0">
              <a:buNone/>
            </a:pPr>
            <a:r>
              <a:rPr lang="en-US" sz="1300" b="1" dirty="0">
                <a:solidFill>
                  <a:srgbClr val="1F3864"/>
                </a:solidFill>
                <a:latin typeface="Calibri" pitchFamily="34" charset="0"/>
                <a:ea typeface="Calibri" pitchFamily="34" charset="-122"/>
                <a:cs typeface="Calibri" pitchFamily="34" charset="-120"/>
              </a:rPr>
              <a:t>Three-layer verification:  GPU (nvcc)  ≡  CPU C++ (clang)  ≡  Python/sympy</a:t>
            </a:r>
            <a:endParaRPr lang="en-US" sz="1300" dirty="0"/>
          </a:p>
        </p:txBody>
      </p:sp>
      <p:sp>
        <p:nvSpPr>
          <p:cNvPr id="10" name="Shape 7"/>
          <p:cNvSpPr/>
          <p:nvPr/>
        </p:nvSpPr>
        <p:spPr>
          <a:xfrm>
            <a:off x="365760" y="1316736"/>
            <a:ext cx="8412480" cy="0"/>
          </a:xfrm>
          <a:prstGeom prst="line">
            <a:avLst/>
          </a:prstGeom>
          <a:noFill/>
          <a:ln w="19050">
            <a:solidFill>
              <a:srgbClr val="FFC000"/>
            </a:solidFill>
            <a:prstDash val="solid"/>
          </a:ln>
        </p:spPr>
      </p:sp>
      <p:sp>
        <p:nvSpPr>
          <p:cNvPr id="11" name="Text 8"/>
          <p:cNvSpPr/>
          <p:nvPr/>
        </p:nvSpPr>
        <p:spPr>
          <a:xfrm>
            <a:off x="365760" y="1408176"/>
            <a:ext cx="5577840" cy="256032"/>
          </a:xfrm>
          <a:prstGeom prst="rect">
            <a:avLst/>
          </a:prstGeom>
          <a:noFill/>
          <a:ln/>
        </p:spPr>
        <p:txBody>
          <a:bodyPr wrap="square" rtlCol="0" anchor="ctr"/>
          <a:lstStyle/>
          <a:p>
            <a:pPr indent="0" marL="0">
              <a:buNone/>
            </a:pPr>
            <a:r>
              <a:rPr lang="en-US" sz="1000" b="1" dirty="0">
                <a:solidFill>
                  <a:srgbClr val="555555"/>
                </a:solidFill>
                <a:latin typeface="Calibri" pitchFamily="34" charset="0"/>
                <a:ea typeface="Calibri" pitchFamily="34" charset="-122"/>
                <a:cs typeface="Calibri" pitchFamily="34" charset="-120"/>
              </a:rPr>
              <a:t>Test</a:t>
            </a:r>
            <a:endParaRPr lang="en-US" sz="1000" dirty="0"/>
          </a:p>
        </p:txBody>
      </p:sp>
      <p:sp>
        <p:nvSpPr>
          <p:cNvPr id="12" name="Text 9"/>
          <p:cNvSpPr/>
          <p:nvPr/>
        </p:nvSpPr>
        <p:spPr>
          <a:xfrm>
            <a:off x="6035040" y="1408176"/>
            <a:ext cx="1188720" cy="256032"/>
          </a:xfrm>
          <a:prstGeom prst="rect">
            <a:avLst/>
          </a:prstGeom>
          <a:noFill/>
          <a:ln/>
        </p:spPr>
        <p:txBody>
          <a:bodyPr wrap="square" rtlCol="0" anchor="ctr"/>
          <a:lstStyle/>
          <a:p>
            <a:pPr algn="ctr" indent="0" marL="0">
              <a:buNone/>
            </a:pPr>
            <a:r>
              <a:rPr lang="en-US" sz="1000" b="1" dirty="0">
                <a:solidFill>
                  <a:srgbClr val="555555"/>
                </a:solidFill>
                <a:latin typeface="Calibri" pitchFamily="34" charset="0"/>
                <a:ea typeface="Calibri" pitchFamily="34" charset="-122"/>
                <a:cs typeface="Calibri" pitchFamily="34" charset="-120"/>
              </a:rPr>
              <a:t>Count</a:t>
            </a:r>
            <a:endParaRPr lang="en-US" sz="1000" dirty="0"/>
          </a:p>
        </p:txBody>
      </p:sp>
      <p:sp>
        <p:nvSpPr>
          <p:cNvPr id="13" name="Text 10"/>
          <p:cNvSpPr/>
          <p:nvPr/>
        </p:nvSpPr>
        <p:spPr>
          <a:xfrm>
            <a:off x="7315200" y="1408176"/>
            <a:ext cx="1463040" cy="256032"/>
          </a:xfrm>
          <a:prstGeom prst="rect">
            <a:avLst/>
          </a:prstGeom>
          <a:noFill/>
          <a:ln/>
        </p:spPr>
        <p:txBody>
          <a:bodyPr wrap="square" rtlCol="0" anchor="ctr"/>
          <a:lstStyle/>
          <a:p>
            <a:pPr algn="ctr" indent="0" marL="0">
              <a:buNone/>
            </a:pPr>
            <a:r>
              <a:rPr lang="en-US" sz="1000" b="1" dirty="0">
                <a:solidFill>
                  <a:srgbClr val="555555"/>
                </a:solidFill>
                <a:latin typeface="Calibri" pitchFamily="34" charset="0"/>
                <a:ea typeface="Calibri" pitchFamily="34" charset="-122"/>
                <a:cs typeface="Calibri" pitchFamily="34" charset="-120"/>
              </a:rPr>
              <a:t>Result</a:t>
            </a:r>
            <a:endParaRPr lang="en-US" sz="1000" dirty="0"/>
          </a:p>
        </p:txBody>
      </p:sp>
      <p:sp>
        <p:nvSpPr>
          <p:cNvPr id="14" name="Shape 11"/>
          <p:cNvSpPr/>
          <p:nvPr/>
        </p:nvSpPr>
        <p:spPr>
          <a:xfrm>
            <a:off x="365760" y="1664208"/>
            <a:ext cx="8412480" cy="0"/>
          </a:xfrm>
          <a:prstGeom prst="line">
            <a:avLst/>
          </a:prstGeom>
          <a:noFill/>
          <a:ln w="9525">
            <a:solidFill>
              <a:srgbClr val="CCCCCC"/>
            </a:solidFill>
            <a:prstDash val="solid"/>
          </a:ln>
        </p:spPr>
      </p:sp>
      <p:sp>
        <p:nvSpPr>
          <p:cNvPr id="15" name="Shape 12"/>
          <p:cNvSpPr/>
          <p:nvPr/>
        </p:nvSpPr>
        <p:spPr>
          <a:xfrm>
            <a:off x="320040" y="1700784"/>
            <a:ext cx="8503920" cy="457200"/>
          </a:xfrm>
          <a:prstGeom prst="rect">
            <a:avLst/>
          </a:prstGeom>
          <a:solidFill>
            <a:srgbClr val="F7FAFC"/>
          </a:solidFill>
          <a:ln w="12700">
            <a:solidFill>
              <a:srgbClr val="F7FAFC"/>
            </a:solidFill>
            <a:prstDash val="solid"/>
          </a:ln>
        </p:spPr>
      </p:sp>
      <p:sp>
        <p:nvSpPr>
          <p:cNvPr id="16" name="Text 13"/>
          <p:cNvSpPr/>
          <p:nvPr/>
        </p:nvSpPr>
        <p:spPr>
          <a:xfrm>
            <a:off x="411480" y="1737360"/>
            <a:ext cx="5532120" cy="384048"/>
          </a:xfrm>
          <a:prstGeom prst="rect">
            <a:avLst/>
          </a:prstGeom>
          <a:noFill/>
          <a:ln/>
        </p:spPr>
        <p:txBody>
          <a:bodyPr wrap="square" rtlCol="0" anchor="ctr"/>
          <a:lstStyle/>
          <a:p>
            <a:pPr indent="0" marL="0">
              <a:buNone/>
            </a:pPr>
            <a:r>
              <a:rPr lang="en-US" sz="1050" dirty="0">
                <a:solidFill>
                  <a:srgbClr val="1A1A1A"/>
                </a:solidFill>
                <a:latin typeface="Calibri" pitchFamily="34" charset="0"/>
                <a:ea typeface="Calibri" pitchFamily="34" charset="-122"/>
                <a:cs typeface="Calibri" pitchFamily="34" charset="-120"/>
              </a:rPr>
              <a:t>Barrett32 / Barrett64 — 2M+ random + boundary operands</a:t>
            </a:r>
            <a:endParaRPr lang="en-US" sz="1050" dirty="0"/>
          </a:p>
        </p:txBody>
      </p:sp>
      <p:sp>
        <p:nvSpPr>
          <p:cNvPr id="17" name="Text 14"/>
          <p:cNvSpPr/>
          <p:nvPr/>
        </p:nvSpPr>
        <p:spPr>
          <a:xfrm>
            <a:off x="6035040" y="1737360"/>
            <a:ext cx="1188720" cy="384048"/>
          </a:xfrm>
          <a:prstGeom prst="rect">
            <a:avLst/>
          </a:prstGeom>
          <a:noFill/>
          <a:ln/>
        </p:spPr>
        <p:txBody>
          <a:bodyPr wrap="square" rtlCol="0" anchor="ctr"/>
          <a:lstStyle/>
          <a:p>
            <a:pPr algn="ctr" indent="0" marL="0">
              <a:buNone/>
            </a:pPr>
            <a:r>
              <a:rPr lang="en-US" sz="1000" dirty="0">
                <a:solidFill>
                  <a:srgbClr val="1F3864"/>
                </a:solidFill>
                <a:latin typeface="Courier New" pitchFamily="34" charset="0"/>
                <a:ea typeface="Courier New" pitchFamily="34" charset="-122"/>
                <a:cs typeface="Courier New" pitchFamily="34" charset="-120"/>
              </a:rPr>
              <a:t>2M+ each</a:t>
            </a:r>
            <a:endParaRPr lang="en-US" sz="1000" dirty="0"/>
          </a:p>
        </p:txBody>
      </p:sp>
      <p:sp>
        <p:nvSpPr>
          <p:cNvPr id="18" name="Text 15"/>
          <p:cNvSpPr/>
          <p:nvPr/>
        </p:nvSpPr>
        <p:spPr>
          <a:xfrm>
            <a:off x="7315200" y="1737360"/>
            <a:ext cx="1463040" cy="384048"/>
          </a:xfrm>
          <a:prstGeom prst="rect">
            <a:avLst/>
          </a:prstGeom>
          <a:noFill/>
          <a:ln/>
        </p:spPr>
        <p:txBody>
          <a:bodyPr wrap="square" rtlCol="0" anchor="ctr"/>
          <a:lstStyle/>
          <a:p>
            <a:pPr algn="ctr" indent="0" marL="0">
              <a:buNone/>
            </a:pPr>
            <a:r>
              <a:rPr lang="en-US" sz="1000" b="1" dirty="0">
                <a:solidFill>
                  <a:srgbClr val="1A7040"/>
                </a:solidFill>
                <a:latin typeface="Calibri" pitchFamily="34" charset="0"/>
                <a:ea typeface="Calibri" pitchFamily="34" charset="-122"/>
                <a:cs typeface="Calibri" pitchFamily="34" charset="-120"/>
              </a:rPr>
              <a:t>0 failures</a:t>
            </a:r>
            <a:endParaRPr lang="en-US" sz="1000" dirty="0"/>
          </a:p>
        </p:txBody>
      </p:sp>
      <p:sp>
        <p:nvSpPr>
          <p:cNvPr id="19" name="Text 16"/>
          <p:cNvSpPr/>
          <p:nvPr/>
        </p:nvSpPr>
        <p:spPr>
          <a:xfrm>
            <a:off x="411480" y="2212848"/>
            <a:ext cx="5532120" cy="384048"/>
          </a:xfrm>
          <a:prstGeom prst="rect">
            <a:avLst/>
          </a:prstGeom>
          <a:noFill/>
          <a:ln/>
        </p:spPr>
        <p:txBody>
          <a:bodyPr wrap="square" rtlCol="0" anchor="ctr"/>
          <a:lstStyle/>
          <a:p>
            <a:pPr indent="0" marL="0">
              <a:buNone/>
            </a:pPr>
            <a:r>
              <a:rPr lang="en-US" sz="1050" dirty="0">
                <a:solidFill>
                  <a:srgbClr val="1A1A1A"/>
                </a:solidFill>
                <a:latin typeface="Calibri" pitchFamily="34" charset="0"/>
                <a:ea typeface="Calibri" pitchFamily="34" charset="-122"/>
                <a:cs typeface="Calibri" pitchFamily="34" charset="-120"/>
              </a:rPr>
              <a:t>modexp / modinv (P32 &amp; P64) — random exponents</a:t>
            </a:r>
            <a:endParaRPr lang="en-US" sz="1050" dirty="0"/>
          </a:p>
        </p:txBody>
      </p:sp>
      <p:sp>
        <p:nvSpPr>
          <p:cNvPr id="20" name="Text 17"/>
          <p:cNvSpPr/>
          <p:nvPr/>
        </p:nvSpPr>
        <p:spPr>
          <a:xfrm>
            <a:off x="6035040" y="2212848"/>
            <a:ext cx="1188720" cy="384048"/>
          </a:xfrm>
          <a:prstGeom prst="rect">
            <a:avLst/>
          </a:prstGeom>
          <a:noFill/>
          <a:ln/>
        </p:spPr>
        <p:txBody>
          <a:bodyPr wrap="square" rtlCol="0" anchor="ctr"/>
          <a:lstStyle/>
          <a:p>
            <a:pPr algn="ctr" indent="0" marL="0">
              <a:buNone/>
            </a:pPr>
            <a:r>
              <a:rPr lang="en-US" sz="1000" dirty="0">
                <a:solidFill>
                  <a:srgbClr val="1F3864"/>
                </a:solidFill>
                <a:latin typeface="Courier New" pitchFamily="34" charset="0"/>
                <a:ea typeface="Courier New" pitchFamily="34" charset="-122"/>
                <a:cs typeface="Courier New" pitchFamily="34" charset="-120"/>
              </a:rPr>
              <a:t>100K</a:t>
            </a:r>
            <a:endParaRPr lang="en-US" sz="1000" dirty="0"/>
          </a:p>
        </p:txBody>
      </p:sp>
      <p:sp>
        <p:nvSpPr>
          <p:cNvPr id="21" name="Text 18"/>
          <p:cNvSpPr/>
          <p:nvPr/>
        </p:nvSpPr>
        <p:spPr>
          <a:xfrm>
            <a:off x="7315200" y="2212848"/>
            <a:ext cx="1463040" cy="384048"/>
          </a:xfrm>
          <a:prstGeom prst="rect">
            <a:avLst/>
          </a:prstGeom>
          <a:noFill/>
          <a:ln/>
        </p:spPr>
        <p:txBody>
          <a:bodyPr wrap="square" rtlCol="0" anchor="ctr"/>
          <a:lstStyle/>
          <a:p>
            <a:pPr algn="ctr" indent="0" marL="0">
              <a:buNone/>
            </a:pPr>
            <a:r>
              <a:rPr lang="en-US" sz="1000" b="1" dirty="0">
                <a:solidFill>
                  <a:srgbClr val="1A7040"/>
                </a:solidFill>
                <a:latin typeface="Calibri" pitchFamily="34" charset="0"/>
                <a:ea typeface="Calibri" pitchFamily="34" charset="-122"/>
                <a:cs typeface="Calibri" pitchFamily="34" charset="-120"/>
              </a:rPr>
              <a:t>0 failures</a:t>
            </a:r>
            <a:endParaRPr lang="en-US" sz="1000" dirty="0"/>
          </a:p>
        </p:txBody>
      </p:sp>
      <p:sp>
        <p:nvSpPr>
          <p:cNvPr id="22" name="Shape 19"/>
          <p:cNvSpPr/>
          <p:nvPr/>
        </p:nvSpPr>
        <p:spPr>
          <a:xfrm>
            <a:off x="320040" y="2651760"/>
            <a:ext cx="8503920" cy="457200"/>
          </a:xfrm>
          <a:prstGeom prst="rect">
            <a:avLst/>
          </a:prstGeom>
          <a:solidFill>
            <a:srgbClr val="F7FAFC"/>
          </a:solidFill>
          <a:ln w="12700">
            <a:solidFill>
              <a:srgbClr val="F7FAFC"/>
            </a:solidFill>
            <a:prstDash val="solid"/>
          </a:ln>
        </p:spPr>
      </p:sp>
      <p:sp>
        <p:nvSpPr>
          <p:cNvPr id="23" name="Text 20"/>
          <p:cNvSpPr/>
          <p:nvPr/>
        </p:nvSpPr>
        <p:spPr>
          <a:xfrm>
            <a:off x="411480" y="2688336"/>
            <a:ext cx="5532120" cy="384048"/>
          </a:xfrm>
          <a:prstGeom prst="rect">
            <a:avLst/>
          </a:prstGeom>
          <a:noFill/>
          <a:ln/>
        </p:spPr>
        <p:txBody>
          <a:bodyPr wrap="square" rtlCol="0" anchor="ctr"/>
          <a:lstStyle/>
          <a:p>
            <a:pPr indent="0" marL="0">
              <a:buNone/>
            </a:pPr>
            <a:r>
              <a:rPr lang="en-US" sz="1050" dirty="0">
                <a:solidFill>
                  <a:srgbClr val="1A1A1A"/>
                </a:solidFill>
                <a:latin typeface="Calibri" pitchFamily="34" charset="0"/>
                <a:ea typeface="Calibri" pitchFamily="34" charset="-122"/>
                <a:cs typeface="Calibri" pitchFamily="34" charset="-120"/>
              </a:rPr>
              <a:t>NTT round-trip:  INTT(NTT(x)) == x  (CPU)</a:t>
            </a:r>
            <a:endParaRPr lang="en-US" sz="1050" dirty="0"/>
          </a:p>
        </p:txBody>
      </p:sp>
      <p:sp>
        <p:nvSpPr>
          <p:cNvPr id="24" name="Text 21"/>
          <p:cNvSpPr/>
          <p:nvPr/>
        </p:nvSpPr>
        <p:spPr>
          <a:xfrm>
            <a:off x="6035040" y="2688336"/>
            <a:ext cx="1188720" cy="384048"/>
          </a:xfrm>
          <a:prstGeom prst="rect">
            <a:avLst/>
          </a:prstGeom>
          <a:noFill/>
          <a:ln/>
        </p:spPr>
        <p:txBody>
          <a:bodyPr wrap="square" rtlCol="0" anchor="ctr"/>
          <a:lstStyle/>
          <a:p>
            <a:pPr algn="ctr" indent="0" marL="0">
              <a:buNone/>
            </a:pPr>
            <a:r>
              <a:rPr lang="en-US" sz="1000" dirty="0">
                <a:solidFill>
                  <a:srgbClr val="1F3864"/>
                </a:solidFill>
                <a:latin typeface="Courier New" pitchFamily="34" charset="0"/>
                <a:ea typeface="Courier New" pitchFamily="34" charset="-122"/>
                <a:cs typeface="Courier New" pitchFamily="34" charset="-120"/>
              </a:rPr>
              <a:t>n ≤ 2¹⁴</a:t>
            </a:r>
            <a:endParaRPr lang="en-US" sz="1000" dirty="0"/>
          </a:p>
        </p:txBody>
      </p:sp>
      <p:sp>
        <p:nvSpPr>
          <p:cNvPr id="25" name="Text 22"/>
          <p:cNvSpPr/>
          <p:nvPr/>
        </p:nvSpPr>
        <p:spPr>
          <a:xfrm>
            <a:off x="7315200" y="2688336"/>
            <a:ext cx="1463040" cy="384048"/>
          </a:xfrm>
          <a:prstGeom prst="rect">
            <a:avLst/>
          </a:prstGeom>
          <a:noFill/>
          <a:ln/>
        </p:spPr>
        <p:txBody>
          <a:bodyPr wrap="square" rtlCol="0" anchor="ctr"/>
          <a:lstStyle/>
          <a:p>
            <a:pPr algn="ctr" indent="0" marL="0">
              <a:buNone/>
            </a:pPr>
            <a:r>
              <a:rPr lang="en-US" sz="1000" b="1" dirty="0">
                <a:solidFill>
                  <a:srgbClr val="1A7040"/>
                </a:solidFill>
                <a:latin typeface="Calibri" pitchFamily="34" charset="0"/>
                <a:ea typeface="Calibri" pitchFamily="34" charset="-122"/>
                <a:cs typeface="Calibri" pitchFamily="34" charset="-120"/>
              </a:rPr>
              <a:t>pass</a:t>
            </a:r>
            <a:endParaRPr lang="en-US" sz="1000" dirty="0"/>
          </a:p>
        </p:txBody>
      </p:sp>
      <p:sp>
        <p:nvSpPr>
          <p:cNvPr id="26" name="Text 23"/>
          <p:cNvSpPr/>
          <p:nvPr/>
        </p:nvSpPr>
        <p:spPr>
          <a:xfrm>
            <a:off x="411480" y="3163824"/>
            <a:ext cx="5532120" cy="384048"/>
          </a:xfrm>
          <a:prstGeom prst="rect">
            <a:avLst/>
          </a:prstGeom>
          <a:noFill/>
          <a:ln/>
        </p:spPr>
        <p:txBody>
          <a:bodyPr wrap="square" rtlCol="0" anchor="ctr"/>
          <a:lstStyle/>
          <a:p>
            <a:pPr indent="0" marL="0">
              <a:buNone/>
            </a:pPr>
            <a:r>
              <a:rPr lang="en-US" sz="1050" dirty="0">
                <a:solidFill>
                  <a:srgbClr val="1A1A1A"/>
                </a:solidFill>
                <a:latin typeface="Calibri" pitchFamily="34" charset="0"/>
                <a:ea typeface="Calibri" pitchFamily="34" charset="-122"/>
                <a:cs typeface="Calibri" pitchFamily="34" charset="-120"/>
              </a:rPr>
              <a:t>NTT convolution vs. naive O(n²)  (CPU)</a:t>
            </a:r>
            <a:endParaRPr lang="en-US" sz="1050" dirty="0"/>
          </a:p>
        </p:txBody>
      </p:sp>
      <p:sp>
        <p:nvSpPr>
          <p:cNvPr id="27" name="Text 24"/>
          <p:cNvSpPr/>
          <p:nvPr/>
        </p:nvSpPr>
        <p:spPr>
          <a:xfrm>
            <a:off x="6035040" y="3163824"/>
            <a:ext cx="1188720" cy="384048"/>
          </a:xfrm>
          <a:prstGeom prst="rect">
            <a:avLst/>
          </a:prstGeom>
          <a:noFill/>
          <a:ln/>
        </p:spPr>
        <p:txBody>
          <a:bodyPr wrap="square" rtlCol="0" anchor="ctr"/>
          <a:lstStyle/>
          <a:p>
            <a:pPr algn="ctr" indent="0" marL="0">
              <a:buNone/>
            </a:pPr>
            <a:r>
              <a:rPr lang="en-US" sz="1000" dirty="0">
                <a:solidFill>
                  <a:srgbClr val="1F3864"/>
                </a:solidFill>
                <a:latin typeface="Courier New" pitchFamily="34" charset="0"/>
                <a:ea typeface="Courier New" pitchFamily="34" charset="-122"/>
                <a:cs typeface="Courier New" pitchFamily="34" charset="-120"/>
              </a:rPr>
              <a:t>n ≤ 2⁹</a:t>
            </a:r>
            <a:endParaRPr lang="en-US" sz="1000" dirty="0"/>
          </a:p>
        </p:txBody>
      </p:sp>
      <p:sp>
        <p:nvSpPr>
          <p:cNvPr id="28" name="Text 25"/>
          <p:cNvSpPr/>
          <p:nvPr/>
        </p:nvSpPr>
        <p:spPr>
          <a:xfrm>
            <a:off x="7315200" y="3163824"/>
            <a:ext cx="1463040" cy="384048"/>
          </a:xfrm>
          <a:prstGeom prst="rect">
            <a:avLst/>
          </a:prstGeom>
          <a:noFill/>
          <a:ln/>
        </p:spPr>
        <p:txBody>
          <a:bodyPr wrap="square" rtlCol="0" anchor="ctr"/>
          <a:lstStyle/>
          <a:p>
            <a:pPr algn="ctr" indent="0" marL="0">
              <a:buNone/>
            </a:pPr>
            <a:r>
              <a:rPr lang="en-US" sz="1000" b="1" dirty="0">
                <a:solidFill>
                  <a:srgbClr val="1A7040"/>
                </a:solidFill>
                <a:latin typeface="Calibri" pitchFamily="34" charset="0"/>
                <a:ea typeface="Calibri" pitchFamily="34" charset="-122"/>
                <a:cs typeface="Calibri" pitchFamily="34" charset="-120"/>
              </a:rPr>
              <a:t>pass</a:t>
            </a:r>
            <a:endParaRPr lang="en-US" sz="1000" dirty="0"/>
          </a:p>
        </p:txBody>
      </p:sp>
      <p:sp>
        <p:nvSpPr>
          <p:cNvPr id="29" name="Shape 26"/>
          <p:cNvSpPr/>
          <p:nvPr/>
        </p:nvSpPr>
        <p:spPr>
          <a:xfrm>
            <a:off x="320040" y="3602736"/>
            <a:ext cx="8503920" cy="457200"/>
          </a:xfrm>
          <a:prstGeom prst="rect">
            <a:avLst/>
          </a:prstGeom>
          <a:solidFill>
            <a:srgbClr val="F7FAFC"/>
          </a:solidFill>
          <a:ln w="12700">
            <a:solidFill>
              <a:srgbClr val="F7FAFC"/>
            </a:solidFill>
            <a:prstDash val="solid"/>
          </a:ln>
        </p:spPr>
      </p:sp>
      <p:sp>
        <p:nvSpPr>
          <p:cNvPr id="30" name="Text 27"/>
          <p:cNvSpPr/>
          <p:nvPr/>
        </p:nvSpPr>
        <p:spPr>
          <a:xfrm>
            <a:off x="411480" y="3639312"/>
            <a:ext cx="5532120" cy="384048"/>
          </a:xfrm>
          <a:prstGeom prst="rect">
            <a:avLst/>
          </a:prstGeom>
          <a:noFill/>
          <a:ln/>
        </p:spPr>
        <p:txBody>
          <a:bodyPr wrap="square" rtlCol="0" anchor="ctr"/>
          <a:lstStyle/>
          <a:p>
            <a:pPr indent="0" marL="0">
              <a:buNone/>
            </a:pPr>
            <a:r>
              <a:rPr lang="en-US" sz="1050" dirty="0">
                <a:solidFill>
                  <a:srgbClr val="1A1A1A"/>
                </a:solidFill>
                <a:latin typeface="Calibri" pitchFamily="34" charset="0"/>
                <a:ea typeface="Calibri" pitchFamily="34" charset="-122"/>
                <a:cs typeface="Calibri" pitchFamily="34" charset="-120"/>
              </a:rPr>
              <a:t>GPU NTT matches CPU output element-wise</a:t>
            </a:r>
            <a:endParaRPr lang="en-US" sz="1050" dirty="0"/>
          </a:p>
        </p:txBody>
      </p:sp>
      <p:sp>
        <p:nvSpPr>
          <p:cNvPr id="31" name="Text 28"/>
          <p:cNvSpPr/>
          <p:nvPr/>
        </p:nvSpPr>
        <p:spPr>
          <a:xfrm>
            <a:off x="6035040" y="3639312"/>
            <a:ext cx="1188720" cy="384048"/>
          </a:xfrm>
          <a:prstGeom prst="rect">
            <a:avLst/>
          </a:prstGeom>
          <a:noFill/>
          <a:ln/>
        </p:spPr>
        <p:txBody>
          <a:bodyPr wrap="square" rtlCol="0" anchor="ctr"/>
          <a:lstStyle/>
          <a:p>
            <a:pPr algn="ctr" indent="0" marL="0">
              <a:buNone/>
            </a:pPr>
            <a:r>
              <a:rPr lang="en-US" sz="1000" dirty="0">
                <a:solidFill>
                  <a:srgbClr val="1F3864"/>
                </a:solidFill>
                <a:latin typeface="Courier New" pitchFamily="34" charset="0"/>
                <a:ea typeface="Courier New" pitchFamily="34" charset="-122"/>
                <a:cs typeface="Courier New" pitchFamily="34" charset="-120"/>
              </a:rPr>
              <a:t>2⁴ – 2²⁰</a:t>
            </a:r>
            <a:endParaRPr lang="en-US" sz="1000" dirty="0"/>
          </a:p>
        </p:txBody>
      </p:sp>
      <p:sp>
        <p:nvSpPr>
          <p:cNvPr id="32" name="Text 29"/>
          <p:cNvSpPr/>
          <p:nvPr/>
        </p:nvSpPr>
        <p:spPr>
          <a:xfrm>
            <a:off x="7315200" y="3639312"/>
            <a:ext cx="1463040" cy="384048"/>
          </a:xfrm>
          <a:prstGeom prst="rect">
            <a:avLst/>
          </a:prstGeom>
          <a:noFill/>
          <a:ln/>
        </p:spPr>
        <p:txBody>
          <a:bodyPr wrap="square" rtlCol="0" anchor="ctr"/>
          <a:lstStyle/>
          <a:p>
            <a:pPr algn="ctr" indent="0" marL="0">
              <a:buNone/>
            </a:pPr>
            <a:r>
              <a:rPr lang="en-US" sz="1000" b="1" dirty="0">
                <a:solidFill>
                  <a:srgbClr val="1A7040"/>
                </a:solidFill>
                <a:latin typeface="Calibri" pitchFamily="34" charset="0"/>
                <a:ea typeface="Calibri" pitchFamily="34" charset="-122"/>
                <a:cs typeface="Calibri" pitchFamily="34" charset="-120"/>
              </a:rPr>
              <a:t>pass</a:t>
            </a:r>
            <a:endParaRPr lang="en-US" sz="1000" dirty="0"/>
          </a:p>
        </p:txBody>
      </p:sp>
      <p:sp>
        <p:nvSpPr>
          <p:cNvPr id="33" name="Text 30"/>
          <p:cNvSpPr/>
          <p:nvPr/>
        </p:nvSpPr>
        <p:spPr>
          <a:xfrm>
            <a:off x="411480" y="4114800"/>
            <a:ext cx="5532120" cy="384048"/>
          </a:xfrm>
          <a:prstGeom prst="rect">
            <a:avLst/>
          </a:prstGeom>
          <a:noFill/>
          <a:ln/>
        </p:spPr>
        <p:txBody>
          <a:bodyPr wrap="square" rtlCol="0" anchor="ctr"/>
          <a:lstStyle/>
          <a:p>
            <a:pPr indent="0" marL="0">
              <a:buNone/>
            </a:pPr>
            <a:r>
              <a:rPr lang="en-US" sz="1050" dirty="0">
                <a:solidFill>
                  <a:srgbClr val="1A1A1A"/>
                </a:solidFill>
                <a:latin typeface="Calibri" pitchFamily="34" charset="0"/>
                <a:ea typeface="Calibri" pitchFamily="34" charset="-122"/>
                <a:cs typeface="Calibri" pitchFamily="34" charset="-120"/>
              </a:rPr>
              <a:t>Batch modexp P64 — 1M independent (GPU vs CPU)</a:t>
            </a:r>
            <a:endParaRPr lang="en-US" sz="1050" dirty="0"/>
          </a:p>
        </p:txBody>
      </p:sp>
      <p:sp>
        <p:nvSpPr>
          <p:cNvPr id="34" name="Text 31"/>
          <p:cNvSpPr/>
          <p:nvPr/>
        </p:nvSpPr>
        <p:spPr>
          <a:xfrm>
            <a:off x="6035040" y="4114800"/>
            <a:ext cx="1188720" cy="384048"/>
          </a:xfrm>
          <a:prstGeom prst="rect">
            <a:avLst/>
          </a:prstGeom>
          <a:noFill/>
          <a:ln/>
        </p:spPr>
        <p:txBody>
          <a:bodyPr wrap="square" rtlCol="0" anchor="ctr"/>
          <a:lstStyle/>
          <a:p>
            <a:pPr algn="ctr" indent="0" marL="0">
              <a:buNone/>
            </a:pPr>
            <a:r>
              <a:rPr lang="en-US" sz="1000" dirty="0">
                <a:solidFill>
                  <a:srgbClr val="1F3864"/>
                </a:solidFill>
                <a:latin typeface="Courier New" pitchFamily="34" charset="0"/>
                <a:ea typeface="Courier New" pitchFamily="34" charset="-122"/>
                <a:cs typeface="Courier New" pitchFamily="34" charset="-120"/>
              </a:rPr>
              <a:t>1,048,576</a:t>
            </a:r>
            <a:endParaRPr lang="en-US" sz="1000" dirty="0"/>
          </a:p>
        </p:txBody>
      </p:sp>
      <p:sp>
        <p:nvSpPr>
          <p:cNvPr id="35" name="Text 32"/>
          <p:cNvSpPr/>
          <p:nvPr/>
        </p:nvSpPr>
        <p:spPr>
          <a:xfrm>
            <a:off x="7315200" y="4114800"/>
            <a:ext cx="1463040" cy="384048"/>
          </a:xfrm>
          <a:prstGeom prst="rect">
            <a:avLst/>
          </a:prstGeom>
          <a:noFill/>
          <a:ln/>
        </p:spPr>
        <p:txBody>
          <a:bodyPr wrap="square" rtlCol="0" anchor="ctr"/>
          <a:lstStyle/>
          <a:p>
            <a:pPr algn="ctr" indent="0" marL="0">
              <a:buNone/>
            </a:pPr>
            <a:r>
              <a:rPr lang="en-US" sz="1000" b="1" dirty="0">
                <a:solidFill>
                  <a:srgbClr val="1A7040"/>
                </a:solidFill>
                <a:latin typeface="Calibri" pitchFamily="34" charset="0"/>
                <a:ea typeface="Calibri" pitchFamily="34" charset="-122"/>
                <a:cs typeface="Calibri" pitchFamily="34" charset="-120"/>
              </a:rPr>
              <a:t>0 mismatches</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F3864"/>
          </a:solidFill>
          <a:ln w="12700">
            <a:solidFill>
              <a:srgbClr val="1F3864"/>
            </a:solidFill>
            <a:prstDash val="solid"/>
          </a:ln>
        </p:spPr>
      </p:sp>
      <p:sp>
        <p:nvSpPr>
          <p:cNvPr id="3" name="Shape 1"/>
          <p:cNvSpPr/>
          <p:nvPr/>
        </p:nvSpPr>
        <p:spPr>
          <a:xfrm>
            <a:off x="0" y="822960"/>
            <a:ext cx="9144000" cy="50292"/>
          </a:xfrm>
          <a:prstGeom prst="rect">
            <a:avLst/>
          </a:prstGeom>
          <a:solidFill>
            <a:srgbClr val="FFC000"/>
          </a:solidFill>
          <a:ln w="12700">
            <a:solidFill>
              <a:srgbClr val="FFC000"/>
            </a:solidFill>
            <a:prstDash val="solid"/>
          </a:ln>
        </p:spPr>
      </p:sp>
      <p:sp>
        <p:nvSpPr>
          <p:cNvPr id="4" name="Text 2"/>
          <p:cNvSpPr/>
          <p:nvPr/>
        </p:nvSpPr>
        <p:spPr>
          <a:xfrm>
            <a:off x="347472" y="0"/>
            <a:ext cx="7315200" cy="82296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Performance Results — NVIDIA T4  (sm_75, Colab)</a:t>
            </a:r>
            <a:endParaRPr lang="en-US" sz="2200" dirty="0"/>
          </a:p>
        </p:txBody>
      </p:sp>
      <p:pic>
        <p:nvPicPr>
          <p:cNvPr id="5" name="Image 0" descr="preencoded.png">    </p:cNvPr>
          <p:cNvPicPr>
            <a:picLocks noChangeAspect="1"/>
          </p:cNvPicPr>
          <p:nvPr/>
        </p:nvPicPr>
        <p:blipFill>
          <a:blip r:embed="rId1"/>
          <a:stretch>
            <a:fillRect/>
          </a:stretch>
        </p:blipFill>
        <p:spPr>
          <a:xfrm>
            <a:off x="7909560" y="73152"/>
            <a:ext cx="685800" cy="685800"/>
          </a:xfrm>
          <a:prstGeom prst="rect">
            <a:avLst/>
          </a:prstGeom>
        </p:spPr>
      </p:pic>
      <p:sp>
        <p:nvSpPr>
          <p:cNvPr id="6" name="Shape 3"/>
          <p:cNvSpPr/>
          <p:nvPr/>
        </p:nvSpPr>
        <p:spPr>
          <a:xfrm>
            <a:off x="0" y="4800600"/>
            <a:ext cx="9144000" cy="342900"/>
          </a:xfrm>
          <a:prstGeom prst="rect">
            <a:avLst/>
          </a:prstGeom>
          <a:solidFill>
            <a:srgbClr val="0F1D3A"/>
          </a:solidFill>
          <a:ln w="12700">
            <a:solidFill>
              <a:srgbClr val="0F1D3A"/>
            </a:solidFill>
            <a:prstDash val="solid"/>
          </a:ln>
        </p:spPr>
      </p:sp>
      <p:sp>
        <p:nvSpPr>
          <p:cNvPr id="7" name="Text 4"/>
          <p:cNvSpPr/>
          <p:nvPr/>
        </p:nvSpPr>
        <p:spPr>
          <a:xfrm>
            <a:off x="137160" y="4823460"/>
            <a:ext cx="4114800" cy="274320"/>
          </a:xfrm>
          <a:prstGeom prst="rect">
            <a:avLst/>
          </a:prstGeom>
          <a:noFill/>
          <a:ln/>
        </p:spPr>
        <p:txBody>
          <a:bodyPr wrap="square" rtlCol="0" anchor="ctr"/>
          <a:lstStyle/>
          <a:p>
            <a:pPr indent="0" marL="0">
              <a:buNone/>
            </a:pPr>
            <a:r>
              <a:rPr lang="en-US" sz="1000" dirty="0">
                <a:solidFill>
                  <a:srgbClr val="FFFFFF"/>
                </a:solidFill>
                <a:latin typeface="Calibri" pitchFamily="34" charset="0"/>
                <a:ea typeface="Calibri" pitchFamily="34" charset="-122"/>
                <a:cs typeface="Calibri" pitchFamily="34" charset="-120"/>
              </a:rPr>
              <a:t>ECE 268 – Spring 2026</a:t>
            </a:r>
            <a:endParaRPr lang="en-US" sz="1000" dirty="0"/>
          </a:p>
        </p:txBody>
      </p:sp>
      <p:sp>
        <p:nvSpPr>
          <p:cNvPr id="8" name="Text 5"/>
          <p:cNvSpPr/>
          <p:nvPr/>
        </p:nvSpPr>
        <p:spPr>
          <a:xfrm>
            <a:off x="4754880" y="4823460"/>
            <a:ext cx="4206240" cy="274320"/>
          </a:xfrm>
          <a:prstGeom prst="rect">
            <a:avLst/>
          </a:prstGeom>
          <a:noFill/>
          <a:ln/>
        </p:spPr>
        <p:txBody>
          <a:bodyPr wrap="square" rtlCol="0" anchor="ctr"/>
          <a:lstStyle/>
          <a:p>
            <a:pPr algn="r" indent="0" marL="0">
              <a:buNone/>
            </a:pPr>
            <a:r>
              <a:rPr lang="en-US" sz="1000" dirty="0">
                <a:solidFill>
                  <a:srgbClr val="FFFFFF"/>
                </a:solidFill>
                <a:latin typeface="Calibri" pitchFamily="34" charset="0"/>
                <a:ea typeface="Calibri" pitchFamily="34" charset="-122"/>
                <a:cs typeface="Calibri" pitchFamily="34" charset="-120"/>
              </a:rPr>
              <a:t>Security of Hardware Embedded Systems</a:t>
            </a:r>
            <a:endParaRPr lang="en-US" sz="1000" dirty="0"/>
          </a:p>
        </p:txBody>
      </p:sp>
      <p:sp>
        <p:nvSpPr>
          <p:cNvPr id="9" name="Text 6"/>
          <p:cNvSpPr/>
          <p:nvPr/>
        </p:nvSpPr>
        <p:spPr>
          <a:xfrm>
            <a:off x="365760" y="987552"/>
            <a:ext cx="4846320" cy="256032"/>
          </a:xfrm>
          <a:prstGeom prst="rect">
            <a:avLst/>
          </a:prstGeom>
          <a:noFill/>
          <a:ln/>
        </p:spPr>
        <p:txBody>
          <a:bodyPr wrap="square" rtlCol="0" anchor="ctr"/>
          <a:lstStyle/>
          <a:p>
            <a:pPr indent="0" marL="0">
              <a:buNone/>
            </a:pPr>
            <a:r>
              <a:rPr lang="en-US" sz="1200" b="1" dirty="0">
                <a:solidFill>
                  <a:srgbClr val="1F3864"/>
                </a:solidFill>
                <a:latin typeface="Calibri" pitchFamily="34" charset="0"/>
                <a:ea typeface="Calibri" pitchFamily="34" charset="-122"/>
                <a:cs typeface="Calibri" pitchFamily="34" charset="-120"/>
              </a:rPr>
              <a:t>NTT kernel speedup vs array size</a:t>
            </a:r>
            <a:endParaRPr lang="en-US" sz="1200" dirty="0"/>
          </a:p>
        </p:txBody>
      </p:sp>
      <p:sp>
        <p:nvSpPr>
          <p:cNvPr id="10" name="Shape 7"/>
          <p:cNvSpPr/>
          <p:nvPr/>
        </p:nvSpPr>
        <p:spPr>
          <a:xfrm>
            <a:off x="365760" y="1316736"/>
            <a:ext cx="4846320" cy="1691640"/>
          </a:xfrm>
          <a:prstGeom prst="rect">
            <a:avLst/>
          </a:prstGeom>
          <a:solidFill>
            <a:srgbClr val="F7FAFC"/>
          </a:solidFill>
          <a:ln w="6350">
            <a:solidFill>
              <a:srgbClr val="E0E8F0"/>
            </a:solidFill>
            <a:prstDash val="solid"/>
          </a:ln>
        </p:spPr>
      </p:sp>
      <p:sp>
        <p:nvSpPr>
          <p:cNvPr id="11" name="Shape 8"/>
          <p:cNvSpPr/>
          <p:nvPr/>
        </p:nvSpPr>
        <p:spPr>
          <a:xfrm>
            <a:off x="365760" y="2700805"/>
            <a:ext cx="4846320" cy="0"/>
          </a:xfrm>
          <a:prstGeom prst="line">
            <a:avLst/>
          </a:prstGeom>
          <a:noFill/>
          <a:ln w="6350">
            <a:solidFill>
              <a:srgbClr val="DDDDDD"/>
            </a:solidFill>
            <a:prstDash val="solid"/>
          </a:ln>
        </p:spPr>
      </p:sp>
      <p:sp>
        <p:nvSpPr>
          <p:cNvPr id="12" name="Text 9"/>
          <p:cNvSpPr/>
          <p:nvPr/>
        </p:nvSpPr>
        <p:spPr>
          <a:xfrm>
            <a:off x="18288" y="2609365"/>
            <a:ext cx="329184" cy="182880"/>
          </a:xfrm>
          <a:prstGeom prst="rect">
            <a:avLst/>
          </a:prstGeom>
          <a:noFill/>
          <a:ln/>
        </p:spPr>
        <p:txBody>
          <a:bodyPr wrap="square" rtlCol="0" anchor="ctr"/>
          <a:lstStyle/>
          <a:p>
            <a:pPr algn="r" indent="0" marL="0">
              <a:buNone/>
            </a:pPr>
            <a:r>
              <a:rPr lang="en-US" sz="800" dirty="0">
                <a:solidFill>
                  <a:srgbClr val="555555"/>
                </a:solidFill>
              </a:rPr>
              <a:t>10×</a:t>
            </a:r>
            <a:endParaRPr lang="en-US" sz="800" dirty="0"/>
          </a:p>
        </p:txBody>
      </p:sp>
      <p:sp>
        <p:nvSpPr>
          <p:cNvPr id="13" name="Shape 10"/>
          <p:cNvSpPr/>
          <p:nvPr/>
        </p:nvSpPr>
        <p:spPr>
          <a:xfrm>
            <a:off x="365760" y="2393234"/>
            <a:ext cx="4846320" cy="0"/>
          </a:xfrm>
          <a:prstGeom prst="line">
            <a:avLst/>
          </a:prstGeom>
          <a:noFill/>
          <a:ln w="6350">
            <a:solidFill>
              <a:srgbClr val="DDDDDD"/>
            </a:solidFill>
            <a:prstDash val="solid"/>
          </a:ln>
        </p:spPr>
      </p:sp>
      <p:sp>
        <p:nvSpPr>
          <p:cNvPr id="14" name="Text 11"/>
          <p:cNvSpPr/>
          <p:nvPr/>
        </p:nvSpPr>
        <p:spPr>
          <a:xfrm>
            <a:off x="18288" y="2301794"/>
            <a:ext cx="329184" cy="182880"/>
          </a:xfrm>
          <a:prstGeom prst="rect">
            <a:avLst/>
          </a:prstGeom>
          <a:noFill/>
          <a:ln/>
        </p:spPr>
        <p:txBody>
          <a:bodyPr wrap="square" rtlCol="0" anchor="ctr"/>
          <a:lstStyle/>
          <a:p>
            <a:pPr algn="r" indent="0" marL="0">
              <a:buNone/>
            </a:pPr>
            <a:r>
              <a:rPr lang="en-US" sz="800" dirty="0">
                <a:solidFill>
                  <a:srgbClr val="555555"/>
                </a:solidFill>
              </a:rPr>
              <a:t>20×</a:t>
            </a:r>
            <a:endParaRPr lang="en-US" sz="800" dirty="0"/>
          </a:p>
        </p:txBody>
      </p:sp>
      <p:sp>
        <p:nvSpPr>
          <p:cNvPr id="15" name="Shape 12"/>
          <p:cNvSpPr/>
          <p:nvPr/>
        </p:nvSpPr>
        <p:spPr>
          <a:xfrm>
            <a:off x="365760" y="2085663"/>
            <a:ext cx="4846320" cy="0"/>
          </a:xfrm>
          <a:prstGeom prst="line">
            <a:avLst/>
          </a:prstGeom>
          <a:noFill/>
          <a:ln w="6350">
            <a:solidFill>
              <a:srgbClr val="DDDDDD"/>
            </a:solidFill>
            <a:prstDash val="solid"/>
          </a:ln>
        </p:spPr>
      </p:sp>
      <p:sp>
        <p:nvSpPr>
          <p:cNvPr id="16" name="Text 13"/>
          <p:cNvSpPr/>
          <p:nvPr/>
        </p:nvSpPr>
        <p:spPr>
          <a:xfrm>
            <a:off x="18288" y="1994223"/>
            <a:ext cx="329184" cy="182880"/>
          </a:xfrm>
          <a:prstGeom prst="rect">
            <a:avLst/>
          </a:prstGeom>
          <a:noFill/>
          <a:ln/>
        </p:spPr>
        <p:txBody>
          <a:bodyPr wrap="square" rtlCol="0" anchor="ctr"/>
          <a:lstStyle/>
          <a:p>
            <a:pPr algn="r" indent="0" marL="0">
              <a:buNone/>
            </a:pPr>
            <a:r>
              <a:rPr lang="en-US" sz="800" dirty="0">
                <a:solidFill>
                  <a:srgbClr val="555555"/>
                </a:solidFill>
              </a:rPr>
              <a:t>30×</a:t>
            </a:r>
            <a:endParaRPr lang="en-US" sz="800" dirty="0"/>
          </a:p>
        </p:txBody>
      </p:sp>
      <p:sp>
        <p:nvSpPr>
          <p:cNvPr id="17" name="Shape 14"/>
          <p:cNvSpPr/>
          <p:nvPr/>
        </p:nvSpPr>
        <p:spPr>
          <a:xfrm>
            <a:off x="365760" y="1778092"/>
            <a:ext cx="4846320" cy="0"/>
          </a:xfrm>
          <a:prstGeom prst="line">
            <a:avLst/>
          </a:prstGeom>
          <a:noFill/>
          <a:ln w="6350">
            <a:solidFill>
              <a:srgbClr val="DDDDDD"/>
            </a:solidFill>
            <a:prstDash val="solid"/>
          </a:ln>
        </p:spPr>
      </p:sp>
      <p:sp>
        <p:nvSpPr>
          <p:cNvPr id="18" name="Text 15"/>
          <p:cNvSpPr/>
          <p:nvPr/>
        </p:nvSpPr>
        <p:spPr>
          <a:xfrm>
            <a:off x="18288" y="1686652"/>
            <a:ext cx="329184" cy="182880"/>
          </a:xfrm>
          <a:prstGeom prst="rect">
            <a:avLst/>
          </a:prstGeom>
          <a:noFill/>
          <a:ln/>
        </p:spPr>
        <p:txBody>
          <a:bodyPr wrap="square" rtlCol="0" anchor="ctr"/>
          <a:lstStyle/>
          <a:p>
            <a:pPr algn="r" indent="0" marL="0">
              <a:buNone/>
            </a:pPr>
            <a:r>
              <a:rPr lang="en-US" sz="800" dirty="0">
                <a:solidFill>
                  <a:srgbClr val="555555"/>
                </a:solidFill>
              </a:rPr>
              <a:t>40×</a:t>
            </a:r>
            <a:endParaRPr lang="en-US" sz="800" dirty="0"/>
          </a:p>
        </p:txBody>
      </p:sp>
      <p:sp>
        <p:nvSpPr>
          <p:cNvPr id="19" name="Shape 16"/>
          <p:cNvSpPr/>
          <p:nvPr/>
        </p:nvSpPr>
        <p:spPr>
          <a:xfrm>
            <a:off x="365760" y="1409007"/>
            <a:ext cx="4846320" cy="0"/>
          </a:xfrm>
          <a:prstGeom prst="line">
            <a:avLst/>
          </a:prstGeom>
          <a:noFill/>
          <a:ln w="6350">
            <a:solidFill>
              <a:srgbClr val="DDDDDD"/>
            </a:solidFill>
            <a:prstDash val="solid"/>
          </a:ln>
        </p:spPr>
      </p:sp>
      <p:sp>
        <p:nvSpPr>
          <p:cNvPr id="20" name="Text 17"/>
          <p:cNvSpPr/>
          <p:nvPr/>
        </p:nvSpPr>
        <p:spPr>
          <a:xfrm>
            <a:off x="18288" y="1317567"/>
            <a:ext cx="329184" cy="182880"/>
          </a:xfrm>
          <a:prstGeom prst="rect">
            <a:avLst/>
          </a:prstGeom>
          <a:noFill/>
          <a:ln/>
        </p:spPr>
        <p:txBody>
          <a:bodyPr wrap="square" rtlCol="0" anchor="ctr"/>
          <a:lstStyle/>
          <a:p>
            <a:pPr algn="r" indent="0" marL="0">
              <a:buNone/>
            </a:pPr>
            <a:r>
              <a:rPr lang="en-US" sz="800" dirty="0">
                <a:solidFill>
                  <a:srgbClr val="555555"/>
                </a:solidFill>
              </a:rPr>
              <a:t>52×</a:t>
            </a:r>
            <a:endParaRPr lang="en-US" sz="800" dirty="0"/>
          </a:p>
        </p:txBody>
      </p:sp>
      <p:sp>
        <p:nvSpPr>
          <p:cNvPr id="21" name="Shape 18"/>
          <p:cNvSpPr/>
          <p:nvPr/>
        </p:nvSpPr>
        <p:spPr>
          <a:xfrm>
            <a:off x="462686" y="2980695"/>
            <a:ext cx="498479" cy="27681"/>
          </a:xfrm>
          <a:prstGeom prst="rect">
            <a:avLst/>
          </a:prstGeom>
          <a:solidFill>
            <a:srgbClr val="1F3864"/>
          </a:solidFill>
          <a:ln w="12700">
            <a:solidFill>
              <a:srgbClr val="1F3864"/>
            </a:solidFill>
            <a:prstDash val="solid"/>
          </a:ln>
        </p:spPr>
      </p:sp>
      <p:sp>
        <p:nvSpPr>
          <p:cNvPr id="22" name="Text 19"/>
          <p:cNvSpPr/>
          <p:nvPr/>
        </p:nvSpPr>
        <p:spPr>
          <a:xfrm>
            <a:off x="428070" y="3044952"/>
            <a:ext cx="567712" cy="164592"/>
          </a:xfrm>
          <a:prstGeom prst="rect">
            <a:avLst/>
          </a:prstGeom>
          <a:noFill/>
          <a:ln/>
        </p:spPr>
        <p:txBody>
          <a:bodyPr wrap="square" rtlCol="0" anchor="ctr"/>
          <a:lstStyle/>
          <a:p>
            <a:pPr algn="ctr" indent="0" marL="0">
              <a:buNone/>
            </a:pPr>
            <a:r>
              <a:rPr lang="en-US" sz="800" dirty="0">
                <a:solidFill>
                  <a:srgbClr val="555555"/>
                </a:solidFill>
              </a:rPr>
              <a:t>2¹⁰</a:t>
            </a:r>
            <a:endParaRPr lang="en-US" sz="800" dirty="0"/>
          </a:p>
        </p:txBody>
      </p:sp>
      <p:sp>
        <p:nvSpPr>
          <p:cNvPr id="23" name="Shape 20"/>
          <p:cNvSpPr/>
          <p:nvPr/>
        </p:nvSpPr>
        <p:spPr>
          <a:xfrm>
            <a:off x="1155018" y="2909953"/>
            <a:ext cx="498479" cy="98423"/>
          </a:xfrm>
          <a:prstGeom prst="rect">
            <a:avLst/>
          </a:prstGeom>
          <a:solidFill>
            <a:srgbClr val="1F3864"/>
          </a:solidFill>
          <a:ln w="12700">
            <a:solidFill>
              <a:srgbClr val="1F3864"/>
            </a:solidFill>
            <a:prstDash val="solid"/>
          </a:ln>
        </p:spPr>
      </p:sp>
      <p:sp>
        <p:nvSpPr>
          <p:cNvPr id="24" name="Text 21"/>
          <p:cNvSpPr/>
          <p:nvPr/>
        </p:nvSpPr>
        <p:spPr>
          <a:xfrm>
            <a:off x="1120401" y="3044952"/>
            <a:ext cx="567712" cy="164592"/>
          </a:xfrm>
          <a:prstGeom prst="rect">
            <a:avLst/>
          </a:prstGeom>
          <a:noFill/>
          <a:ln/>
        </p:spPr>
        <p:txBody>
          <a:bodyPr wrap="square" rtlCol="0" anchor="ctr"/>
          <a:lstStyle/>
          <a:p>
            <a:pPr algn="ctr" indent="0" marL="0">
              <a:buNone/>
            </a:pPr>
            <a:r>
              <a:rPr lang="en-US" sz="800" dirty="0">
                <a:solidFill>
                  <a:srgbClr val="555555"/>
                </a:solidFill>
              </a:rPr>
              <a:t>2¹²</a:t>
            </a:r>
            <a:endParaRPr lang="en-US" sz="800" dirty="0"/>
          </a:p>
        </p:txBody>
      </p:sp>
      <p:sp>
        <p:nvSpPr>
          <p:cNvPr id="25" name="Shape 22"/>
          <p:cNvSpPr/>
          <p:nvPr/>
        </p:nvSpPr>
        <p:spPr>
          <a:xfrm>
            <a:off x="1847349" y="2670048"/>
            <a:ext cx="498479" cy="338328"/>
          </a:xfrm>
          <a:prstGeom prst="rect">
            <a:avLst/>
          </a:prstGeom>
          <a:solidFill>
            <a:srgbClr val="1F3864"/>
          </a:solidFill>
          <a:ln w="12700">
            <a:solidFill>
              <a:srgbClr val="1F3864"/>
            </a:solidFill>
            <a:prstDash val="solid"/>
          </a:ln>
        </p:spPr>
      </p:sp>
      <p:sp>
        <p:nvSpPr>
          <p:cNvPr id="26" name="Text 23"/>
          <p:cNvSpPr/>
          <p:nvPr/>
        </p:nvSpPr>
        <p:spPr>
          <a:xfrm>
            <a:off x="1812733" y="3044952"/>
            <a:ext cx="567712" cy="164592"/>
          </a:xfrm>
          <a:prstGeom prst="rect">
            <a:avLst/>
          </a:prstGeom>
          <a:noFill/>
          <a:ln/>
        </p:spPr>
        <p:txBody>
          <a:bodyPr wrap="square" rtlCol="0" anchor="ctr"/>
          <a:lstStyle/>
          <a:p>
            <a:pPr algn="ctr" indent="0" marL="0">
              <a:buNone/>
            </a:pPr>
            <a:r>
              <a:rPr lang="en-US" sz="800" dirty="0">
                <a:solidFill>
                  <a:srgbClr val="555555"/>
                </a:solidFill>
              </a:rPr>
              <a:t>2¹⁴</a:t>
            </a:r>
            <a:endParaRPr lang="en-US" sz="800" dirty="0"/>
          </a:p>
        </p:txBody>
      </p:sp>
      <p:sp>
        <p:nvSpPr>
          <p:cNvPr id="27" name="Shape 24"/>
          <p:cNvSpPr/>
          <p:nvPr/>
        </p:nvSpPr>
        <p:spPr>
          <a:xfrm>
            <a:off x="2539681" y="2177935"/>
            <a:ext cx="498479" cy="830441"/>
          </a:xfrm>
          <a:prstGeom prst="rect">
            <a:avLst/>
          </a:prstGeom>
          <a:solidFill>
            <a:srgbClr val="1F3864"/>
          </a:solidFill>
          <a:ln w="12700">
            <a:solidFill>
              <a:srgbClr val="1F3864"/>
            </a:solidFill>
            <a:prstDash val="solid"/>
          </a:ln>
        </p:spPr>
      </p:sp>
      <p:sp>
        <p:nvSpPr>
          <p:cNvPr id="28" name="Text 25"/>
          <p:cNvSpPr/>
          <p:nvPr/>
        </p:nvSpPr>
        <p:spPr>
          <a:xfrm>
            <a:off x="2505064" y="3044952"/>
            <a:ext cx="567712" cy="164592"/>
          </a:xfrm>
          <a:prstGeom prst="rect">
            <a:avLst/>
          </a:prstGeom>
          <a:noFill/>
          <a:ln/>
        </p:spPr>
        <p:txBody>
          <a:bodyPr wrap="square" rtlCol="0" anchor="ctr"/>
          <a:lstStyle/>
          <a:p>
            <a:pPr algn="ctr" indent="0" marL="0">
              <a:buNone/>
            </a:pPr>
            <a:r>
              <a:rPr lang="en-US" sz="800" dirty="0">
                <a:solidFill>
                  <a:srgbClr val="555555"/>
                </a:solidFill>
              </a:rPr>
              <a:t>2¹⁶</a:t>
            </a:r>
            <a:endParaRPr lang="en-US" sz="800" dirty="0"/>
          </a:p>
        </p:txBody>
      </p:sp>
      <p:sp>
        <p:nvSpPr>
          <p:cNvPr id="29" name="Shape 26"/>
          <p:cNvSpPr/>
          <p:nvPr/>
        </p:nvSpPr>
        <p:spPr>
          <a:xfrm>
            <a:off x="3232012" y="1409007"/>
            <a:ext cx="498479" cy="1599369"/>
          </a:xfrm>
          <a:prstGeom prst="rect">
            <a:avLst/>
          </a:prstGeom>
          <a:solidFill>
            <a:srgbClr val="FFC000"/>
          </a:solidFill>
          <a:ln w="12700">
            <a:solidFill>
              <a:srgbClr val="FFC000"/>
            </a:solidFill>
            <a:prstDash val="solid"/>
          </a:ln>
        </p:spPr>
      </p:sp>
      <p:sp>
        <p:nvSpPr>
          <p:cNvPr id="30" name="Text 27"/>
          <p:cNvSpPr/>
          <p:nvPr/>
        </p:nvSpPr>
        <p:spPr>
          <a:xfrm>
            <a:off x="3197396" y="3044952"/>
            <a:ext cx="567712" cy="164592"/>
          </a:xfrm>
          <a:prstGeom prst="rect">
            <a:avLst/>
          </a:prstGeom>
          <a:noFill/>
          <a:ln/>
        </p:spPr>
        <p:txBody>
          <a:bodyPr wrap="square" rtlCol="0" anchor="ctr"/>
          <a:lstStyle/>
          <a:p>
            <a:pPr algn="ctr" indent="0" marL="0">
              <a:buNone/>
            </a:pPr>
            <a:r>
              <a:rPr lang="en-US" sz="800" dirty="0">
                <a:solidFill>
                  <a:srgbClr val="555555"/>
                </a:solidFill>
              </a:rPr>
              <a:t>2¹⁸</a:t>
            </a:r>
            <a:endParaRPr lang="en-US" sz="800" dirty="0"/>
          </a:p>
        </p:txBody>
      </p:sp>
      <p:sp>
        <p:nvSpPr>
          <p:cNvPr id="31" name="Text 28"/>
          <p:cNvSpPr/>
          <p:nvPr/>
        </p:nvSpPr>
        <p:spPr>
          <a:xfrm>
            <a:off x="3197396" y="1098111"/>
            <a:ext cx="567712" cy="292608"/>
          </a:xfrm>
          <a:prstGeom prst="rect">
            <a:avLst/>
          </a:prstGeom>
          <a:noFill/>
          <a:ln/>
        </p:spPr>
        <p:txBody>
          <a:bodyPr wrap="square" rtlCol="0" anchor="ctr"/>
          <a:lstStyle/>
          <a:p>
            <a:pPr algn="ctr" indent="0" marL="0">
              <a:buNone/>
            </a:pPr>
            <a:r>
              <a:rPr lang="en-US" sz="800" b="1" dirty="0">
                <a:solidFill>
                  <a:srgbClr val="FFC000"/>
                </a:solidFill>
              </a:rPr>
              <a:t>peak</a:t>
            </a:r>
            <a:endParaRPr lang="en-US" sz="800" dirty="0"/>
          </a:p>
          <a:p>
            <a:pPr algn="ctr" indent="0" marL="0">
              <a:buNone/>
            </a:pPr>
            <a:r>
              <a:rPr lang="en-US" sz="800" b="1" dirty="0">
                <a:solidFill>
                  <a:srgbClr val="FFC000"/>
                </a:solidFill>
              </a:rPr>
              <a:t>52×</a:t>
            </a:r>
            <a:endParaRPr lang="en-US" sz="800" dirty="0"/>
          </a:p>
        </p:txBody>
      </p:sp>
      <p:sp>
        <p:nvSpPr>
          <p:cNvPr id="32" name="Shape 29"/>
          <p:cNvSpPr/>
          <p:nvPr/>
        </p:nvSpPr>
        <p:spPr>
          <a:xfrm>
            <a:off x="3924344" y="1931878"/>
            <a:ext cx="498479" cy="1076498"/>
          </a:xfrm>
          <a:prstGeom prst="rect">
            <a:avLst/>
          </a:prstGeom>
          <a:solidFill>
            <a:srgbClr val="1F3864"/>
          </a:solidFill>
          <a:ln w="12700">
            <a:solidFill>
              <a:srgbClr val="1F3864"/>
            </a:solidFill>
            <a:prstDash val="solid"/>
          </a:ln>
        </p:spPr>
      </p:sp>
      <p:sp>
        <p:nvSpPr>
          <p:cNvPr id="33" name="Text 30"/>
          <p:cNvSpPr/>
          <p:nvPr/>
        </p:nvSpPr>
        <p:spPr>
          <a:xfrm>
            <a:off x="3889727" y="3044952"/>
            <a:ext cx="567712" cy="164592"/>
          </a:xfrm>
          <a:prstGeom prst="rect">
            <a:avLst/>
          </a:prstGeom>
          <a:noFill/>
          <a:ln/>
        </p:spPr>
        <p:txBody>
          <a:bodyPr wrap="square" rtlCol="0" anchor="ctr"/>
          <a:lstStyle/>
          <a:p>
            <a:pPr algn="ctr" indent="0" marL="0">
              <a:buNone/>
            </a:pPr>
            <a:r>
              <a:rPr lang="en-US" sz="800" dirty="0">
                <a:solidFill>
                  <a:srgbClr val="555555"/>
                </a:solidFill>
              </a:rPr>
              <a:t>2²⁰</a:t>
            </a:r>
            <a:endParaRPr lang="en-US" sz="800" dirty="0"/>
          </a:p>
        </p:txBody>
      </p:sp>
      <p:sp>
        <p:nvSpPr>
          <p:cNvPr id="34" name="Shape 31"/>
          <p:cNvSpPr/>
          <p:nvPr/>
        </p:nvSpPr>
        <p:spPr>
          <a:xfrm>
            <a:off x="4616675" y="1778092"/>
            <a:ext cx="498479" cy="1230284"/>
          </a:xfrm>
          <a:prstGeom prst="rect">
            <a:avLst/>
          </a:prstGeom>
          <a:solidFill>
            <a:srgbClr val="1F3864"/>
          </a:solidFill>
          <a:ln w="12700">
            <a:solidFill>
              <a:srgbClr val="1F3864"/>
            </a:solidFill>
            <a:prstDash val="solid"/>
          </a:ln>
        </p:spPr>
      </p:sp>
      <p:sp>
        <p:nvSpPr>
          <p:cNvPr id="35" name="Text 32"/>
          <p:cNvSpPr/>
          <p:nvPr/>
        </p:nvSpPr>
        <p:spPr>
          <a:xfrm>
            <a:off x="4582058" y="3044952"/>
            <a:ext cx="567712" cy="164592"/>
          </a:xfrm>
          <a:prstGeom prst="rect">
            <a:avLst/>
          </a:prstGeom>
          <a:noFill/>
          <a:ln/>
        </p:spPr>
        <p:txBody>
          <a:bodyPr wrap="square" rtlCol="0" anchor="ctr"/>
          <a:lstStyle/>
          <a:p>
            <a:pPr algn="ctr" indent="0" marL="0">
              <a:buNone/>
            </a:pPr>
            <a:r>
              <a:rPr lang="en-US" sz="800" dirty="0">
                <a:solidFill>
                  <a:srgbClr val="555555"/>
                </a:solidFill>
              </a:rPr>
              <a:t>2²²</a:t>
            </a:r>
            <a:endParaRPr lang="en-US" sz="800" dirty="0"/>
          </a:p>
        </p:txBody>
      </p:sp>
      <p:sp>
        <p:nvSpPr>
          <p:cNvPr id="36" name="Text 33"/>
          <p:cNvSpPr/>
          <p:nvPr/>
        </p:nvSpPr>
        <p:spPr>
          <a:xfrm>
            <a:off x="2606040" y="3246120"/>
            <a:ext cx="365760" cy="164592"/>
          </a:xfrm>
          <a:prstGeom prst="rect">
            <a:avLst/>
          </a:prstGeom>
          <a:noFill/>
          <a:ln/>
        </p:spPr>
        <p:txBody>
          <a:bodyPr wrap="square" rtlCol="0" anchor="ctr"/>
          <a:lstStyle/>
          <a:p>
            <a:pPr algn="ctr" indent="0" marL="0">
              <a:buNone/>
            </a:pPr>
            <a:r>
              <a:rPr lang="en-US" sz="900" i="1" dirty="0">
                <a:solidFill>
                  <a:srgbClr val="555555"/>
                </a:solidFill>
              </a:rPr>
              <a:t>n</a:t>
            </a:r>
            <a:endParaRPr lang="en-US" sz="900" dirty="0"/>
          </a:p>
        </p:txBody>
      </p:sp>
      <p:sp>
        <p:nvSpPr>
          <p:cNvPr id="37" name="Shape 34"/>
          <p:cNvSpPr/>
          <p:nvPr/>
        </p:nvSpPr>
        <p:spPr>
          <a:xfrm>
            <a:off x="365760" y="3145536"/>
            <a:ext cx="4846320" cy="0"/>
          </a:xfrm>
          <a:prstGeom prst="line">
            <a:avLst/>
          </a:prstGeom>
          <a:noFill/>
          <a:ln w="9525">
            <a:solidFill>
              <a:srgbClr val="E0E8F0"/>
            </a:solidFill>
            <a:prstDash val="solid"/>
          </a:ln>
        </p:spPr>
      </p:sp>
      <p:sp>
        <p:nvSpPr>
          <p:cNvPr id="38" name="Text 35"/>
          <p:cNvSpPr/>
          <p:nvPr/>
        </p:nvSpPr>
        <p:spPr>
          <a:xfrm>
            <a:off x="365760" y="3200400"/>
            <a:ext cx="4846320" cy="566928"/>
          </a:xfrm>
          <a:prstGeom prst="rect">
            <a:avLst/>
          </a:prstGeom>
          <a:noFill/>
          <a:ln/>
        </p:spPr>
        <p:txBody>
          <a:bodyPr wrap="square" rtlCol="0" anchor="ctr"/>
          <a:lstStyle/>
          <a:p>
            <a:pPr indent="0" marL="0">
              <a:buNone/>
            </a:pPr>
            <a:r>
              <a:rPr lang="en-US" sz="1050" dirty="0">
                <a:solidFill>
                  <a:srgbClr val="1A1A1A"/>
                </a:solidFill>
                <a:latin typeface="Calibri" pitchFamily="34" charset="0"/>
                <a:ea typeface="Calibri" pitchFamily="34" charset="-122"/>
                <a:cs typeface="Calibri" pitchFamily="34" charset="-120"/>
              </a:rPr>
              <a:t>GPU &lt; CPU at n=2¹⁰ — kernel launch overhead not yet amortized. Peak 52× at n=2¹⁸ — working set fits in T4 L2. Above 2¹⁸: memory-bandwidth-bound, speedup dips.</a:t>
            </a:r>
            <a:endParaRPr lang="en-US" sz="1050" dirty="0"/>
          </a:p>
        </p:txBody>
      </p:sp>
      <p:sp>
        <p:nvSpPr>
          <p:cNvPr id="39" name="Text 36"/>
          <p:cNvSpPr/>
          <p:nvPr/>
        </p:nvSpPr>
        <p:spPr>
          <a:xfrm>
            <a:off x="5486400" y="987552"/>
            <a:ext cx="3383280" cy="256032"/>
          </a:xfrm>
          <a:prstGeom prst="rect">
            <a:avLst/>
          </a:prstGeom>
          <a:noFill/>
          <a:ln/>
        </p:spPr>
        <p:txBody>
          <a:bodyPr wrap="square" rtlCol="0" anchor="ctr"/>
          <a:lstStyle/>
          <a:p>
            <a:pPr indent="0" marL="0">
              <a:buNone/>
            </a:pPr>
            <a:r>
              <a:rPr lang="en-US" sz="1200" b="1" dirty="0">
                <a:solidFill>
                  <a:srgbClr val="1F3864"/>
                </a:solidFill>
                <a:latin typeface="Calibri" pitchFamily="34" charset="0"/>
                <a:ea typeface="Calibri" pitchFamily="34" charset="-122"/>
                <a:cs typeface="Calibri" pitchFamily="34" charset="-120"/>
              </a:rPr>
              <a:t>Summary of measured speedups</a:t>
            </a:r>
            <a:endParaRPr lang="en-US" sz="1200" dirty="0"/>
          </a:p>
        </p:txBody>
      </p:sp>
      <p:sp>
        <p:nvSpPr>
          <p:cNvPr id="40" name="Shape 37"/>
          <p:cNvSpPr/>
          <p:nvPr/>
        </p:nvSpPr>
        <p:spPr>
          <a:xfrm>
            <a:off x="5486400" y="1261872"/>
            <a:ext cx="3200400" cy="0"/>
          </a:xfrm>
          <a:prstGeom prst="line">
            <a:avLst/>
          </a:prstGeom>
          <a:noFill/>
          <a:ln w="19050">
            <a:solidFill>
              <a:srgbClr val="FFC000"/>
            </a:solidFill>
            <a:prstDash val="solid"/>
          </a:ln>
        </p:spPr>
      </p:sp>
      <p:sp>
        <p:nvSpPr>
          <p:cNvPr id="41" name="Text 38"/>
          <p:cNvSpPr/>
          <p:nvPr/>
        </p:nvSpPr>
        <p:spPr>
          <a:xfrm>
            <a:off x="5486400" y="1417320"/>
            <a:ext cx="3383280" cy="256032"/>
          </a:xfrm>
          <a:prstGeom prst="rect">
            <a:avLst/>
          </a:prstGeom>
          <a:noFill/>
          <a:ln/>
        </p:spPr>
        <p:txBody>
          <a:bodyPr wrap="square" rtlCol="0" anchor="ctr"/>
          <a:lstStyle/>
          <a:p>
            <a:pPr indent="0" marL="0">
              <a:buNone/>
            </a:pPr>
            <a:r>
              <a:rPr lang="en-US" sz="1100" dirty="0">
                <a:solidFill>
                  <a:srgbClr val="1A1A1A"/>
                </a:solidFill>
                <a:latin typeface="Calibri" pitchFamily="34" charset="0"/>
                <a:ea typeface="Calibri" pitchFamily="34" charset="-122"/>
                <a:cs typeface="Calibri" pitchFamily="34" charset="-120"/>
              </a:rPr>
              <a:t>Barrett modmul (n=4M)</a:t>
            </a:r>
            <a:endParaRPr lang="en-US" sz="1100" dirty="0"/>
          </a:p>
        </p:txBody>
      </p:sp>
      <p:sp>
        <p:nvSpPr>
          <p:cNvPr id="42" name="Text 39"/>
          <p:cNvSpPr/>
          <p:nvPr/>
        </p:nvSpPr>
        <p:spPr>
          <a:xfrm>
            <a:off x="5486400" y="1682496"/>
            <a:ext cx="914400" cy="347472"/>
          </a:xfrm>
          <a:prstGeom prst="rect">
            <a:avLst/>
          </a:prstGeom>
          <a:noFill/>
          <a:ln/>
        </p:spPr>
        <p:txBody>
          <a:bodyPr wrap="square" rtlCol="0" anchor="ctr"/>
          <a:lstStyle/>
          <a:p>
            <a:pPr indent="0" marL="0">
              <a:buNone/>
            </a:pPr>
            <a:r>
              <a:rPr lang="en-US" sz="2200" b="1" dirty="0">
                <a:solidFill>
                  <a:srgbClr val="1F3864"/>
                </a:solidFill>
                <a:latin typeface="Calibri" pitchFamily="34" charset="0"/>
                <a:ea typeface="Calibri" pitchFamily="34" charset="-122"/>
                <a:cs typeface="Calibri" pitchFamily="34" charset="-120"/>
              </a:rPr>
              <a:t>569×</a:t>
            </a:r>
            <a:endParaRPr lang="en-US" sz="2200" dirty="0"/>
          </a:p>
        </p:txBody>
      </p:sp>
      <p:sp>
        <p:nvSpPr>
          <p:cNvPr id="43" name="Text 40"/>
          <p:cNvSpPr/>
          <p:nvPr/>
        </p:nvSpPr>
        <p:spPr>
          <a:xfrm>
            <a:off x="6446520" y="1737360"/>
            <a:ext cx="2377440" cy="256032"/>
          </a:xfrm>
          <a:prstGeom prst="rect">
            <a:avLst/>
          </a:prstGeom>
          <a:noFill/>
          <a:ln/>
        </p:spPr>
        <p:txBody>
          <a:bodyPr wrap="square" rtlCol="0" anchor="ctr"/>
          <a:lstStyle/>
          <a:p>
            <a:pPr indent="0" marL="0">
              <a:buNone/>
            </a:pPr>
            <a:r>
              <a:rPr lang="en-US" sz="950" dirty="0">
                <a:solidFill>
                  <a:srgbClr val="555555"/>
                </a:solidFill>
                <a:latin typeface="Calibri" pitchFamily="34" charset="0"/>
                <a:ea typeface="Calibri" pitchFamily="34" charset="-122"/>
                <a:cs typeface="Calibri" pitchFamily="34" charset="-120"/>
              </a:rPr>
              <a:t>131 Gops/s vs 0.23 Gops/s</a:t>
            </a:r>
            <a:endParaRPr lang="en-US" sz="950" dirty="0"/>
          </a:p>
        </p:txBody>
      </p:sp>
      <p:sp>
        <p:nvSpPr>
          <p:cNvPr id="44" name="Shape 41"/>
          <p:cNvSpPr/>
          <p:nvPr/>
        </p:nvSpPr>
        <p:spPr>
          <a:xfrm>
            <a:off x="5486400" y="2093976"/>
            <a:ext cx="3291840" cy="0"/>
          </a:xfrm>
          <a:prstGeom prst="line">
            <a:avLst/>
          </a:prstGeom>
          <a:noFill/>
          <a:ln w="6350">
            <a:solidFill>
              <a:srgbClr val="E0E8F0"/>
            </a:solidFill>
            <a:prstDash val="solid"/>
          </a:ln>
        </p:spPr>
      </p:sp>
      <p:sp>
        <p:nvSpPr>
          <p:cNvPr id="45" name="Text 42"/>
          <p:cNvSpPr/>
          <p:nvPr/>
        </p:nvSpPr>
        <p:spPr>
          <a:xfrm>
            <a:off x="5486400" y="2221992"/>
            <a:ext cx="3383280" cy="256032"/>
          </a:xfrm>
          <a:prstGeom prst="rect">
            <a:avLst/>
          </a:prstGeom>
          <a:noFill/>
          <a:ln/>
        </p:spPr>
        <p:txBody>
          <a:bodyPr wrap="square" rtlCol="0" anchor="ctr"/>
          <a:lstStyle/>
          <a:p>
            <a:pPr indent="0" marL="0">
              <a:buNone/>
            </a:pPr>
            <a:r>
              <a:rPr lang="en-US" sz="1100" dirty="0">
                <a:solidFill>
                  <a:srgbClr val="1A1A1A"/>
                </a:solidFill>
                <a:latin typeface="Calibri" pitchFamily="34" charset="0"/>
                <a:ea typeface="Calibri" pitchFamily="34" charset="-122"/>
                <a:cs typeface="Calibri" pitchFamily="34" charset="-120"/>
              </a:rPr>
              <a:t>NTT kernel peak (n=2¹⁸)</a:t>
            </a:r>
            <a:endParaRPr lang="en-US" sz="1100" dirty="0"/>
          </a:p>
        </p:txBody>
      </p:sp>
      <p:sp>
        <p:nvSpPr>
          <p:cNvPr id="46" name="Text 43"/>
          <p:cNvSpPr/>
          <p:nvPr/>
        </p:nvSpPr>
        <p:spPr>
          <a:xfrm>
            <a:off x="5486400" y="2487168"/>
            <a:ext cx="914400" cy="347472"/>
          </a:xfrm>
          <a:prstGeom prst="rect">
            <a:avLst/>
          </a:prstGeom>
          <a:noFill/>
          <a:ln/>
        </p:spPr>
        <p:txBody>
          <a:bodyPr wrap="square" rtlCol="0" anchor="ctr"/>
          <a:lstStyle/>
          <a:p>
            <a:pPr indent="0" marL="0">
              <a:buNone/>
            </a:pPr>
            <a:r>
              <a:rPr lang="en-US" sz="2200" b="1" dirty="0">
                <a:solidFill>
                  <a:srgbClr val="1F3864"/>
                </a:solidFill>
                <a:latin typeface="Calibri" pitchFamily="34" charset="0"/>
                <a:ea typeface="Calibri" pitchFamily="34" charset="-122"/>
                <a:cs typeface="Calibri" pitchFamily="34" charset="-120"/>
              </a:rPr>
              <a:t>52×</a:t>
            </a:r>
            <a:endParaRPr lang="en-US" sz="2200" dirty="0"/>
          </a:p>
        </p:txBody>
      </p:sp>
      <p:sp>
        <p:nvSpPr>
          <p:cNvPr id="47" name="Text 44"/>
          <p:cNvSpPr/>
          <p:nvPr/>
        </p:nvSpPr>
        <p:spPr>
          <a:xfrm>
            <a:off x="6446520" y="2542032"/>
            <a:ext cx="2377440" cy="256032"/>
          </a:xfrm>
          <a:prstGeom prst="rect">
            <a:avLst/>
          </a:prstGeom>
          <a:noFill/>
          <a:ln/>
        </p:spPr>
        <p:txBody>
          <a:bodyPr wrap="square" rtlCol="0" anchor="ctr"/>
          <a:lstStyle/>
          <a:p>
            <a:pPr indent="0" marL="0">
              <a:buNone/>
            </a:pPr>
            <a:r>
              <a:rPr lang="en-US" sz="950" dirty="0">
                <a:solidFill>
                  <a:srgbClr val="555555"/>
                </a:solidFill>
                <a:latin typeface="Calibri" pitchFamily="34" charset="0"/>
                <a:ea typeface="Calibri" pitchFamily="34" charset="-122"/>
                <a:cs typeface="Calibri" pitchFamily="34" charset="-120"/>
              </a:rPr>
              <a:t>0.367 ms GPU vs 19.0 ms CPU</a:t>
            </a:r>
            <a:endParaRPr lang="en-US" sz="950" dirty="0"/>
          </a:p>
        </p:txBody>
      </p:sp>
      <p:sp>
        <p:nvSpPr>
          <p:cNvPr id="48" name="Shape 45"/>
          <p:cNvSpPr/>
          <p:nvPr/>
        </p:nvSpPr>
        <p:spPr>
          <a:xfrm>
            <a:off x="5486400" y="2898648"/>
            <a:ext cx="3291840" cy="0"/>
          </a:xfrm>
          <a:prstGeom prst="line">
            <a:avLst/>
          </a:prstGeom>
          <a:noFill/>
          <a:ln w="6350">
            <a:solidFill>
              <a:srgbClr val="E0E8F0"/>
            </a:solidFill>
            <a:prstDash val="solid"/>
          </a:ln>
        </p:spPr>
      </p:sp>
      <p:sp>
        <p:nvSpPr>
          <p:cNvPr id="49" name="Text 46"/>
          <p:cNvSpPr/>
          <p:nvPr/>
        </p:nvSpPr>
        <p:spPr>
          <a:xfrm>
            <a:off x="5486400" y="3026664"/>
            <a:ext cx="3383280" cy="256032"/>
          </a:xfrm>
          <a:prstGeom prst="rect">
            <a:avLst/>
          </a:prstGeom>
          <a:noFill/>
          <a:ln/>
        </p:spPr>
        <p:txBody>
          <a:bodyPr wrap="square" rtlCol="0" anchor="ctr"/>
          <a:lstStyle/>
          <a:p>
            <a:pPr indent="0" marL="0">
              <a:buNone/>
            </a:pPr>
            <a:r>
              <a:rPr lang="en-US" sz="1100" dirty="0">
                <a:solidFill>
                  <a:srgbClr val="1A1A1A"/>
                </a:solidFill>
                <a:latin typeface="Calibri" pitchFamily="34" charset="0"/>
                <a:ea typeface="Calibri" pitchFamily="34" charset="-122"/>
                <a:cs typeface="Calibri" pitchFamily="34" charset="-120"/>
              </a:rPr>
              <a:t>NTT end-to-end (n=2²²)</a:t>
            </a:r>
            <a:endParaRPr lang="en-US" sz="1100" dirty="0"/>
          </a:p>
        </p:txBody>
      </p:sp>
      <p:sp>
        <p:nvSpPr>
          <p:cNvPr id="50" name="Text 47"/>
          <p:cNvSpPr/>
          <p:nvPr/>
        </p:nvSpPr>
        <p:spPr>
          <a:xfrm>
            <a:off x="5486400" y="3291840"/>
            <a:ext cx="914400" cy="347472"/>
          </a:xfrm>
          <a:prstGeom prst="rect">
            <a:avLst/>
          </a:prstGeom>
          <a:noFill/>
          <a:ln/>
        </p:spPr>
        <p:txBody>
          <a:bodyPr wrap="square" rtlCol="0" anchor="ctr"/>
          <a:lstStyle/>
          <a:p>
            <a:pPr indent="0" marL="0">
              <a:buNone/>
            </a:pPr>
            <a:r>
              <a:rPr lang="en-US" sz="2200" b="1" dirty="0">
                <a:solidFill>
                  <a:srgbClr val="1F3864"/>
                </a:solidFill>
                <a:latin typeface="Calibri" pitchFamily="34" charset="0"/>
                <a:ea typeface="Calibri" pitchFamily="34" charset="-122"/>
                <a:cs typeface="Calibri" pitchFamily="34" charset="-120"/>
              </a:rPr>
              <a:t>19×</a:t>
            </a:r>
            <a:endParaRPr lang="en-US" sz="2200" dirty="0"/>
          </a:p>
        </p:txBody>
      </p:sp>
      <p:sp>
        <p:nvSpPr>
          <p:cNvPr id="51" name="Text 48"/>
          <p:cNvSpPr/>
          <p:nvPr/>
        </p:nvSpPr>
        <p:spPr>
          <a:xfrm>
            <a:off x="6446520" y="3346704"/>
            <a:ext cx="2377440" cy="256032"/>
          </a:xfrm>
          <a:prstGeom prst="rect">
            <a:avLst/>
          </a:prstGeom>
          <a:noFill/>
          <a:ln/>
        </p:spPr>
        <p:txBody>
          <a:bodyPr wrap="square" rtlCol="0" anchor="ctr"/>
          <a:lstStyle/>
          <a:p>
            <a:pPr indent="0" marL="0">
              <a:buNone/>
            </a:pPr>
            <a:r>
              <a:rPr lang="en-US" sz="950" dirty="0">
                <a:solidFill>
                  <a:srgbClr val="555555"/>
                </a:solidFill>
                <a:latin typeface="Calibri" pitchFamily="34" charset="0"/>
                <a:ea typeface="Calibri" pitchFamily="34" charset="-122"/>
                <a:cs typeface="Calibri" pitchFamily="34" charset="-120"/>
              </a:rPr>
              <a:t>incl. PCIe transfer</a:t>
            </a:r>
            <a:endParaRPr lang="en-US" sz="950" dirty="0"/>
          </a:p>
        </p:txBody>
      </p:sp>
      <p:sp>
        <p:nvSpPr>
          <p:cNvPr id="52" name="Shape 49"/>
          <p:cNvSpPr/>
          <p:nvPr/>
        </p:nvSpPr>
        <p:spPr>
          <a:xfrm>
            <a:off x="5486400" y="3703320"/>
            <a:ext cx="3291840" cy="0"/>
          </a:xfrm>
          <a:prstGeom prst="line">
            <a:avLst/>
          </a:prstGeom>
          <a:noFill/>
          <a:ln w="6350">
            <a:solidFill>
              <a:srgbClr val="E0E8F0"/>
            </a:solidFill>
            <a:prstDash val="solid"/>
          </a:ln>
        </p:spPr>
      </p:sp>
      <p:sp>
        <p:nvSpPr>
          <p:cNvPr id="53" name="Text 50"/>
          <p:cNvSpPr/>
          <p:nvPr/>
        </p:nvSpPr>
        <p:spPr>
          <a:xfrm>
            <a:off x="5486400" y="3831336"/>
            <a:ext cx="3383280" cy="256032"/>
          </a:xfrm>
          <a:prstGeom prst="rect">
            <a:avLst/>
          </a:prstGeom>
          <a:noFill/>
          <a:ln/>
        </p:spPr>
        <p:txBody>
          <a:bodyPr wrap="square" rtlCol="0" anchor="ctr"/>
          <a:lstStyle/>
          <a:p>
            <a:pPr indent="0" marL="0">
              <a:buNone/>
            </a:pPr>
            <a:r>
              <a:rPr lang="en-US" sz="1100" dirty="0">
                <a:solidFill>
                  <a:srgbClr val="1A1A1A"/>
                </a:solidFill>
                <a:latin typeface="Calibri" pitchFamily="34" charset="0"/>
                <a:ea typeface="Calibri" pitchFamily="34" charset="-122"/>
                <a:cs typeface="Calibri" pitchFamily="34" charset="-120"/>
              </a:rPr>
              <a:t>Batch modexp P64 (1M)</a:t>
            </a:r>
            <a:endParaRPr lang="en-US" sz="1100" dirty="0"/>
          </a:p>
        </p:txBody>
      </p:sp>
      <p:sp>
        <p:nvSpPr>
          <p:cNvPr id="54" name="Text 51"/>
          <p:cNvSpPr/>
          <p:nvPr/>
        </p:nvSpPr>
        <p:spPr>
          <a:xfrm>
            <a:off x="5486400" y="4096512"/>
            <a:ext cx="914400" cy="347472"/>
          </a:xfrm>
          <a:prstGeom prst="rect">
            <a:avLst/>
          </a:prstGeom>
          <a:noFill/>
          <a:ln/>
        </p:spPr>
        <p:txBody>
          <a:bodyPr wrap="square" rtlCol="0" anchor="ctr"/>
          <a:lstStyle/>
          <a:p>
            <a:pPr indent="0" marL="0">
              <a:buNone/>
            </a:pPr>
            <a:r>
              <a:rPr lang="en-US" sz="2200" b="1" dirty="0">
                <a:solidFill>
                  <a:srgbClr val="1F3864"/>
                </a:solidFill>
                <a:latin typeface="Calibri" pitchFamily="34" charset="0"/>
                <a:ea typeface="Calibri" pitchFamily="34" charset="-122"/>
                <a:cs typeface="Calibri" pitchFamily="34" charset="-120"/>
              </a:rPr>
              <a:t>277×</a:t>
            </a:r>
            <a:endParaRPr lang="en-US" sz="2200" dirty="0"/>
          </a:p>
        </p:txBody>
      </p:sp>
      <p:sp>
        <p:nvSpPr>
          <p:cNvPr id="55" name="Text 52"/>
          <p:cNvSpPr/>
          <p:nvPr/>
        </p:nvSpPr>
        <p:spPr>
          <a:xfrm>
            <a:off x="6446520" y="4151376"/>
            <a:ext cx="2377440" cy="256032"/>
          </a:xfrm>
          <a:prstGeom prst="rect">
            <a:avLst/>
          </a:prstGeom>
          <a:noFill/>
          <a:ln/>
        </p:spPr>
        <p:txBody>
          <a:bodyPr wrap="square" rtlCol="0" anchor="ctr"/>
          <a:lstStyle/>
          <a:p>
            <a:pPr indent="0" marL="0">
              <a:buNone/>
            </a:pPr>
            <a:r>
              <a:rPr lang="en-US" sz="950" dirty="0">
                <a:solidFill>
                  <a:srgbClr val="555555"/>
                </a:solidFill>
                <a:latin typeface="Calibri" pitchFamily="34" charset="0"/>
                <a:ea typeface="Calibri" pitchFamily="34" charset="-122"/>
                <a:cs typeface="Calibri" pitchFamily="34" charset="-120"/>
              </a:rPr>
              <a:t>3.4 ms GPU vs 955 ms CPU</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F3864"/>
          </a:solidFill>
          <a:ln w="12700">
            <a:solidFill>
              <a:srgbClr val="1F3864"/>
            </a:solidFill>
            <a:prstDash val="solid"/>
          </a:ln>
        </p:spPr>
      </p:sp>
      <p:sp>
        <p:nvSpPr>
          <p:cNvPr id="3" name="Shape 1"/>
          <p:cNvSpPr/>
          <p:nvPr/>
        </p:nvSpPr>
        <p:spPr>
          <a:xfrm>
            <a:off x="0" y="822960"/>
            <a:ext cx="9144000" cy="50292"/>
          </a:xfrm>
          <a:prstGeom prst="rect">
            <a:avLst/>
          </a:prstGeom>
          <a:solidFill>
            <a:srgbClr val="FFC000"/>
          </a:solidFill>
          <a:ln w="12700">
            <a:solidFill>
              <a:srgbClr val="FFC000"/>
            </a:solidFill>
            <a:prstDash val="solid"/>
          </a:ln>
        </p:spPr>
      </p:sp>
      <p:sp>
        <p:nvSpPr>
          <p:cNvPr id="4" name="Text 2"/>
          <p:cNvSpPr/>
          <p:nvPr/>
        </p:nvSpPr>
        <p:spPr>
          <a:xfrm>
            <a:off x="347472" y="0"/>
            <a:ext cx="7315200" cy="82296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Analysis</a:t>
            </a:r>
            <a:endParaRPr lang="en-US" sz="2200" dirty="0"/>
          </a:p>
        </p:txBody>
      </p:sp>
      <p:pic>
        <p:nvPicPr>
          <p:cNvPr id="5" name="Image 0" descr="preencoded.png">    </p:cNvPr>
          <p:cNvPicPr>
            <a:picLocks noChangeAspect="1"/>
          </p:cNvPicPr>
          <p:nvPr/>
        </p:nvPicPr>
        <p:blipFill>
          <a:blip r:embed="rId1"/>
          <a:stretch>
            <a:fillRect/>
          </a:stretch>
        </p:blipFill>
        <p:spPr>
          <a:xfrm>
            <a:off x="7909560" y="73152"/>
            <a:ext cx="685800" cy="685800"/>
          </a:xfrm>
          <a:prstGeom prst="rect">
            <a:avLst/>
          </a:prstGeom>
        </p:spPr>
      </p:pic>
      <p:sp>
        <p:nvSpPr>
          <p:cNvPr id="6" name="Shape 3"/>
          <p:cNvSpPr/>
          <p:nvPr/>
        </p:nvSpPr>
        <p:spPr>
          <a:xfrm>
            <a:off x="0" y="4800600"/>
            <a:ext cx="9144000" cy="342900"/>
          </a:xfrm>
          <a:prstGeom prst="rect">
            <a:avLst/>
          </a:prstGeom>
          <a:solidFill>
            <a:srgbClr val="0F1D3A"/>
          </a:solidFill>
          <a:ln w="12700">
            <a:solidFill>
              <a:srgbClr val="0F1D3A"/>
            </a:solidFill>
            <a:prstDash val="solid"/>
          </a:ln>
        </p:spPr>
      </p:sp>
      <p:sp>
        <p:nvSpPr>
          <p:cNvPr id="7" name="Text 4"/>
          <p:cNvSpPr/>
          <p:nvPr/>
        </p:nvSpPr>
        <p:spPr>
          <a:xfrm>
            <a:off x="137160" y="4823460"/>
            <a:ext cx="4114800" cy="274320"/>
          </a:xfrm>
          <a:prstGeom prst="rect">
            <a:avLst/>
          </a:prstGeom>
          <a:noFill/>
          <a:ln/>
        </p:spPr>
        <p:txBody>
          <a:bodyPr wrap="square" rtlCol="0" anchor="ctr"/>
          <a:lstStyle/>
          <a:p>
            <a:pPr indent="0" marL="0">
              <a:buNone/>
            </a:pPr>
            <a:r>
              <a:rPr lang="en-US" sz="1000" dirty="0">
                <a:solidFill>
                  <a:srgbClr val="FFFFFF"/>
                </a:solidFill>
                <a:latin typeface="Calibri" pitchFamily="34" charset="0"/>
                <a:ea typeface="Calibri" pitchFamily="34" charset="-122"/>
                <a:cs typeface="Calibri" pitchFamily="34" charset="-120"/>
              </a:rPr>
              <a:t>ECE 268 – Spring 2026</a:t>
            </a:r>
            <a:endParaRPr lang="en-US" sz="1000" dirty="0"/>
          </a:p>
        </p:txBody>
      </p:sp>
      <p:sp>
        <p:nvSpPr>
          <p:cNvPr id="8" name="Text 5"/>
          <p:cNvSpPr/>
          <p:nvPr/>
        </p:nvSpPr>
        <p:spPr>
          <a:xfrm>
            <a:off x="4754880" y="4823460"/>
            <a:ext cx="4206240" cy="274320"/>
          </a:xfrm>
          <a:prstGeom prst="rect">
            <a:avLst/>
          </a:prstGeom>
          <a:noFill/>
          <a:ln/>
        </p:spPr>
        <p:txBody>
          <a:bodyPr wrap="square" rtlCol="0" anchor="ctr"/>
          <a:lstStyle/>
          <a:p>
            <a:pPr algn="r" indent="0" marL="0">
              <a:buNone/>
            </a:pPr>
            <a:r>
              <a:rPr lang="en-US" sz="1000" dirty="0">
                <a:solidFill>
                  <a:srgbClr val="FFFFFF"/>
                </a:solidFill>
                <a:latin typeface="Calibri" pitchFamily="34" charset="0"/>
                <a:ea typeface="Calibri" pitchFamily="34" charset="-122"/>
                <a:cs typeface="Calibri" pitchFamily="34" charset="-120"/>
              </a:rPr>
              <a:t>Security of Hardware Embedded Systems</a:t>
            </a:r>
            <a:endParaRPr lang="en-US" sz="1000" dirty="0"/>
          </a:p>
        </p:txBody>
      </p:sp>
      <p:sp>
        <p:nvSpPr>
          <p:cNvPr id="9" name="Text 6"/>
          <p:cNvSpPr/>
          <p:nvPr/>
        </p:nvSpPr>
        <p:spPr>
          <a:xfrm>
            <a:off x="365760" y="987552"/>
            <a:ext cx="4114800" cy="274320"/>
          </a:xfrm>
          <a:prstGeom prst="rect">
            <a:avLst/>
          </a:prstGeom>
          <a:noFill/>
          <a:ln/>
        </p:spPr>
        <p:txBody>
          <a:bodyPr wrap="square" rtlCol="0" anchor="ctr"/>
          <a:lstStyle/>
          <a:p>
            <a:pPr indent="0" marL="0">
              <a:buNone/>
            </a:pPr>
            <a:r>
              <a:rPr lang="en-US" sz="1300" b="1" dirty="0">
                <a:solidFill>
                  <a:srgbClr val="1F3864"/>
                </a:solidFill>
                <a:latin typeface="Calibri" pitchFamily="34" charset="0"/>
                <a:ea typeface="Calibri" pitchFamily="34" charset="-122"/>
                <a:cs typeface="Calibri" pitchFamily="34" charset="-120"/>
              </a:rPr>
              <a:t>Barrett vs. Montgomery for NTT</a:t>
            </a:r>
            <a:endParaRPr lang="en-US" sz="1300" dirty="0"/>
          </a:p>
        </p:txBody>
      </p:sp>
      <p:sp>
        <p:nvSpPr>
          <p:cNvPr id="10" name="Shape 7"/>
          <p:cNvSpPr/>
          <p:nvPr/>
        </p:nvSpPr>
        <p:spPr>
          <a:xfrm>
            <a:off x="365760" y="1280160"/>
            <a:ext cx="3749040" cy="0"/>
          </a:xfrm>
          <a:prstGeom prst="line">
            <a:avLst/>
          </a:prstGeom>
          <a:noFill/>
          <a:ln w="19050">
            <a:solidFill>
              <a:srgbClr val="FFC000"/>
            </a:solidFill>
            <a:prstDash val="solid"/>
          </a:ln>
        </p:spPr>
      </p:sp>
      <p:sp>
        <p:nvSpPr>
          <p:cNvPr id="11" name="Text 8"/>
          <p:cNvSpPr/>
          <p:nvPr/>
        </p:nvSpPr>
        <p:spPr>
          <a:xfrm>
            <a:off x="365760" y="1408176"/>
            <a:ext cx="3749040" cy="201168"/>
          </a:xfrm>
          <a:prstGeom prst="rect">
            <a:avLst/>
          </a:prstGeom>
          <a:noFill/>
          <a:ln/>
        </p:spPr>
        <p:txBody>
          <a:bodyPr wrap="square" rtlCol="0" anchor="ctr"/>
          <a:lstStyle/>
          <a:p>
            <a:pPr indent="0" marL="0">
              <a:buNone/>
            </a:pPr>
            <a:r>
              <a:rPr lang="en-US" sz="1000" b="1" dirty="0">
                <a:solidFill>
                  <a:srgbClr val="555555"/>
                </a:solidFill>
                <a:latin typeface="Calibri" pitchFamily="34" charset="0"/>
                <a:ea typeface="Calibri" pitchFamily="34" charset="-122"/>
                <a:cs typeface="Calibri" pitchFamily="34" charset="-120"/>
              </a:rPr>
              <a:t>Domain</a:t>
            </a:r>
            <a:endParaRPr lang="en-US" sz="1000" dirty="0"/>
          </a:p>
        </p:txBody>
      </p:sp>
      <p:sp>
        <p:nvSpPr>
          <p:cNvPr id="12" name="Text 9"/>
          <p:cNvSpPr/>
          <p:nvPr/>
        </p:nvSpPr>
        <p:spPr>
          <a:xfrm>
            <a:off x="365760" y="1618488"/>
            <a:ext cx="3749040" cy="201168"/>
          </a:xfrm>
          <a:prstGeom prst="rect">
            <a:avLst/>
          </a:prstGeom>
          <a:noFill/>
          <a:ln/>
        </p:spPr>
        <p:txBody>
          <a:bodyPr wrap="square" rtlCol="0" anchor="ctr"/>
          <a:lstStyle/>
          <a:p>
            <a:pPr indent="0" marL="0">
              <a:buNone/>
            </a:pPr>
            <a:r>
              <a:rPr lang="en-US" sz="1050" dirty="0">
                <a:solidFill>
                  <a:srgbClr val="1A7040"/>
                </a:solidFill>
                <a:latin typeface="Calibri" pitchFamily="34" charset="0"/>
                <a:ea typeface="Calibri" pitchFamily="34" charset="-122"/>
                <a:cs typeface="Calibri" pitchFamily="34" charset="-120"/>
              </a:rPr>
              <a:t>→  natural residue — no conversion</a:t>
            </a:r>
            <a:endParaRPr lang="en-US" sz="1050" dirty="0"/>
          </a:p>
        </p:txBody>
      </p:sp>
      <p:sp>
        <p:nvSpPr>
          <p:cNvPr id="13" name="Text 10"/>
          <p:cNvSpPr/>
          <p:nvPr/>
        </p:nvSpPr>
        <p:spPr>
          <a:xfrm>
            <a:off x="365760" y="1828800"/>
            <a:ext cx="3749040" cy="201168"/>
          </a:xfrm>
          <a:prstGeom prst="rect">
            <a:avLst/>
          </a:prstGeom>
          <a:noFill/>
          <a:ln/>
        </p:spPr>
        <p:txBody>
          <a:bodyPr wrap="square" rtlCol="0" anchor="ctr"/>
          <a:lstStyle/>
          <a:p>
            <a:pPr indent="0" marL="0">
              <a:buNone/>
            </a:pPr>
            <a:r>
              <a:rPr lang="en-US" sz="1000" dirty="0">
                <a:solidFill>
                  <a:srgbClr val="555555"/>
                </a:solidFill>
                <a:latin typeface="Calibri" pitchFamily="34" charset="0"/>
                <a:ea typeface="Calibri" pitchFamily="34" charset="-122"/>
                <a:cs typeface="Calibri" pitchFamily="34" charset="-120"/>
              </a:rPr>
              <a:t>   Montgomery domain (in/out passes needed)</a:t>
            </a:r>
            <a:endParaRPr lang="en-US" sz="1000" dirty="0"/>
          </a:p>
        </p:txBody>
      </p:sp>
      <p:sp>
        <p:nvSpPr>
          <p:cNvPr id="14" name="Shape 11"/>
          <p:cNvSpPr/>
          <p:nvPr/>
        </p:nvSpPr>
        <p:spPr>
          <a:xfrm>
            <a:off x="365760" y="2048256"/>
            <a:ext cx="3749040" cy="0"/>
          </a:xfrm>
          <a:prstGeom prst="line">
            <a:avLst/>
          </a:prstGeom>
          <a:noFill/>
          <a:ln w="6350">
            <a:solidFill>
              <a:srgbClr val="E0E8F0"/>
            </a:solidFill>
            <a:prstDash val="solid"/>
          </a:ln>
        </p:spPr>
      </p:sp>
      <p:sp>
        <p:nvSpPr>
          <p:cNvPr id="15" name="Text 12"/>
          <p:cNvSpPr/>
          <p:nvPr/>
        </p:nvSpPr>
        <p:spPr>
          <a:xfrm>
            <a:off x="365760" y="2139696"/>
            <a:ext cx="3749040" cy="201168"/>
          </a:xfrm>
          <a:prstGeom prst="rect">
            <a:avLst/>
          </a:prstGeom>
          <a:noFill/>
          <a:ln/>
        </p:spPr>
        <p:txBody>
          <a:bodyPr wrap="square" rtlCol="0" anchor="ctr"/>
          <a:lstStyle/>
          <a:p>
            <a:pPr indent="0" marL="0">
              <a:buNone/>
            </a:pPr>
            <a:r>
              <a:rPr lang="en-US" sz="1000" b="1" dirty="0">
                <a:solidFill>
                  <a:srgbClr val="555555"/>
                </a:solidFill>
                <a:latin typeface="Calibri" pitchFamily="34" charset="0"/>
                <a:ea typeface="Calibri" pitchFamily="34" charset="-122"/>
                <a:cs typeface="Calibri" pitchFamily="34" charset="-120"/>
              </a:rPr>
              <a:t>NTT stages</a:t>
            </a:r>
            <a:endParaRPr lang="en-US" sz="1000" dirty="0"/>
          </a:p>
        </p:txBody>
      </p:sp>
      <p:sp>
        <p:nvSpPr>
          <p:cNvPr id="16" name="Text 13"/>
          <p:cNvSpPr/>
          <p:nvPr/>
        </p:nvSpPr>
        <p:spPr>
          <a:xfrm>
            <a:off x="365760" y="2350008"/>
            <a:ext cx="3749040" cy="201168"/>
          </a:xfrm>
          <a:prstGeom prst="rect">
            <a:avLst/>
          </a:prstGeom>
          <a:noFill/>
          <a:ln/>
        </p:spPr>
        <p:txBody>
          <a:bodyPr wrap="square" rtlCol="0" anchor="ctr"/>
          <a:lstStyle/>
          <a:p>
            <a:pPr indent="0" marL="0">
              <a:buNone/>
            </a:pPr>
            <a:r>
              <a:rPr lang="en-US" sz="1050" dirty="0">
                <a:solidFill>
                  <a:srgbClr val="1A7040"/>
                </a:solidFill>
                <a:latin typeface="Calibri" pitchFamily="34" charset="0"/>
                <a:ea typeface="Calibri" pitchFamily="34" charset="-122"/>
                <a:cs typeface="Calibri" pitchFamily="34" charset="-120"/>
              </a:rPr>
              <a:t>→  data stays in natural form throughout</a:t>
            </a:r>
            <a:endParaRPr lang="en-US" sz="1050" dirty="0"/>
          </a:p>
        </p:txBody>
      </p:sp>
      <p:sp>
        <p:nvSpPr>
          <p:cNvPr id="17" name="Text 14"/>
          <p:cNvSpPr/>
          <p:nvPr/>
        </p:nvSpPr>
        <p:spPr>
          <a:xfrm>
            <a:off x="365760" y="2560320"/>
            <a:ext cx="3749040" cy="201168"/>
          </a:xfrm>
          <a:prstGeom prst="rect">
            <a:avLst/>
          </a:prstGeom>
          <a:noFill/>
          <a:ln/>
        </p:spPr>
        <p:txBody>
          <a:bodyPr wrap="square" rtlCol="0" anchor="ctr"/>
          <a:lstStyle/>
          <a:p>
            <a:pPr indent="0" marL="0">
              <a:buNone/>
            </a:pPr>
            <a:r>
              <a:rPr lang="en-US" sz="1000" dirty="0">
                <a:solidFill>
                  <a:srgbClr val="555555"/>
                </a:solidFill>
                <a:latin typeface="Calibri" pitchFamily="34" charset="0"/>
                <a:ea typeface="Calibri" pitchFamily="34" charset="-122"/>
                <a:cs typeface="Calibri" pitchFamily="34" charset="-120"/>
              </a:rPr>
              <a:t>   two extra O(n) passes (convert in, convert out)</a:t>
            </a:r>
            <a:endParaRPr lang="en-US" sz="1000" dirty="0"/>
          </a:p>
        </p:txBody>
      </p:sp>
      <p:sp>
        <p:nvSpPr>
          <p:cNvPr id="18" name="Shape 15"/>
          <p:cNvSpPr/>
          <p:nvPr/>
        </p:nvSpPr>
        <p:spPr>
          <a:xfrm>
            <a:off x="365760" y="2779776"/>
            <a:ext cx="3749040" cy="0"/>
          </a:xfrm>
          <a:prstGeom prst="line">
            <a:avLst/>
          </a:prstGeom>
          <a:noFill/>
          <a:ln w="6350">
            <a:solidFill>
              <a:srgbClr val="E0E8F0"/>
            </a:solidFill>
            <a:prstDash val="solid"/>
          </a:ln>
        </p:spPr>
      </p:sp>
      <p:sp>
        <p:nvSpPr>
          <p:cNvPr id="19" name="Text 16"/>
          <p:cNvSpPr/>
          <p:nvPr/>
        </p:nvSpPr>
        <p:spPr>
          <a:xfrm>
            <a:off x="365760" y="2871216"/>
            <a:ext cx="3749040" cy="201168"/>
          </a:xfrm>
          <a:prstGeom prst="rect">
            <a:avLst/>
          </a:prstGeom>
          <a:noFill/>
          <a:ln/>
        </p:spPr>
        <p:txBody>
          <a:bodyPr wrap="square" rtlCol="0" anchor="ctr"/>
          <a:lstStyle/>
          <a:p>
            <a:pPr indent="0" marL="0">
              <a:buNone/>
            </a:pPr>
            <a:r>
              <a:rPr lang="en-US" sz="1000" b="1" dirty="0">
                <a:solidFill>
                  <a:srgbClr val="555555"/>
                </a:solidFill>
                <a:latin typeface="Calibri" pitchFamily="34" charset="0"/>
                <a:ea typeface="Calibri" pitchFamily="34" charset="-122"/>
                <a:cs typeface="Calibri" pitchFamily="34" charset="-120"/>
              </a:rPr>
              <a:t>Per reduction</a:t>
            </a:r>
            <a:endParaRPr lang="en-US" sz="1000" dirty="0"/>
          </a:p>
        </p:txBody>
      </p:sp>
      <p:sp>
        <p:nvSpPr>
          <p:cNvPr id="20" name="Text 17"/>
          <p:cNvSpPr/>
          <p:nvPr/>
        </p:nvSpPr>
        <p:spPr>
          <a:xfrm>
            <a:off x="365760" y="3081528"/>
            <a:ext cx="3749040" cy="201168"/>
          </a:xfrm>
          <a:prstGeom prst="rect">
            <a:avLst/>
          </a:prstGeom>
          <a:noFill/>
          <a:ln/>
        </p:spPr>
        <p:txBody>
          <a:bodyPr wrap="square" rtlCol="0" anchor="ctr"/>
          <a:lstStyle/>
          <a:p>
            <a:pPr indent="0" marL="0">
              <a:buNone/>
            </a:pPr>
            <a:r>
              <a:rPr lang="en-US" sz="1050" dirty="0">
                <a:solidFill>
                  <a:srgbClr val="1A7040"/>
                </a:solidFill>
                <a:latin typeface="Calibri" pitchFamily="34" charset="0"/>
                <a:ea typeface="Calibri" pitchFamily="34" charset="-122"/>
                <a:cs typeface="Calibri" pitchFamily="34" charset="-120"/>
              </a:rPr>
              <a:t>→  mul-high + mul-sub + 1 cond. sub</a:t>
            </a:r>
            <a:endParaRPr lang="en-US" sz="1050" dirty="0"/>
          </a:p>
        </p:txBody>
      </p:sp>
      <p:sp>
        <p:nvSpPr>
          <p:cNvPr id="21" name="Text 18"/>
          <p:cNvSpPr/>
          <p:nvPr/>
        </p:nvSpPr>
        <p:spPr>
          <a:xfrm>
            <a:off x="365760" y="3291840"/>
            <a:ext cx="3749040" cy="201168"/>
          </a:xfrm>
          <a:prstGeom prst="rect">
            <a:avLst/>
          </a:prstGeom>
          <a:noFill/>
          <a:ln/>
        </p:spPr>
        <p:txBody>
          <a:bodyPr wrap="square" rtlCol="0" anchor="ctr"/>
          <a:lstStyle/>
          <a:p>
            <a:pPr indent="0" marL="0">
              <a:buNone/>
            </a:pPr>
            <a:r>
              <a:rPr lang="en-US" sz="1000" dirty="0">
                <a:solidFill>
                  <a:srgbClr val="555555"/>
                </a:solidFill>
                <a:latin typeface="Calibri" pitchFamily="34" charset="0"/>
                <a:ea typeface="Calibri" pitchFamily="34" charset="-122"/>
                <a:cs typeface="Calibri" pitchFamily="34" charset="-120"/>
              </a:rPr>
              <a:t>   similar, but conversion cost amortized</a:t>
            </a:r>
            <a:endParaRPr lang="en-US" sz="1000" dirty="0"/>
          </a:p>
        </p:txBody>
      </p:sp>
      <p:sp>
        <p:nvSpPr>
          <p:cNvPr id="22" name="Shape 19"/>
          <p:cNvSpPr/>
          <p:nvPr/>
        </p:nvSpPr>
        <p:spPr>
          <a:xfrm>
            <a:off x="365760" y="3511296"/>
            <a:ext cx="3749040" cy="0"/>
          </a:xfrm>
          <a:prstGeom prst="line">
            <a:avLst/>
          </a:prstGeom>
          <a:noFill/>
          <a:ln w="6350">
            <a:solidFill>
              <a:srgbClr val="E0E8F0"/>
            </a:solidFill>
            <a:prstDash val="solid"/>
          </a:ln>
        </p:spPr>
      </p:sp>
      <p:sp>
        <p:nvSpPr>
          <p:cNvPr id="23" name="Text 20"/>
          <p:cNvSpPr/>
          <p:nvPr/>
        </p:nvSpPr>
        <p:spPr>
          <a:xfrm>
            <a:off x="365760" y="3602736"/>
            <a:ext cx="3749040" cy="201168"/>
          </a:xfrm>
          <a:prstGeom prst="rect">
            <a:avLst/>
          </a:prstGeom>
          <a:noFill/>
          <a:ln/>
        </p:spPr>
        <p:txBody>
          <a:bodyPr wrap="square" rtlCol="0" anchor="ctr"/>
          <a:lstStyle/>
          <a:p>
            <a:pPr indent="0" marL="0">
              <a:buNone/>
            </a:pPr>
            <a:r>
              <a:rPr lang="en-US" sz="1000" b="1" dirty="0">
                <a:solidFill>
                  <a:srgbClr val="555555"/>
                </a:solidFill>
                <a:latin typeface="Calibri" pitchFamily="34" charset="0"/>
                <a:ea typeface="Calibri" pitchFamily="34" charset="-122"/>
                <a:cs typeface="Calibri" pitchFamily="34" charset="-120"/>
              </a:rPr>
              <a:t>Winner for NTT</a:t>
            </a:r>
            <a:endParaRPr lang="en-US" sz="1000" dirty="0"/>
          </a:p>
        </p:txBody>
      </p:sp>
      <p:sp>
        <p:nvSpPr>
          <p:cNvPr id="24" name="Text 21"/>
          <p:cNvSpPr/>
          <p:nvPr/>
        </p:nvSpPr>
        <p:spPr>
          <a:xfrm>
            <a:off x="365760" y="3813048"/>
            <a:ext cx="3749040" cy="201168"/>
          </a:xfrm>
          <a:prstGeom prst="rect">
            <a:avLst/>
          </a:prstGeom>
          <a:noFill/>
          <a:ln/>
        </p:spPr>
        <p:txBody>
          <a:bodyPr wrap="square" rtlCol="0" anchor="ctr"/>
          <a:lstStyle/>
          <a:p>
            <a:pPr indent="0" marL="0">
              <a:buNone/>
            </a:pPr>
            <a:r>
              <a:rPr lang="en-US" sz="1050" dirty="0">
                <a:solidFill>
                  <a:srgbClr val="1A7040"/>
                </a:solidFill>
                <a:latin typeface="Calibri" pitchFamily="34" charset="0"/>
                <a:ea typeface="Calibri" pitchFamily="34" charset="-122"/>
                <a:cs typeface="Calibri" pitchFamily="34" charset="-120"/>
              </a:rPr>
              <a:t>→  Barrett — saves 2 memory BW passes</a:t>
            </a:r>
            <a:endParaRPr lang="en-US" sz="1050" dirty="0"/>
          </a:p>
        </p:txBody>
      </p:sp>
      <p:sp>
        <p:nvSpPr>
          <p:cNvPr id="25" name="Text 22"/>
          <p:cNvSpPr/>
          <p:nvPr/>
        </p:nvSpPr>
        <p:spPr>
          <a:xfrm>
            <a:off x="365760" y="4343400"/>
            <a:ext cx="3840480" cy="329184"/>
          </a:xfrm>
          <a:prstGeom prst="rect">
            <a:avLst/>
          </a:prstGeom>
          <a:noFill/>
          <a:ln/>
        </p:spPr>
        <p:txBody>
          <a:bodyPr wrap="square" rtlCol="0" anchor="ctr"/>
          <a:lstStyle/>
          <a:p>
            <a:pPr indent="0" marL="0">
              <a:buNone/>
            </a:pPr>
            <a:r>
              <a:rPr lang="en-US" sz="1000" i="1" dirty="0">
                <a:solidFill>
                  <a:srgbClr val="1A1A1A"/>
                </a:solidFill>
                <a:latin typeface="Calibri" pitchFamily="34" charset="0"/>
                <a:ea typeface="Calibri" pitchFamily="34" charset="-122"/>
                <a:cs typeface="Calibri" pitchFamily="34" charset="-120"/>
              </a:rPr>
              <a:t>At large n the NTT is memory-bandwidth-bound. Montgomery would add two full O(n) scans over device memory — exactly the wrong trade-off.</a:t>
            </a:r>
            <a:endParaRPr lang="en-US" sz="1000" dirty="0"/>
          </a:p>
        </p:txBody>
      </p:sp>
      <p:sp>
        <p:nvSpPr>
          <p:cNvPr id="26" name="Text 23"/>
          <p:cNvSpPr/>
          <p:nvPr/>
        </p:nvSpPr>
        <p:spPr>
          <a:xfrm>
            <a:off x="4663440" y="987552"/>
            <a:ext cx="4114800" cy="274320"/>
          </a:xfrm>
          <a:prstGeom prst="rect">
            <a:avLst/>
          </a:prstGeom>
          <a:noFill/>
          <a:ln/>
        </p:spPr>
        <p:txBody>
          <a:bodyPr wrap="square" rtlCol="0" anchor="ctr"/>
          <a:lstStyle/>
          <a:p>
            <a:pPr indent="0" marL="0">
              <a:buNone/>
            </a:pPr>
            <a:r>
              <a:rPr lang="en-US" sz="1300" b="1" dirty="0">
                <a:solidFill>
                  <a:srgbClr val="1F3864"/>
                </a:solidFill>
                <a:latin typeface="Calibri" pitchFamily="34" charset="0"/>
                <a:ea typeface="Calibri" pitchFamily="34" charset="-122"/>
                <a:cs typeface="Calibri" pitchFamily="34" charset="-120"/>
              </a:rPr>
              <a:t>Performance vs. security</a:t>
            </a:r>
            <a:endParaRPr lang="en-US" sz="1300" dirty="0"/>
          </a:p>
        </p:txBody>
      </p:sp>
      <p:sp>
        <p:nvSpPr>
          <p:cNvPr id="27" name="Shape 24"/>
          <p:cNvSpPr/>
          <p:nvPr/>
        </p:nvSpPr>
        <p:spPr>
          <a:xfrm>
            <a:off x="4663440" y="1280160"/>
            <a:ext cx="3657600" cy="0"/>
          </a:xfrm>
          <a:prstGeom prst="line">
            <a:avLst/>
          </a:prstGeom>
          <a:noFill/>
          <a:ln w="19050">
            <a:solidFill>
              <a:srgbClr val="FFC000"/>
            </a:solidFill>
            <a:prstDash val="solid"/>
          </a:ln>
        </p:spPr>
      </p:sp>
      <p:sp>
        <p:nvSpPr>
          <p:cNvPr id="28" name="Text 25"/>
          <p:cNvSpPr/>
          <p:nvPr/>
        </p:nvSpPr>
        <p:spPr>
          <a:xfrm>
            <a:off x="4663440" y="1408176"/>
            <a:ext cx="4114800" cy="237744"/>
          </a:xfrm>
          <a:prstGeom prst="rect">
            <a:avLst/>
          </a:prstGeom>
          <a:noFill/>
          <a:ln/>
        </p:spPr>
        <p:txBody>
          <a:bodyPr wrap="square" rtlCol="0" anchor="ctr"/>
          <a:lstStyle/>
          <a:p>
            <a:pPr indent="0" marL="0">
              <a:buNone/>
            </a:pPr>
            <a:r>
              <a:rPr lang="en-US" sz="1100" b="1" dirty="0">
                <a:solidFill>
                  <a:srgbClr val="1F3864"/>
                </a:solidFill>
                <a:latin typeface="Calibri" pitchFamily="34" charset="0"/>
                <a:ea typeface="Calibri" pitchFamily="34" charset="-122"/>
                <a:cs typeface="Calibri" pitchFamily="34" charset="-120"/>
              </a:rPr>
              <a:t>Timing side channel in modexp</a:t>
            </a:r>
            <a:endParaRPr lang="en-US" sz="1100" dirty="0"/>
          </a:p>
        </p:txBody>
      </p:sp>
      <p:sp>
        <p:nvSpPr>
          <p:cNvPr id="29" name="Text 26"/>
          <p:cNvSpPr/>
          <p:nvPr/>
        </p:nvSpPr>
        <p:spPr>
          <a:xfrm>
            <a:off x="4663440" y="1655064"/>
            <a:ext cx="4114800" cy="475488"/>
          </a:xfrm>
          <a:prstGeom prst="rect">
            <a:avLst/>
          </a:prstGeom>
          <a:noFill/>
          <a:ln/>
        </p:spPr>
        <p:txBody>
          <a:bodyPr wrap="square" rtlCol="0" anchor="ctr"/>
          <a:lstStyle/>
          <a:p>
            <a:pPr indent="0" marL="0">
              <a:buNone/>
            </a:pPr>
            <a:r>
              <a:rPr lang="en-US" sz="1000" dirty="0">
                <a:solidFill>
                  <a:srgbClr val="555555"/>
                </a:solidFill>
                <a:latin typeface="Calibri" pitchFamily="34" charset="0"/>
                <a:ea typeface="Calibri" pitchFamily="34" charset="-122"/>
                <a:cs typeface="Calibri" pitchFamily="34" charset="-120"/>
              </a:rPr>
              <a:t>square-and-multiply branches on exponent bits. If the exponent is secret (RSA private key), this leaks timing information. Fix: Montgomery ladder.</a:t>
            </a:r>
            <a:endParaRPr lang="en-US" sz="1000" dirty="0"/>
          </a:p>
        </p:txBody>
      </p:sp>
      <p:sp>
        <p:nvSpPr>
          <p:cNvPr id="30" name="Shape 27"/>
          <p:cNvSpPr/>
          <p:nvPr/>
        </p:nvSpPr>
        <p:spPr>
          <a:xfrm>
            <a:off x="4663440" y="2139696"/>
            <a:ext cx="4023360" cy="0"/>
          </a:xfrm>
          <a:prstGeom prst="line">
            <a:avLst/>
          </a:prstGeom>
          <a:noFill/>
          <a:ln w="6350">
            <a:solidFill>
              <a:srgbClr val="E0E8F0"/>
            </a:solidFill>
            <a:prstDash val="solid"/>
          </a:ln>
        </p:spPr>
      </p:sp>
      <p:sp>
        <p:nvSpPr>
          <p:cNvPr id="31" name="Text 28"/>
          <p:cNvSpPr/>
          <p:nvPr/>
        </p:nvSpPr>
        <p:spPr>
          <a:xfrm>
            <a:off x="4663440" y="2212848"/>
            <a:ext cx="4114800" cy="237744"/>
          </a:xfrm>
          <a:prstGeom prst="rect">
            <a:avLst/>
          </a:prstGeom>
          <a:noFill/>
          <a:ln/>
        </p:spPr>
        <p:txBody>
          <a:bodyPr wrap="square" rtlCol="0" anchor="ctr"/>
          <a:lstStyle/>
          <a:p>
            <a:pPr indent="0" marL="0">
              <a:buNone/>
            </a:pPr>
            <a:r>
              <a:rPr lang="en-US" sz="1100" b="1" dirty="0">
                <a:solidFill>
                  <a:srgbClr val="1F3864"/>
                </a:solidFill>
                <a:latin typeface="Calibri" pitchFamily="34" charset="0"/>
                <a:ea typeface="Calibri" pitchFamily="34" charset="-122"/>
                <a:cs typeface="Calibri" pitchFamily="34" charset="-120"/>
              </a:rPr>
              <a:t>Data-dependent Barrett correction</a:t>
            </a:r>
            <a:endParaRPr lang="en-US" sz="1100" dirty="0"/>
          </a:p>
        </p:txBody>
      </p:sp>
      <p:sp>
        <p:nvSpPr>
          <p:cNvPr id="32" name="Text 29"/>
          <p:cNvSpPr/>
          <p:nvPr/>
        </p:nvSpPr>
        <p:spPr>
          <a:xfrm>
            <a:off x="4663440" y="2459736"/>
            <a:ext cx="4114800" cy="475488"/>
          </a:xfrm>
          <a:prstGeom prst="rect">
            <a:avLst/>
          </a:prstGeom>
          <a:noFill/>
          <a:ln/>
        </p:spPr>
        <p:txBody>
          <a:bodyPr wrap="square" rtlCol="0" anchor="ctr"/>
          <a:lstStyle/>
          <a:p>
            <a:pPr indent="0" marL="0">
              <a:buNone/>
            </a:pPr>
            <a:r>
              <a:rPr lang="en-US" sz="1000" dirty="0">
                <a:solidFill>
                  <a:srgbClr val="555555"/>
                </a:solidFill>
                <a:latin typeface="Calibri" pitchFamily="34" charset="0"/>
                <a:ea typeface="Calibri" pitchFamily="34" charset="-122"/>
                <a:cs typeface="Calibri" pitchFamily="34" charset="-120"/>
              </a:rPr>
              <a:t>if (r &gt;= p) r -= p leaks one residual bit. Branch-free fix: r -= p &amp; -(u64)(r &gt;= p). Cost: negligible.</a:t>
            </a:r>
            <a:endParaRPr lang="en-US" sz="1000" dirty="0"/>
          </a:p>
        </p:txBody>
      </p:sp>
      <p:sp>
        <p:nvSpPr>
          <p:cNvPr id="33" name="Shape 30"/>
          <p:cNvSpPr/>
          <p:nvPr/>
        </p:nvSpPr>
        <p:spPr>
          <a:xfrm>
            <a:off x="4663440" y="2944368"/>
            <a:ext cx="4023360" cy="0"/>
          </a:xfrm>
          <a:prstGeom prst="line">
            <a:avLst/>
          </a:prstGeom>
          <a:noFill/>
          <a:ln w="6350">
            <a:solidFill>
              <a:srgbClr val="E0E8F0"/>
            </a:solidFill>
            <a:prstDash val="solid"/>
          </a:ln>
        </p:spPr>
      </p:sp>
      <p:sp>
        <p:nvSpPr>
          <p:cNvPr id="34" name="Text 31"/>
          <p:cNvSpPr/>
          <p:nvPr/>
        </p:nvSpPr>
        <p:spPr>
          <a:xfrm>
            <a:off x="4663440" y="3017520"/>
            <a:ext cx="4114800" cy="237744"/>
          </a:xfrm>
          <a:prstGeom prst="rect">
            <a:avLst/>
          </a:prstGeom>
          <a:noFill/>
          <a:ln/>
        </p:spPr>
        <p:txBody>
          <a:bodyPr wrap="square" rtlCol="0" anchor="ctr"/>
          <a:lstStyle/>
          <a:p>
            <a:pPr indent="0" marL="0">
              <a:buNone/>
            </a:pPr>
            <a:r>
              <a:rPr lang="en-US" sz="1100" b="1" dirty="0">
                <a:solidFill>
                  <a:srgbClr val="1F3864"/>
                </a:solidFill>
                <a:latin typeface="Calibri" pitchFamily="34" charset="0"/>
                <a:ea typeface="Calibri" pitchFamily="34" charset="-122"/>
                <a:cs typeface="Calibri" pitchFamily="34" charset="-120"/>
              </a:rPr>
              <a:t>Field size vs. throughput</a:t>
            </a:r>
            <a:endParaRPr lang="en-US" sz="1100" dirty="0"/>
          </a:p>
        </p:txBody>
      </p:sp>
      <p:sp>
        <p:nvSpPr>
          <p:cNvPr id="35" name="Text 32"/>
          <p:cNvSpPr/>
          <p:nvPr/>
        </p:nvSpPr>
        <p:spPr>
          <a:xfrm>
            <a:off x="4663440" y="3264408"/>
            <a:ext cx="4114800" cy="475488"/>
          </a:xfrm>
          <a:prstGeom prst="rect">
            <a:avLst/>
          </a:prstGeom>
          <a:noFill/>
          <a:ln/>
        </p:spPr>
        <p:txBody>
          <a:bodyPr wrap="square" rtlCol="0" anchor="ctr"/>
          <a:lstStyle/>
          <a:p>
            <a:pPr indent="0" marL="0">
              <a:buNone/>
            </a:pPr>
            <a:r>
              <a:rPr lang="en-US" sz="1000" dirty="0">
                <a:solidFill>
                  <a:srgbClr val="555555"/>
                </a:solidFill>
                <a:latin typeface="Calibri" pitchFamily="34" charset="0"/>
                <a:ea typeface="Calibri" pitchFamily="34" charset="-122"/>
                <a:cs typeface="Calibri" pitchFamily="34" charset="-120"/>
              </a:rPr>
              <a:t>P32 (30-bit): 569×. P64 (64-bit): 277×. RSA-2048 would need multi-limb arithmetic — much lower throughput. Security margin costs compute.</a:t>
            </a:r>
            <a:endParaRPr lang="en-US" sz="1000" dirty="0"/>
          </a:p>
        </p:txBody>
      </p:sp>
      <p:sp>
        <p:nvSpPr>
          <p:cNvPr id="36" name="Shape 33"/>
          <p:cNvSpPr/>
          <p:nvPr/>
        </p:nvSpPr>
        <p:spPr>
          <a:xfrm>
            <a:off x="4663440" y="3749040"/>
            <a:ext cx="4023360" cy="0"/>
          </a:xfrm>
          <a:prstGeom prst="line">
            <a:avLst/>
          </a:prstGeom>
          <a:noFill/>
          <a:ln w="6350">
            <a:solidFill>
              <a:srgbClr val="E0E8F0"/>
            </a:solidFill>
            <a:prstDash val="solid"/>
          </a:ln>
        </p:spPr>
      </p:sp>
      <p:sp>
        <p:nvSpPr>
          <p:cNvPr id="37" name="Text 34"/>
          <p:cNvSpPr/>
          <p:nvPr/>
        </p:nvSpPr>
        <p:spPr>
          <a:xfrm>
            <a:off x="4663440" y="3822192"/>
            <a:ext cx="4114800" cy="237744"/>
          </a:xfrm>
          <a:prstGeom prst="rect">
            <a:avLst/>
          </a:prstGeom>
          <a:noFill/>
          <a:ln/>
        </p:spPr>
        <p:txBody>
          <a:bodyPr wrap="square" rtlCol="0" anchor="ctr"/>
          <a:lstStyle/>
          <a:p>
            <a:pPr indent="0" marL="0">
              <a:buNone/>
            </a:pPr>
            <a:r>
              <a:rPr lang="en-US" sz="1100" b="1" dirty="0">
                <a:solidFill>
                  <a:srgbClr val="1F3864"/>
                </a:solidFill>
                <a:latin typeface="Calibri" pitchFamily="34" charset="0"/>
                <a:ea typeface="Calibri" pitchFamily="34" charset="-122"/>
                <a:cs typeface="Calibri" pitchFamily="34" charset="-120"/>
              </a:rPr>
              <a:t>Batch model and attacker advantage</a:t>
            </a:r>
            <a:endParaRPr lang="en-US" sz="1100" dirty="0"/>
          </a:p>
        </p:txBody>
      </p:sp>
      <p:sp>
        <p:nvSpPr>
          <p:cNvPr id="38" name="Text 35"/>
          <p:cNvSpPr/>
          <p:nvPr/>
        </p:nvSpPr>
        <p:spPr>
          <a:xfrm>
            <a:off x="4663440" y="4069080"/>
            <a:ext cx="4114800" cy="475488"/>
          </a:xfrm>
          <a:prstGeom prst="rect">
            <a:avLst/>
          </a:prstGeom>
          <a:noFill/>
          <a:ln/>
        </p:spPr>
        <p:txBody>
          <a:bodyPr wrap="square" rtlCol="0" anchor="ctr"/>
          <a:lstStyle/>
          <a:p>
            <a:pPr indent="0" marL="0">
              <a:buNone/>
            </a:pPr>
            <a:r>
              <a:rPr lang="en-US" sz="1000" dirty="0">
                <a:solidFill>
                  <a:srgbClr val="555555"/>
                </a:solidFill>
                <a:latin typeface="Calibri" pitchFamily="34" charset="0"/>
                <a:ea typeface="Calibri" pitchFamily="34" charset="-122"/>
                <a:cs typeface="Calibri" pitchFamily="34" charset="-120"/>
              </a:rPr>
              <a:t>277× on 1M independent exponentiations also means GPU accelerates parallel brute-force. A single RSA-2048 decryption is sequential — GPU advantage requires batching.</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D3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F3864"/>
          </a:solidFill>
          <a:ln w="12700">
            <a:solidFill>
              <a:srgbClr val="1F3864"/>
            </a:solidFill>
            <a:prstDash val="solid"/>
          </a:ln>
        </p:spPr>
      </p:sp>
      <p:sp>
        <p:nvSpPr>
          <p:cNvPr id="3" name="Shape 1"/>
          <p:cNvSpPr/>
          <p:nvPr/>
        </p:nvSpPr>
        <p:spPr>
          <a:xfrm>
            <a:off x="0" y="822960"/>
            <a:ext cx="9144000" cy="50292"/>
          </a:xfrm>
          <a:prstGeom prst="rect">
            <a:avLst/>
          </a:prstGeom>
          <a:solidFill>
            <a:srgbClr val="FFC000"/>
          </a:solidFill>
          <a:ln w="12700">
            <a:solidFill>
              <a:srgbClr val="FFC000"/>
            </a:solidFill>
            <a:prstDash val="solid"/>
          </a:ln>
        </p:spPr>
      </p:sp>
      <p:sp>
        <p:nvSpPr>
          <p:cNvPr id="4" name="Text 2"/>
          <p:cNvSpPr/>
          <p:nvPr/>
        </p:nvSpPr>
        <p:spPr>
          <a:xfrm>
            <a:off x="347472" y="0"/>
            <a:ext cx="7315200" cy="822960"/>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Conclusion</a:t>
            </a:r>
            <a:endParaRPr lang="en-US" sz="2400" dirty="0"/>
          </a:p>
        </p:txBody>
      </p:sp>
      <p:pic>
        <p:nvPicPr>
          <p:cNvPr id="5" name="Image 0" descr="preencoded.png">    </p:cNvPr>
          <p:cNvPicPr>
            <a:picLocks noChangeAspect="1"/>
          </p:cNvPicPr>
          <p:nvPr/>
        </p:nvPicPr>
        <p:blipFill>
          <a:blip r:embed="rId1"/>
          <a:stretch>
            <a:fillRect/>
          </a:stretch>
        </p:blipFill>
        <p:spPr>
          <a:xfrm>
            <a:off x="7909560" y="73152"/>
            <a:ext cx="685800" cy="685800"/>
          </a:xfrm>
          <a:prstGeom prst="rect">
            <a:avLst/>
          </a:prstGeom>
        </p:spPr>
      </p:pic>
      <p:sp>
        <p:nvSpPr>
          <p:cNvPr id="6" name="Text 3"/>
          <p:cNvSpPr/>
          <p:nvPr/>
        </p:nvSpPr>
        <p:spPr>
          <a:xfrm>
            <a:off x="365760" y="987552"/>
            <a:ext cx="4114800" cy="274320"/>
          </a:xfrm>
          <a:prstGeom prst="rect">
            <a:avLst/>
          </a:prstGeom>
          <a:noFill/>
          <a:ln/>
        </p:spPr>
        <p:txBody>
          <a:bodyPr wrap="square" rtlCol="0" anchor="ctr"/>
          <a:lstStyle/>
          <a:p>
            <a:pPr indent="0" marL="0">
              <a:buNone/>
            </a:pPr>
            <a:r>
              <a:rPr lang="en-US" sz="1300" b="1" dirty="0">
                <a:solidFill>
                  <a:srgbClr val="FFC000"/>
                </a:solidFill>
                <a:latin typeface="Calibri" pitchFamily="34" charset="0"/>
                <a:ea typeface="Calibri" pitchFamily="34" charset="-122"/>
                <a:cs typeface="Calibri" pitchFamily="34" charset="-120"/>
              </a:rPr>
              <a:t>What we showed</a:t>
            </a:r>
            <a:endParaRPr lang="en-US" sz="1300" dirty="0"/>
          </a:p>
        </p:txBody>
      </p:sp>
      <p:sp>
        <p:nvSpPr>
          <p:cNvPr id="7" name="Shape 4"/>
          <p:cNvSpPr/>
          <p:nvPr/>
        </p:nvSpPr>
        <p:spPr>
          <a:xfrm>
            <a:off x="365760" y="1280160"/>
            <a:ext cx="3657600" cy="0"/>
          </a:xfrm>
          <a:prstGeom prst="line">
            <a:avLst/>
          </a:prstGeom>
          <a:noFill/>
          <a:ln w="12700">
            <a:solidFill>
              <a:srgbClr val="FFC000"/>
            </a:solidFill>
            <a:prstDash val="solid"/>
          </a:ln>
        </p:spPr>
      </p:sp>
      <p:sp>
        <p:nvSpPr>
          <p:cNvPr id="8" name="Text 5"/>
          <p:cNvSpPr/>
          <p:nvPr/>
        </p:nvSpPr>
        <p:spPr>
          <a:xfrm>
            <a:off x="365760" y="1408176"/>
            <a:ext cx="201168" cy="457200"/>
          </a:xfrm>
          <a:prstGeom prst="rect">
            <a:avLst/>
          </a:prstGeom>
          <a:noFill/>
          <a:ln/>
        </p:spPr>
        <p:txBody>
          <a:bodyPr wrap="square" rtlCol="0" anchor="t"/>
          <a:lstStyle/>
          <a:p>
            <a:pPr indent="0" marL="0">
              <a:buNone/>
            </a:pPr>
            <a:r>
              <a:rPr lang="en-US" sz="1200" dirty="0">
                <a:solidFill>
                  <a:srgbClr val="FFC000"/>
                </a:solidFill>
              </a:rPr>
              <a:t>–</a:t>
            </a:r>
            <a:endParaRPr lang="en-US" sz="1200" dirty="0"/>
          </a:p>
        </p:txBody>
      </p:sp>
      <p:sp>
        <p:nvSpPr>
          <p:cNvPr id="9" name="Text 6"/>
          <p:cNvSpPr/>
          <p:nvPr/>
        </p:nvSpPr>
        <p:spPr>
          <a:xfrm>
            <a:off x="566928" y="1408176"/>
            <a:ext cx="3822192" cy="457200"/>
          </a:xfrm>
          <a:prstGeom prst="rect">
            <a:avLst/>
          </a:prstGeom>
          <a:noFill/>
          <a:ln/>
        </p:spPr>
        <p:txBody>
          <a:bodyPr wrap="square" rtlCol="0" anchor="t"/>
          <a:lstStyle/>
          <a:p>
            <a:pPr indent="0" marL="0">
              <a:buNone/>
            </a:pPr>
            <a:r>
              <a:rPr lang="en-US" sz="1050" dirty="0">
                <a:solidFill>
                  <a:srgbClr val="C9E0F0"/>
                </a:solidFill>
                <a:latin typeface="Calibri" pitchFamily="34" charset="0"/>
                <a:ea typeface="Calibri" pitchFamily="34" charset="-122"/>
                <a:cs typeface="Calibri" pitchFamily="34" charset="-120"/>
              </a:rPr>
              <a:t>Pure-CUDA Barrett engine — prime-agnostic, __host__ __device__ dual compilation</a:t>
            </a:r>
            <a:endParaRPr lang="en-US" sz="1050" dirty="0"/>
          </a:p>
        </p:txBody>
      </p:sp>
      <p:sp>
        <p:nvSpPr>
          <p:cNvPr id="10" name="Text 7"/>
          <p:cNvSpPr/>
          <p:nvPr/>
        </p:nvSpPr>
        <p:spPr>
          <a:xfrm>
            <a:off x="365760" y="1938528"/>
            <a:ext cx="201168" cy="457200"/>
          </a:xfrm>
          <a:prstGeom prst="rect">
            <a:avLst/>
          </a:prstGeom>
          <a:noFill/>
          <a:ln/>
        </p:spPr>
        <p:txBody>
          <a:bodyPr wrap="square" rtlCol="0" anchor="t"/>
          <a:lstStyle/>
          <a:p>
            <a:pPr indent="0" marL="0">
              <a:buNone/>
            </a:pPr>
            <a:r>
              <a:rPr lang="en-US" sz="1200" dirty="0">
                <a:solidFill>
                  <a:srgbClr val="FFC000"/>
                </a:solidFill>
              </a:rPr>
              <a:t>–</a:t>
            </a:r>
            <a:endParaRPr lang="en-US" sz="1200" dirty="0"/>
          </a:p>
        </p:txBody>
      </p:sp>
      <p:sp>
        <p:nvSpPr>
          <p:cNvPr id="11" name="Text 8"/>
          <p:cNvSpPr/>
          <p:nvPr/>
        </p:nvSpPr>
        <p:spPr>
          <a:xfrm>
            <a:off x="566928" y="1938528"/>
            <a:ext cx="3822192" cy="457200"/>
          </a:xfrm>
          <a:prstGeom prst="rect">
            <a:avLst/>
          </a:prstGeom>
          <a:noFill/>
          <a:ln/>
        </p:spPr>
        <p:txBody>
          <a:bodyPr wrap="square" rtlCol="0" anchor="t"/>
          <a:lstStyle/>
          <a:p>
            <a:pPr indent="0" marL="0">
              <a:buNone/>
            </a:pPr>
            <a:r>
              <a:rPr lang="en-US" sz="1050" dirty="0">
                <a:solidFill>
                  <a:srgbClr val="C9E0F0"/>
                </a:solidFill>
                <a:latin typeface="Calibri" pitchFamily="34" charset="0"/>
                <a:ea typeface="Calibri" pitchFamily="34" charset="-122"/>
                <a:cs typeface="Calibri" pitchFamily="34" charset="-120"/>
              </a:rPr>
              <a:t>569× speedup for modmul  (131 Gops/s vs 0.23 Gops/s single-thread CPU)</a:t>
            </a:r>
            <a:endParaRPr lang="en-US" sz="1050" dirty="0"/>
          </a:p>
        </p:txBody>
      </p:sp>
      <p:sp>
        <p:nvSpPr>
          <p:cNvPr id="12" name="Text 9"/>
          <p:cNvSpPr/>
          <p:nvPr/>
        </p:nvSpPr>
        <p:spPr>
          <a:xfrm>
            <a:off x="365760" y="2468880"/>
            <a:ext cx="201168" cy="457200"/>
          </a:xfrm>
          <a:prstGeom prst="rect">
            <a:avLst/>
          </a:prstGeom>
          <a:noFill/>
          <a:ln/>
        </p:spPr>
        <p:txBody>
          <a:bodyPr wrap="square" rtlCol="0" anchor="t"/>
          <a:lstStyle/>
          <a:p>
            <a:pPr indent="0" marL="0">
              <a:buNone/>
            </a:pPr>
            <a:r>
              <a:rPr lang="en-US" sz="1200" dirty="0">
                <a:solidFill>
                  <a:srgbClr val="FFC000"/>
                </a:solidFill>
              </a:rPr>
              <a:t>–</a:t>
            </a:r>
            <a:endParaRPr lang="en-US" sz="1200" dirty="0"/>
          </a:p>
        </p:txBody>
      </p:sp>
      <p:sp>
        <p:nvSpPr>
          <p:cNvPr id="13" name="Text 10"/>
          <p:cNvSpPr/>
          <p:nvPr/>
        </p:nvSpPr>
        <p:spPr>
          <a:xfrm>
            <a:off x="566928" y="2468880"/>
            <a:ext cx="3822192" cy="457200"/>
          </a:xfrm>
          <a:prstGeom prst="rect">
            <a:avLst/>
          </a:prstGeom>
          <a:noFill/>
          <a:ln/>
        </p:spPr>
        <p:txBody>
          <a:bodyPr wrap="square" rtlCol="0" anchor="t"/>
          <a:lstStyle/>
          <a:p>
            <a:pPr indent="0" marL="0">
              <a:buNone/>
            </a:pPr>
            <a:r>
              <a:rPr lang="en-US" sz="1050" dirty="0">
                <a:solidFill>
                  <a:srgbClr val="C9E0F0"/>
                </a:solidFill>
                <a:latin typeface="Calibri" pitchFamily="34" charset="0"/>
                <a:ea typeface="Calibri" pitchFamily="34" charset="-122"/>
                <a:cs typeface="Calibri" pitchFamily="34" charset="-120"/>
              </a:rPr>
              <a:t>52× NTT peak at n=2¹⁸ — shifts compute-bound → memory-bandwidth-bound</a:t>
            </a:r>
            <a:endParaRPr lang="en-US" sz="1050" dirty="0"/>
          </a:p>
        </p:txBody>
      </p:sp>
      <p:sp>
        <p:nvSpPr>
          <p:cNvPr id="14" name="Text 11"/>
          <p:cNvSpPr/>
          <p:nvPr/>
        </p:nvSpPr>
        <p:spPr>
          <a:xfrm>
            <a:off x="365760" y="2999232"/>
            <a:ext cx="201168" cy="457200"/>
          </a:xfrm>
          <a:prstGeom prst="rect">
            <a:avLst/>
          </a:prstGeom>
          <a:noFill/>
          <a:ln/>
        </p:spPr>
        <p:txBody>
          <a:bodyPr wrap="square" rtlCol="0" anchor="t"/>
          <a:lstStyle/>
          <a:p>
            <a:pPr indent="0" marL="0">
              <a:buNone/>
            </a:pPr>
            <a:r>
              <a:rPr lang="en-US" sz="1200" dirty="0">
                <a:solidFill>
                  <a:srgbClr val="FFC000"/>
                </a:solidFill>
              </a:rPr>
              <a:t>–</a:t>
            </a:r>
            <a:endParaRPr lang="en-US" sz="1200" dirty="0"/>
          </a:p>
        </p:txBody>
      </p:sp>
      <p:sp>
        <p:nvSpPr>
          <p:cNvPr id="15" name="Text 12"/>
          <p:cNvSpPr/>
          <p:nvPr/>
        </p:nvSpPr>
        <p:spPr>
          <a:xfrm>
            <a:off x="566928" y="2999232"/>
            <a:ext cx="3822192" cy="457200"/>
          </a:xfrm>
          <a:prstGeom prst="rect">
            <a:avLst/>
          </a:prstGeom>
          <a:noFill/>
          <a:ln/>
        </p:spPr>
        <p:txBody>
          <a:bodyPr wrap="square" rtlCol="0" anchor="t"/>
          <a:lstStyle/>
          <a:p>
            <a:pPr indent="0" marL="0">
              <a:buNone/>
            </a:pPr>
            <a:r>
              <a:rPr lang="en-US" sz="1050" dirty="0">
                <a:solidFill>
                  <a:srgbClr val="C9E0F0"/>
                </a:solidFill>
                <a:latin typeface="Calibri" pitchFamily="34" charset="0"/>
                <a:ea typeface="Calibri" pitchFamily="34" charset="-122"/>
                <a:cs typeface="Calibri" pitchFamily="34" charset="-120"/>
              </a:rPr>
              <a:t>277× batch Goldilocks modexp · 0 mismatches across 1M exponentiations</a:t>
            </a:r>
            <a:endParaRPr lang="en-US" sz="1050" dirty="0"/>
          </a:p>
        </p:txBody>
      </p:sp>
      <p:sp>
        <p:nvSpPr>
          <p:cNvPr id="16" name="Text 13"/>
          <p:cNvSpPr/>
          <p:nvPr/>
        </p:nvSpPr>
        <p:spPr>
          <a:xfrm>
            <a:off x="365760" y="3529584"/>
            <a:ext cx="201168" cy="457200"/>
          </a:xfrm>
          <a:prstGeom prst="rect">
            <a:avLst/>
          </a:prstGeom>
          <a:noFill/>
          <a:ln/>
        </p:spPr>
        <p:txBody>
          <a:bodyPr wrap="square" rtlCol="0" anchor="t"/>
          <a:lstStyle/>
          <a:p>
            <a:pPr indent="0" marL="0">
              <a:buNone/>
            </a:pPr>
            <a:r>
              <a:rPr lang="en-US" sz="1200" dirty="0">
                <a:solidFill>
                  <a:srgbClr val="FFC000"/>
                </a:solidFill>
              </a:rPr>
              <a:t>–</a:t>
            </a:r>
            <a:endParaRPr lang="en-US" sz="1200" dirty="0"/>
          </a:p>
        </p:txBody>
      </p:sp>
      <p:sp>
        <p:nvSpPr>
          <p:cNvPr id="17" name="Text 14"/>
          <p:cNvSpPr/>
          <p:nvPr/>
        </p:nvSpPr>
        <p:spPr>
          <a:xfrm>
            <a:off x="566928" y="3529584"/>
            <a:ext cx="3822192" cy="457200"/>
          </a:xfrm>
          <a:prstGeom prst="rect">
            <a:avLst/>
          </a:prstGeom>
          <a:noFill/>
          <a:ln/>
        </p:spPr>
        <p:txBody>
          <a:bodyPr wrap="square" rtlCol="0" anchor="t"/>
          <a:lstStyle/>
          <a:p>
            <a:pPr indent="0" marL="0">
              <a:buNone/>
            </a:pPr>
            <a:r>
              <a:rPr lang="en-US" sz="1050" dirty="0">
                <a:solidFill>
                  <a:srgbClr val="C9E0F0"/>
                </a:solidFill>
                <a:latin typeface="Calibri" pitchFamily="34" charset="0"/>
                <a:ea typeface="Calibri" pitchFamily="34" charset="-122"/>
                <a:cs typeface="Calibri" pitchFamily="34" charset="-120"/>
              </a:rPr>
              <a:t>3-way correctness: GPU ≡ CPU C++ ≡ Python/sympy</a:t>
            </a:r>
            <a:endParaRPr lang="en-US" sz="1050" dirty="0"/>
          </a:p>
        </p:txBody>
      </p:sp>
      <p:sp>
        <p:nvSpPr>
          <p:cNvPr id="18" name="Text 15"/>
          <p:cNvSpPr/>
          <p:nvPr/>
        </p:nvSpPr>
        <p:spPr>
          <a:xfrm>
            <a:off x="4937760" y="987552"/>
            <a:ext cx="3931920" cy="274320"/>
          </a:xfrm>
          <a:prstGeom prst="rect">
            <a:avLst/>
          </a:prstGeom>
          <a:noFill/>
          <a:ln/>
        </p:spPr>
        <p:txBody>
          <a:bodyPr wrap="square" rtlCol="0" anchor="ctr"/>
          <a:lstStyle/>
          <a:p>
            <a:pPr indent="0" marL="0">
              <a:buNone/>
            </a:pPr>
            <a:r>
              <a:rPr lang="en-US" sz="1300" b="1" dirty="0">
                <a:solidFill>
                  <a:srgbClr val="FFC000"/>
                </a:solidFill>
                <a:latin typeface="Calibri" pitchFamily="34" charset="0"/>
                <a:ea typeface="Calibri" pitchFamily="34" charset="-122"/>
                <a:cs typeface="Calibri" pitchFamily="34" charset="-120"/>
              </a:rPr>
              <a:t>Key takeaways</a:t>
            </a:r>
            <a:endParaRPr lang="en-US" sz="1300" dirty="0"/>
          </a:p>
        </p:txBody>
      </p:sp>
      <p:sp>
        <p:nvSpPr>
          <p:cNvPr id="19" name="Shape 16"/>
          <p:cNvSpPr/>
          <p:nvPr/>
        </p:nvSpPr>
        <p:spPr>
          <a:xfrm>
            <a:off x="4937760" y="1280160"/>
            <a:ext cx="3474720" cy="0"/>
          </a:xfrm>
          <a:prstGeom prst="line">
            <a:avLst/>
          </a:prstGeom>
          <a:noFill/>
          <a:ln w="12700">
            <a:solidFill>
              <a:srgbClr val="FFC000"/>
            </a:solidFill>
            <a:prstDash val="solid"/>
          </a:ln>
        </p:spPr>
      </p:sp>
      <p:sp>
        <p:nvSpPr>
          <p:cNvPr id="20" name="Text 17"/>
          <p:cNvSpPr/>
          <p:nvPr/>
        </p:nvSpPr>
        <p:spPr>
          <a:xfrm>
            <a:off x="4937760" y="1408176"/>
            <a:ext cx="3931920" cy="237744"/>
          </a:xfrm>
          <a:prstGeom prst="rect">
            <a:avLst/>
          </a:prstGeom>
          <a:noFill/>
          <a:ln/>
        </p:spPr>
        <p:txBody>
          <a:bodyPr wrap="square" rtlCol="0" anchor="ctr"/>
          <a:lstStyle/>
          <a:p>
            <a:pPr indent="0" marL="0">
              <a:buNone/>
            </a:pPr>
            <a:r>
              <a:rPr lang="en-US" sz="1100" b="1" dirty="0">
                <a:solidFill>
                  <a:srgbClr val="FFC000"/>
                </a:solidFill>
                <a:latin typeface="Calibri" pitchFamily="34" charset="0"/>
                <a:ea typeface="Calibri" pitchFamily="34" charset="-122"/>
                <a:cs typeface="Calibri" pitchFamily="34" charset="-120"/>
              </a:rPr>
              <a:t>Dual compilation</a:t>
            </a:r>
            <a:endParaRPr lang="en-US" sz="1100" dirty="0"/>
          </a:p>
        </p:txBody>
      </p:sp>
      <p:sp>
        <p:nvSpPr>
          <p:cNvPr id="21" name="Text 18"/>
          <p:cNvSpPr/>
          <p:nvPr/>
        </p:nvSpPr>
        <p:spPr>
          <a:xfrm>
            <a:off x="4937760" y="1655064"/>
            <a:ext cx="3931920" cy="548640"/>
          </a:xfrm>
          <a:prstGeom prst="rect">
            <a:avLst/>
          </a:prstGeom>
          <a:noFill/>
          <a:ln/>
        </p:spPr>
        <p:txBody>
          <a:bodyPr wrap="square" rtlCol="0" anchor="ctr"/>
          <a:lstStyle/>
          <a:p>
            <a:pPr indent="0" marL="0">
              <a:buNone/>
            </a:pPr>
            <a:r>
              <a:rPr lang="en-US" sz="1050" dirty="0">
                <a:solidFill>
                  <a:srgbClr val="C9E0F0"/>
                </a:solidFill>
                <a:latin typeface="Calibri" pitchFamily="34" charset="0"/>
                <a:ea typeface="Calibri" pitchFamily="34" charset="-122"/>
                <a:cs typeface="Calibri" pitchFamily="34" charset="-120"/>
              </a:rPr>
              <a:t>Validate locally with 2M+ test cases before touching a GPU — saved us significant debugging time on cloud resources.</a:t>
            </a:r>
            <a:endParaRPr lang="en-US" sz="1050" dirty="0"/>
          </a:p>
        </p:txBody>
      </p:sp>
      <p:sp>
        <p:nvSpPr>
          <p:cNvPr id="22" name="Text 19"/>
          <p:cNvSpPr/>
          <p:nvPr/>
        </p:nvSpPr>
        <p:spPr>
          <a:xfrm>
            <a:off x="4937760" y="2432304"/>
            <a:ext cx="3931920" cy="237744"/>
          </a:xfrm>
          <a:prstGeom prst="rect">
            <a:avLst/>
          </a:prstGeom>
          <a:noFill/>
          <a:ln/>
        </p:spPr>
        <p:txBody>
          <a:bodyPr wrap="square" rtlCol="0" anchor="ctr"/>
          <a:lstStyle/>
          <a:p>
            <a:pPr indent="0" marL="0">
              <a:buNone/>
            </a:pPr>
            <a:r>
              <a:rPr lang="en-US" sz="1100" b="1" dirty="0">
                <a:solidFill>
                  <a:srgbClr val="FFC000"/>
                </a:solidFill>
                <a:latin typeface="Calibri" pitchFamily="34" charset="0"/>
                <a:ea typeface="Calibri" pitchFamily="34" charset="-122"/>
                <a:cs typeface="Calibri" pitchFamily="34" charset="-120"/>
              </a:rPr>
              <a:t>Barrett for NTT</a:t>
            </a:r>
            <a:endParaRPr lang="en-US" sz="1100" dirty="0"/>
          </a:p>
        </p:txBody>
      </p:sp>
      <p:sp>
        <p:nvSpPr>
          <p:cNvPr id="23" name="Text 20"/>
          <p:cNvSpPr/>
          <p:nvPr/>
        </p:nvSpPr>
        <p:spPr>
          <a:xfrm>
            <a:off x="4937760" y="2679192"/>
            <a:ext cx="3931920" cy="548640"/>
          </a:xfrm>
          <a:prstGeom prst="rect">
            <a:avLst/>
          </a:prstGeom>
          <a:noFill/>
          <a:ln/>
        </p:spPr>
        <p:txBody>
          <a:bodyPr wrap="square" rtlCol="0" anchor="ctr"/>
          <a:lstStyle/>
          <a:p>
            <a:pPr indent="0" marL="0">
              <a:buNone/>
            </a:pPr>
            <a:r>
              <a:rPr lang="en-US" sz="1050" dirty="0">
                <a:solidFill>
                  <a:srgbClr val="C9E0F0"/>
                </a:solidFill>
                <a:latin typeface="Calibri" pitchFamily="34" charset="0"/>
                <a:ea typeface="Calibri" pitchFamily="34" charset="-122"/>
                <a:cs typeface="Calibri" pitchFamily="34" charset="-120"/>
              </a:rPr>
              <a:t>Avoids two extra O(n) memory passes that Montgomery would need between stages. Critical when NTT is BW-bound at large n.</a:t>
            </a:r>
            <a:endParaRPr lang="en-US" sz="1050" dirty="0"/>
          </a:p>
        </p:txBody>
      </p:sp>
      <p:sp>
        <p:nvSpPr>
          <p:cNvPr id="24" name="Text 21"/>
          <p:cNvSpPr/>
          <p:nvPr/>
        </p:nvSpPr>
        <p:spPr>
          <a:xfrm>
            <a:off x="4937760" y="3456432"/>
            <a:ext cx="3931920" cy="237744"/>
          </a:xfrm>
          <a:prstGeom prst="rect">
            <a:avLst/>
          </a:prstGeom>
          <a:noFill/>
          <a:ln/>
        </p:spPr>
        <p:txBody>
          <a:bodyPr wrap="square" rtlCol="0" anchor="ctr"/>
          <a:lstStyle/>
          <a:p>
            <a:pPr indent="0" marL="0">
              <a:buNone/>
            </a:pPr>
            <a:r>
              <a:rPr lang="en-US" sz="1100" b="1" dirty="0">
                <a:solidFill>
                  <a:srgbClr val="FFC000"/>
                </a:solidFill>
                <a:latin typeface="Calibri" pitchFamily="34" charset="0"/>
                <a:ea typeface="Calibri" pitchFamily="34" charset="-122"/>
                <a:cs typeface="Calibri" pitchFamily="34" charset="-120"/>
              </a:rPr>
              <a:t>GPU is not free</a:t>
            </a:r>
            <a:endParaRPr lang="en-US" sz="1100" dirty="0"/>
          </a:p>
        </p:txBody>
      </p:sp>
      <p:sp>
        <p:nvSpPr>
          <p:cNvPr id="25" name="Text 22"/>
          <p:cNvSpPr/>
          <p:nvPr/>
        </p:nvSpPr>
        <p:spPr>
          <a:xfrm>
            <a:off x="4937760" y="3703320"/>
            <a:ext cx="3931920" cy="548640"/>
          </a:xfrm>
          <a:prstGeom prst="rect">
            <a:avLst/>
          </a:prstGeom>
          <a:noFill/>
          <a:ln/>
        </p:spPr>
        <p:txBody>
          <a:bodyPr wrap="square" rtlCol="0" anchor="ctr"/>
          <a:lstStyle/>
          <a:p>
            <a:pPr indent="0" marL="0">
              <a:buNone/>
            </a:pPr>
            <a:r>
              <a:rPr lang="en-US" sz="1050" dirty="0">
                <a:solidFill>
                  <a:srgbClr val="C9E0F0"/>
                </a:solidFill>
                <a:latin typeface="Calibri" pitchFamily="34" charset="0"/>
                <a:ea typeface="Calibri" pitchFamily="34" charset="-122"/>
                <a:cs typeface="Calibri" pitchFamily="34" charset="-120"/>
              </a:rPr>
              <a:t>Slower than a single CPU core at n=2¹⁰. Speedup is a function of occupancy and memory behavior, not just hardware.</a:t>
            </a:r>
            <a:endParaRPr lang="en-US" sz="1050" dirty="0"/>
          </a:p>
        </p:txBody>
      </p:sp>
      <p:sp>
        <p:nvSpPr>
          <p:cNvPr id="26" name="Shape 23"/>
          <p:cNvSpPr/>
          <p:nvPr/>
        </p:nvSpPr>
        <p:spPr>
          <a:xfrm>
            <a:off x="4937760" y="4434840"/>
            <a:ext cx="3931920" cy="0"/>
          </a:xfrm>
          <a:prstGeom prst="line">
            <a:avLst/>
          </a:prstGeom>
          <a:noFill/>
          <a:ln w="12700">
            <a:solidFill>
              <a:srgbClr val="FFC000"/>
            </a:solidFill>
            <a:prstDash val="solid"/>
          </a:ln>
        </p:spPr>
      </p:sp>
      <p:sp>
        <p:nvSpPr>
          <p:cNvPr id="27" name="Text 24"/>
          <p:cNvSpPr/>
          <p:nvPr/>
        </p:nvSpPr>
        <p:spPr>
          <a:xfrm>
            <a:off x="4937760" y="4498848"/>
            <a:ext cx="3931920" cy="237744"/>
          </a:xfrm>
          <a:prstGeom prst="rect">
            <a:avLst/>
          </a:prstGeom>
          <a:noFill/>
          <a:ln/>
        </p:spPr>
        <p:txBody>
          <a:bodyPr wrap="square" rtlCol="0" anchor="ctr"/>
          <a:lstStyle/>
          <a:p>
            <a:pPr indent="0" marL="0">
              <a:buNone/>
            </a:pPr>
            <a:r>
              <a:rPr lang="en-US" sz="1100" dirty="0">
                <a:solidFill>
                  <a:srgbClr val="FFC000"/>
                </a:solidFill>
                <a:latin typeface="Courier New" pitchFamily="34" charset="0"/>
                <a:ea typeface="Courier New" pitchFamily="34" charset="-122"/>
                <a:cs typeface="Courier New" pitchFamily="34" charset="-120"/>
              </a:rPr>
              <a:t>github.com/achirra-cipher/ece268-gpu-modarith</a:t>
            </a:r>
            <a:endParaRPr lang="en-US" sz="1100" dirty="0"/>
          </a:p>
        </p:txBody>
      </p:sp>
      <p:sp>
        <p:nvSpPr>
          <p:cNvPr id="28" name="Shape 25"/>
          <p:cNvSpPr/>
          <p:nvPr/>
        </p:nvSpPr>
        <p:spPr>
          <a:xfrm>
            <a:off x="0" y="4800600"/>
            <a:ext cx="9144000" cy="342900"/>
          </a:xfrm>
          <a:prstGeom prst="rect">
            <a:avLst/>
          </a:prstGeom>
          <a:solidFill>
            <a:srgbClr val="0F1D3A"/>
          </a:solidFill>
          <a:ln w="12700">
            <a:solidFill>
              <a:srgbClr val="0F1D3A"/>
            </a:solidFill>
            <a:prstDash val="solid"/>
          </a:ln>
        </p:spPr>
      </p:sp>
      <p:sp>
        <p:nvSpPr>
          <p:cNvPr id="29" name="Text 26"/>
          <p:cNvSpPr/>
          <p:nvPr/>
        </p:nvSpPr>
        <p:spPr>
          <a:xfrm>
            <a:off x="137160" y="4823460"/>
            <a:ext cx="4114800" cy="274320"/>
          </a:xfrm>
          <a:prstGeom prst="rect">
            <a:avLst/>
          </a:prstGeom>
          <a:noFill/>
          <a:ln/>
        </p:spPr>
        <p:txBody>
          <a:bodyPr wrap="square" rtlCol="0" anchor="ctr"/>
          <a:lstStyle/>
          <a:p>
            <a:pPr indent="0" marL="0">
              <a:buNone/>
            </a:pPr>
            <a:r>
              <a:rPr lang="en-US" sz="1000" dirty="0">
                <a:solidFill>
                  <a:srgbClr val="FFFFFF"/>
                </a:solidFill>
                <a:latin typeface="Calibri" pitchFamily="34" charset="0"/>
                <a:ea typeface="Calibri" pitchFamily="34" charset="-122"/>
                <a:cs typeface="Calibri" pitchFamily="34" charset="-120"/>
              </a:rPr>
              <a:t>ECE 268 – Spring 2026</a:t>
            </a:r>
            <a:endParaRPr lang="en-US" sz="1000" dirty="0"/>
          </a:p>
        </p:txBody>
      </p:sp>
      <p:sp>
        <p:nvSpPr>
          <p:cNvPr id="30" name="Text 27"/>
          <p:cNvSpPr/>
          <p:nvPr/>
        </p:nvSpPr>
        <p:spPr>
          <a:xfrm>
            <a:off x="4754880" y="4823460"/>
            <a:ext cx="4206240" cy="274320"/>
          </a:xfrm>
          <a:prstGeom prst="rect">
            <a:avLst/>
          </a:prstGeom>
          <a:noFill/>
          <a:ln/>
        </p:spPr>
        <p:txBody>
          <a:bodyPr wrap="square" rtlCol="0" anchor="ctr"/>
          <a:lstStyle/>
          <a:p>
            <a:pPr algn="r" indent="0" marL="0">
              <a:buNone/>
            </a:pPr>
            <a:r>
              <a:rPr lang="en-US" sz="1000" dirty="0">
                <a:solidFill>
                  <a:srgbClr val="FFFFFF"/>
                </a:solidFill>
                <a:latin typeface="Calibri" pitchFamily="34" charset="0"/>
                <a:ea typeface="Calibri" pitchFamily="34" charset="-122"/>
                <a:cs typeface="Calibri" pitchFamily="34" charset="-120"/>
              </a:rPr>
              <a:t>Security of Hardware Embedded Systems</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2026-06-11T19:12:28Z</dcterms:created>
  <dcterms:modified xsi:type="dcterms:W3CDTF">2026-06-11T19:12:28Z</dcterms:modified>
</cp:coreProperties>
</file>